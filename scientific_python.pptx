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5"/>
  </p:notesMasterIdLst>
  <p:sldIdLst>
    <p:sldId id="256" r:id="rId2"/>
    <p:sldId id="350" r:id="rId3"/>
    <p:sldId id="351" r:id="rId4"/>
    <p:sldId id="348" r:id="rId5"/>
    <p:sldId id="349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58" r:id="rId70"/>
    <p:sldId id="352" r:id="rId71"/>
    <p:sldId id="353" r:id="rId72"/>
    <p:sldId id="354" r:id="rId73"/>
    <p:sldId id="357" r:id="rId74"/>
    <p:sldId id="355" r:id="rId75"/>
    <p:sldId id="356" r:id="rId76"/>
    <p:sldId id="330" r:id="rId77"/>
    <p:sldId id="320" r:id="rId78"/>
    <p:sldId id="321" r:id="rId79"/>
    <p:sldId id="322" r:id="rId80"/>
    <p:sldId id="323" r:id="rId81"/>
    <p:sldId id="324" r:id="rId82"/>
    <p:sldId id="328" r:id="rId83"/>
    <p:sldId id="325" r:id="rId84"/>
    <p:sldId id="326" r:id="rId85"/>
    <p:sldId id="327" r:id="rId86"/>
    <p:sldId id="329" r:id="rId87"/>
    <p:sldId id="331" r:id="rId88"/>
    <p:sldId id="332" r:id="rId89"/>
    <p:sldId id="333" r:id="rId90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8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66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23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wmf"/><Relationship Id="rId4" Type="http://schemas.openxmlformats.org/officeDocument/2006/relationships/oleObject" Target="../embeddings/oleObject5.bin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30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124DC5F2-CFE6-BA6E-32F3-F7A9FDFC1B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B97A10C3-4EB6-7FA0-6CC6-C314E758462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Python 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dirty="0"/>
              <a:t>, it represents the prompt!</a:t>
            </a:r>
          </a:p>
          <a:p>
            <a:r>
              <a:rPr lang="en-US" dirty="0" err="1"/>
              <a:t>iPython</a:t>
            </a:r>
            <a:r>
              <a:rPr lang="en-US" dirty="0"/>
              <a:t> interpreter is rendered 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sp>
        <p:nvSpPr>
          <p:cNvPr id="8" name="TextBox 7"/>
          <p:cNvSpPr txBox="1"/>
          <p:nvPr/>
        </p:nvSpPr>
        <p:spPr>
          <a:xfrm>
            <a:off x="2855640" y="373355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&gt;&gt;&gt;  names = 'bob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alice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carol'.split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()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55640" y="5137548"/>
            <a:ext cx="583685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3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In[3]: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names = 'bob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alice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carol'.split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()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572951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np.float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2" y="1556792"/>
            <a:ext cx="7477657" cy="1571402"/>
            <a:chOff x="547661" y="1556792"/>
            <a:chExt cx="7477657" cy="1571402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np.random.uniform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3881311" cy="1202070"/>
              <a:chOff x="3637248" y="4437112"/>
              <a:chExt cx="3881311" cy="1202070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3453318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[0.0, 1.0[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74040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3491717"/>
            <a:ext cx="7229654" cy="1460485"/>
            <a:chOff x="539552" y="3491716"/>
            <a:chExt cx="7229654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3629253" cy="925069"/>
              <a:chOff x="3637249" y="4437114"/>
              <a:chExt cx="3629253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 on 32-bit,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r>
              <a:rPr lang="en-US" dirty="0"/>
              <a:t> on 64-bit architecture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integers)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, np.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np.float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/>
              <a:t>, i.e., double precision</a:t>
            </a:r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np.complex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/>
              <a:t>, i.e., double precision</a:t>
            </a:r>
          </a:p>
          <a:p>
            <a:r>
              <a:rPr lang="en-US" dirty="0"/>
              <a:t>Boolean values: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np.bool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pPr lvl="1"/>
            <a:r>
              <a:rPr lang="en-US" dirty="0"/>
              <a:t>Python 3.5 style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621743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279576" y="5040706"/>
            <a:ext cx="8868530" cy="646331"/>
            <a:chOff x="755576" y="5641814"/>
            <a:chExt cx="8868530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55576" y="5733256"/>
              <a:ext cx="576064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print(np.dot(a, b))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3826" y="564181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sp>
        <p:nvSpPr>
          <p:cNvPr id="13" name="TextBox 12"/>
          <p:cNvSpPr txBox="1"/>
          <p:nvPr/>
        </p:nvSpPr>
        <p:spPr>
          <a:xfrm>
            <a:off x="2279576" y="6089403"/>
            <a:ext cx="57746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print(a @ b)</a:t>
            </a:r>
          </a:p>
        </p:txBody>
      </p: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np.trace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np.transpose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eigen</a:t>
            </a:r>
            <a:r>
              <a:rPr lang="en-US" dirty="0"/>
              <a:t>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copies,</a:t>
            </a:r>
            <a:br>
              <a:rPr lang="en-US" dirty="0"/>
            </a:br>
            <a:r>
              <a:rPr lang="en-US" dirty="0"/>
              <a:t>check documentation carefully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a.size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))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771731" cy="1014871"/>
            <a:chOff x="7164288" y="4766367"/>
            <a:chExt cx="177173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31638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many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931909"/>
            <a:ext cx="758468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ode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ode(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set_integrator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('dopri5')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ode_sys.set_initial_value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([theta0, omega0], t0)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ode_sys.set_f_params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ode_sys.set_jac_params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ode_sys.successful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and ode_sys.t &lt;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(ode_sys.t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print(ode_sys.t,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[1])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8400257" y="2422630"/>
            <a:ext cx="2007409" cy="1078379"/>
            <a:chOff x="6876256" y="2422629"/>
            <a:chExt cx="2007409" cy="1078379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stCxn id="6" idx="2"/>
            </p:cNvCxnSpPr>
            <p:nvPr/>
          </p:nvCxnSpPr>
          <p:spPr>
            <a:xfrm flipH="1">
              <a:off x="7236296" y="3068960"/>
              <a:ext cx="643665" cy="4320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57301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4733988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40" y="2282487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mpl_toolkits.mplot3d import Axes3D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import 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693972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figure.gca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='3d')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cm.coolwarm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onnsiteX0" fmla="*/ 0 w 6872074"/>
              <a:gd name="connsiteY0" fmla="*/ 0 h 707886"/>
              <a:gd name="connsiteX1" fmla="*/ 618487 w 6872074"/>
              <a:gd name="connsiteY1" fmla="*/ 0 h 707886"/>
              <a:gd name="connsiteX2" fmla="*/ 1305694 w 6872074"/>
              <a:gd name="connsiteY2" fmla="*/ 0 h 707886"/>
              <a:gd name="connsiteX3" fmla="*/ 1924181 w 6872074"/>
              <a:gd name="connsiteY3" fmla="*/ 0 h 707886"/>
              <a:gd name="connsiteX4" fmla="*/ 2542667 w 6872074"/>
              <a:gd name="connsiteY4" fmla="*/ 0 h 707886"/>
              <a:gd name="connsiteX5" fmla="*/ 3229875 w 6872074"/>
              <a:gd name="connsiteY5" fmla="*/ 0 h 707886"/>
              <a:gd name="connsiteX6" fmla="*/ 4054524 w 6872074"/>
              <a:gd name="connsiteY6" fmla="*/ 0 h 707886"/>
              <a:gd name="connsiteX7" fmla="*/ 4741731 w 6872074"/>
              <a:gd name="connsiteY7" fmla="*/ 0 h 707886"/>
              <a:gd name="connsiteX8" fmla="*/ 5428938 w 6872074"/>
              <a:gd name="connsiteY8" fmla="*/ 0 h 707886"/>
              <a:gd name="connsiteX9" fmla="*/ 6253587 w 6872074"/>
              <a:gd name="connsiteY9" fmla="*/ 0 h 707886"/>
              <a:gd name="connsiteX10" fmla="*/ 6872074 w 6872074"/>
              <a:gd name="connsiteY10" fmla="*/ 0 h 707886"/>
              <a:gd name="connsiteX11" fmla="*/ 6872074 w 6872074"/>
              <a:gd name="connsiteY11" fmla="*/ 361022 h 707886"/>
              <a:gd name="connsiteX12" fmla="*/ 6872074 w 6872074"/>
              <a:gd name="connsiteY12" fmla="*/ 707886 h 707886"/>
              <a:gd name="connsiteX13" fmla="*/ 6047425 w 6872074"/>
              <a:gd name="connsiteY13" fmla="*/ 707886 h 707886"/>
              <a:gd name="connsiteX14" fmla="*/ 5360218 w 6872074"/>
              <a:gd name="connsiteY14" fmla="*/ 707886 h 707886"/>
              <a:gd name="connsiteX15" fmla="*/ 4879173 w 6872074"/>
              <a:gd name="connsiteY15" fmla="*/ 707886 h 707886"/>
              <a:gd name="connsiteX16" fmla="*/ 4260686 w 6872074"/>
              <a:gd name="connsiteY16" fmla="*/ 707886 h 707886"/>
              <a:gd name="connsiteX17" fmla="*/ 3642199 w 6872074"/>
              <a:gd name="connsiteY17" fmla="*/ 707886 h 707886"/>
              <a:gd name="connsiteX18" fmla="*/ 2817550 w 6872074"/>
              <a:gd name="connsiteY18" fmla="*/ 707886 h 707886"/>
              <a:gd name="connsiteX19" fmla="*/ 2267784 w 6872074"/>
              <a:gd name="connsiteY19" fmla="*/ 707886 h 707886"/>
              <a:gd name="connsiteX20" fmla="*/ 1786739 w 6872074"/>
              <a:gd name="connsiteY20" fmla="*/ 707886 h 707886"/>
              <a:gd name="connsiteX21" fmla="*/ 1168253 w 6872074"/>
              <a:gd name="connsiteY21" fmla="*/ 707886 h 707886"/>
              <a:gd name="connsiteX22" fmla="*/ 687207 w 6872074"/>
              <a:gd name="connsiteY22" fmla="*/ 707886 h 707886"/>
              <a:gd name="connsiteX23" fmla="*/ 0 w 6872074"/>
              <a:gd name="connsiteY23" fmla="*/ 707886 h 707886"/>
              <a:gd name="connsiteX24" fmla="*/ 0 w 6872074"/>
              <a:gd name="connsiteY24" fmla="*/ 375180 h 707886"/>
              <a:gd name="connsiteX25" fmla="*/ 0 w 6872074"/>
              <a:gd name="connsiteY25" fmla="*/ 0 h 707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7911</Words>
  <Application>Microsoft Office PowerPoint</Application>
  <PresentationFormat>Widescreen</PresentationFormat>
  <Paragraphs>1298</Paragraphs>
  <Slides>103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103</vt:i4>
      </vt:variant>
    </vt:vector>
  </HeadingPairs>
  <TitlesOfParts>
    <vt:vector size="112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 I</vt:lpstr>
      <vt:lpstr>Typographical conventions II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Numpy data types</vt:lpstr>
      <vt:lpstr>Accessing array elements</vt:lpstr>
      <vt:lpstr>Accessing subarrays: slicing</vt:lpstr>
      <vt:lpstr>Fancy indexing</vt:lpstr>
      <vt:lpstr>Operations on arrays</vt:lpstr>
      <vt:lpstr>Functions operating on arrays</vt:lpstr>
      <vt:lpstr>Some linear algebra</vt:lpstr>
      <vt:lpstr>References versus copies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56</cp:revision>
  <dcterms:created xsi:type="dcterms:W3CDTF">2019-11-07T15:31:23Z</dcterms:created>
  <dcterms:modified xsi:type="dcterms:W3CDTF">2025-11-03T19:55:13Z</dcterms:modified>
</cp:coreProperties>
</file>