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5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359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58" r:id="rId70"/>
    <p:sldId id="352" r:id="rId71"/>
    <p:sldId id="353" r:id="rId72"/>
    <p:sldId id="354" r:id="rId73"/>
    <p:sldId id="357" r:id="rId74"/>
    <p:sldId id="355" r:id="rId75"/>
    <p:sldId id="356" r:id="rId76"/>
    <p:sldId id="330" r:id="rId77"/>
    <p:sldId id="320" r:id="rId78"/>
    <p:sldId id="321" r:id="rId79"/>
    <p:sldId id="322" r:id="rId80"/>
    <p:sldId id="323" r:id="rId81"/>
    <p:sldId id="324" r:id="rId82"/>
    <p:sldId id="328" r:id="rId83"/>
    <p:sldId id="325" r:id="rId84"/>
    <p:sldId id="326" r:id="rId85"/>
    <p:sldId id="327" r:id="rId86"/>
    <p:sldId id="329" r:id="rId87"/>
    <p:sldId id="331" r:id="rId88"/>
    <p:sldId id="332" r:id="rId89"/>
    <p:sldId id="333" r:id="rId90"/>
    <p:sldId id="334" r:id="rId91"/>
    <p:sldId id="335" r:id="rId92"/>
    <p:sldId id="336" r:id="rId93"/>
    <p:sldId id="337" r:id="rId94"/>
    <p:sldId id="338" r:id="rId95"/>
    <p:sldId id="339" r:id="rId96"/>
    <p:sldId id="340" r:id="rId97"/>
    <p:sldId id="341" r:id="rId98"/>
    <p:sldId id="342" r:id="rId99"/>
    <p:sldId id="343" r:id="rId100"/>
    <p:sldId id="344" r:id="rId101"/>
    <p:sldId id="345" r:id="rId102"/>
    <p:sldId id="346" r:id="rId103"/>
    <p:sldId id="347" r:id="rId10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359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  <p14:sldId id="320"/>
            <p14:sldId id="321"/>
            <p14:sldId id="322"/>
            <p14:sldId id="323"/>
            <p14:sldId id="324"/>
            <p14:sldId id="328"/>
            <p14:sldId id="325"/>
            <p14:sldId id="326"/>
            <p14:sldId id="327"/>
            <p14:sldId id="329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4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2386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07" Type="http://schemas.openxmlformats.org/officeDocument/2006/relationships/viewProps" Target="viewProps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tableStyles" Target="tableStyles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2026-09-28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wmf"/><Relationship Id="rId4" Type="http://schemas.openxmlformats.org/officeDocument/2006/relationships/oleObject" Target="../embeddings/oleObject5.bin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1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652614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2" y="1556792"/>
            <a:ext cx="7477657" cy="1571402"/>
            <a:chOff x="547661" y="1556792"/>
            <a:chExt cx="7477657" cy="1571402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np.random.default_rng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(seed=1234)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(0.0,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2203123"/>
              <a:ext cx="3881311" cy="925071"/>
              <a:chOff x="3637248" y="4714111"/>
              <a:chExt cx="3881311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3453318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[0.0, 1.0[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714111"/>
                <a:ext cx="427993" cy="463406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3491717"/>
            <a:ext cx="7229654" cy="1460485"/>
            <a:chOff x="539552" y="3491716"/>
            <a:chExt cx="7229654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3629253" cy="925069"/>
              <a:chOff x="3637249" y="4437114"/>
              <a:chExt cx="3629253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np.bool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16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pPr lvl="1"/>
            <a:r>
              <a:rPr lang="en-US" dirty="0"/>
              <a:t>Python 3.5 style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621743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279576" y="5040706"/>
            <a:ext cx="8868530" cy="646331"/>
            <a:chOff x="755576" y="5641814"/>
            <a:chExt cx="8868530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55576" y="5733256"/>
              <a:ext cx="576064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print(np.dot(a, b))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7103826" y="564181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sp>
        <p:nvSpPr>
          <p:cNvPr id="13" name="TextBox 12"/>
          <p:cNvSpPr txBox="1"/>
          <p:nvPr/>
        </p:nvSpPr>
        <p:spPr>
          <a:xfrm>
            <a:off x="2279576" y="6089403"/>
            <a:ext cx="57746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print(a @ b)</a:t>
            </a:r>
          </a:p>
        </p:txBody>
      </p: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np.trace</a:t>
            </a:r>
            <a:r>
              <a:rPr lang="en-US" dirty="0">
                <a:cs typeface="Courier New" panose="02070309020205020404" pitchFamily="49" charset="0"/>
              </a:rPr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np.transpose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eigen</a:t>
            </a:r>
            <a:r>
              <a:rPr lang="en-US" dirty="0"/>
              <a:t>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copies,</a:t>
            </a:r>
            <a:br>
              <a:rPr lang="en-US" dirty="0"/>
            </a:br>
            <a:r>
              <a:rPr lang="en-US" dirty="0"/>
              <a:t>check documentation carefully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a.size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, ))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plot</a:t>
            </a:r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372010" y="2379433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64145" y="3861262"/>
            <a:ext cx="327699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378517" y="4843405"/>
            <a:ext cx="326262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423593" y="5907823"/>
            <a:ext cx="321754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03512" y="2332361"/>
            <a:ext cx="556113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833625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57301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5486894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14315" y="2204865"/>
            <a:ext cx="349565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16703" y="3358733"/>
            <a:ext cx="3493264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3320166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877867" y="4725144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595253" y="2321245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584328" y="3887558"/>
            <a:ext cx="5147563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bins,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('$x$',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('$P(x)$',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=16)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matploblib.pyplot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07757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6885433" y="2765123"/>
            <a:ext cx="3906060" cy="395635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Importing extra modules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396640" y="2282487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mpl_toolkits.mplot3d import Axes3D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import cm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96640" y="3356992"/>
            <a:ext cx="6939720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figure.gca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='3d')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axes.set_zlim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cstride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=4,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cm.coolwarm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 II</a:t>
            </a:r>
            <a:endParaRPr lang="nl-BE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14" t="8522" r="10511" b="8144"/>
          <a:stretch/>
        </p:blipFill>
        <p:spPr>
          <a:xfrm>
            <a:off x="3646512" y="1809328"/>
            <a:ext cx="5257800" cy="4572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235781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</a:t>
            </a:r>
            <a:br>
              <a:rPr lang="en-US" dirty="0"/>
            </a:br>
            <a:r>
              <a:rPr lang="en-US" dirty="0" err="1"/>
              <a:t>PyTables</a:t>
            </a:r>
            <a:r>
              <a:rPr lang="en-US" dirty="0"/>
              <a:t> &amp;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h5py: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tables</a:t>
            </a:r>
          </a:p>
          <a:p>
            <a:pPr lvl="1"/>
            <a:r>
              <a:rPr lang="en-US" dirty="0"/>
              <a:t>if necessary (usually not, unless when using compounds), import specific functions, classes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5561138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tables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Int32Col, Float64Col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F280D2-1C58-4640-A15B-8CE239A92479}"/>
              </a:ext>
            </a:extLst>
          </p:cNvPr>
          <p:cNvSpPr txBox="1"/>
          <p:nvPr/>
        </p:nvSpPr>
        <p:spPr>
          <a:xfrm rot="20102839">
            <a:off x="1974078" y="3647350"/>
            <a:ext cx="6872074" cy="707886"/>
          </a:xfrm>
          <a:custGeom>
            <a:avLst/>
            <a:gdLst>
              <a:gd name="csX0" fmla="*/ 0 w 6872074"/>
              <a:gd name="csY0" fmla="*/ 0 h 707886"/>
              <a:gd name="csX1" fmla="*/ 618487 w 6872074"/>
              <a:gd name="csY1" fmla="*/ 0 h 707886"/>
              <a:gd name="csX2" fmla="*/ 1305694 w 6872074"/>
              <a:gd name="csY2" fmla="*/ 0 h 707886"/>
              <a:gd name="csX3" fmla="*/ 1924181 w 6872074"/>
              <a:gd name="csY3" fmla="*/ 0 h 707886"/>
              <a:gd name="csX4" fmla="*/ 2542667 w 6872074"/>
              <a:gd name="csY4" fmla="*/ 0 h 707886"/>
              <a:gd name="csX5" fmla="*/ 3229875 w 6872074"/>
              <a:gd name="csY5" fmla="*/ 0 h 707886"/>
              <a:gd name="csX6" fmla="*/ 4054524 w 6872074"/>
              <a:gd name="csY6" fmla="*/ 0 h 707886"/>
              <a:gd name="csX7" fmla="*/ 4741731 w 6872074"/>
              <a:gd name="csY7" fmla="*/ 0 h 707886"/>
              <a:gd name="csX8" fmla="*/ 5428938 w 6872074"/>
              <a:gd name="csY8" fmla="*/ 0 h 707886"/>
              <a:gd name="csX9" fmla="*/ 6253587 w 6872074"/>
              <a:gd name="csY9" fmla="*/ 0 h 707886"/>
              <a:gd name="csX10" fmla="*/ 6872074 w 6872074"/>
              <a:gd name="csY10" fmla="*/ 0 h 707886"/>
              <a:gd name="csX11" fmla="*/ 6872074 w 6872074"/>
              <a:gd name="csY11" fmla="*/ 361022 h 707886"/>
              <a:gd name="csX12" fmla="*/ 6872074 w 6872074"/>
              <a:gd name="csY12" fmla="*/ 707886 h 707886"/>
              <a:gd name="csX13" fmla="*/ 6047425 w 6872074"/>
              <a:gd name="csY13" fmla="*/ 707886 h 707886"/>
              <a:gd name="csX14" fmla="*/ 5360218 w 6872074"/>
              <a:gd name="csY14" fmla="*/ 707886 h 707886"/>
              <a:gd name="csX15" fmla="*/ 4879173 w 6872074"/>
              <a:gd name="csY15" fmla="*/ 707886 h 707886"/>
              <a:gd name="csX16" fmla="*/ 4260686 w 6872074"/>
              <a:gd name="csY16" fmla="*/ 707886 h 707886"/>
              <a:gd name="csX17" fmla="*/ 3642199 w 6872074"/>
              <a:gd name="csY17" fmla="*/ 707886 h 707886"/>
              <a:gd name="csX18" fmla="*/ 2817550 w 6872074"/>
              <a:gd name="csY18" fmla="*/ 707886 h 707886"/>
              <a:gd name="csX19" fmla="*/ 2267784 w 6872074"/>
              <a:gd name="csY19" fmla="*/ 707886 h 707886"/>
              <a:gd name="csX20" fmla="*/ 1786739 w 6872074"/>
              <a:gd name="csY20" fmla="*/ 707886 h 707886"/>
              <a:gd name="csX21" fmla="*/ 1168253 w 6872074"/>
              <a:gd name="csY21" fmla="*/ 707886 h 707886"/>
              <a:gd name="csX22" fmla="*/ 687207 w 6872074"/>
              <a:gd name="csY22" fmla="*/ 707886 h 707886"/>
              <a:gd name="csX23" fmla="*/ 0 w 6872074"/>
              <a:gd name="csY23" fmla="*/ 707886 h 707886"/>
              <a:gd name="csX24" fmla="*/ 0 w 6872074"/>
              <a:gd name="csY24" fmla="*/ 375180 h 707886"/>
              <a:gd name="csX25" fmla="*/ 0 w 6872074"/>
              <a:gd name="csY25" fmla="*/ 0 h 7078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</a:cxnLst>
            <a:rect l="l" t="t" r="r" b="b"/>
            <a:pathLst>
              <a:path w="6872074" h="707886" fill="none" extrusionOk="0">
                <a:moveTo>
                  <a:pt x="0" y="0"/>
                </a:moveTo>
                <a:cubicBezTo>
                  <a:pt x="136646" y="-17527"/>
                  <a:pt x="358551" y="-14630"/>
                  <a:pt x="618487" y="0"/>
                </a:cubicBezTo>
                <a:cubicBezTo>
                  <a:pt x="878423" y="14630"/>
                  <a:pt x="1071557" y="27526"/>
                  <a:pt x="1305694" y="0"/>
                </a:cubicBezTo>
                <a:cubicBezTo>
                  <a:pt x="1539831" y="-27526"/>
                  <a:pt x="1795744" y="-28300"/>
                  <a:pt x="1924181" y="0"/>
                </a:cubicBezTo>
                <a:cubicBezTo>
                  <a:pt x="2052618" y="28300"/>
                  <a:pt x="2363036" y="15839"/>
                  <a:pt x="2542667" y="0"/>
                </a:cubicBezTo>
                <a:cubicBezTo>
                  <a:pt x="2722298" y="-15839"/>
                  <a:pt x="2991740" y="-22879"/>
                  <a:pt x="3229875" y="0"/>
                </a:cubicBezTo>
                <a:cubicBezTo>
                  <a:pt x="3468010" y="22879"/>
                  <a:pt x="3844300" y="-23838"/>
                  <a:pt x="4054524" y="0"/>
                </a:cubicBezTo>
                <a:cubicBezTo>
                  <a:pt x="4264748" y="23838"/>
                  <a:pt x="4484129" y="-6518"/>
                  <a:pt x="4741731" y="0"/>
                </a:cubicBezTo>
                <a:cubicBezTo>
                  <a:pt x="4999333" y="6518"/>
                  <a:pt x="5236373" y="17497"/>
                  <a:pt x="5428938" y="0"/>
                </a:cubicBezTo>
                <a:cubicBezTo>
                  <a:pt x="5621503" y="-17497"/>
                  <a:pt x="5887692" y="30237"/>
                  <a:pt x="6253587" y="0"/>
                </a:cubicBezTo>
                <a:cubicBezTo>
                  <a:pt x="6619482" y="-30237"/>
                  <a:pt x="6700969" y="17402"/>
                  <a:pt x="6872074" y="0"/>
                </a:cubicBezTo>
                <a:cubicBezTo>
                  <a:pt x="6886498" y="138660"/>
                  <a:pt x="6859593" y="208533"/>
                  <a:pt x="6872074" y="361022"/>
                </a:cubicBezTo>
                <a:cubicBezTo>
                  <a:pt x="6884555" y="513511"/>
                  <a:pt x="6874611" y="548909"/>
                  <a:pt x="6872074" y="707886"/>
                </a:cubicBezTo>
                <a:cubicBezTo>
                  <a:pt x="6487127" y="667878"/>
                  <a:pt x="6278888" y="690503"/>
                  <a:pt x="6047425" y="707886"/>
                </a:cubicBezTo>
                <a:cubicBezTo>
                  <a:pt x="5815962" y="725269"/>
                  <a:pt x="5556721" y="718099"/>
                  <a:pt x="5360218" y="707886"/>
                </a:cubicBezTo>
                <a:cubicBezTo>
                  <a:pt x="5163715" y="697673"/>
                  <a:pt x="5046178" y="690057"/>
                  <a:pt x="4879173" y="707886"/>
                </a:cubicBezTo>
                <a:cubicBezTo>
                  <a:pt x="4712168" y="725715"/>
                  <a:pt x="4411440" y="735021"/>
                  <a:pt x="4260686" y="707886"/>
                </a:cubicBezTo>
                <a:cubicBezTo>
                  <a:pt x="4109932" y="680751"/>
                  <a:pt x="3831377" y="737060"/>
                  <a:pt x="3642199" y="707886"/>
                </a:cubicBezTo>
                <a:cubicBezTo>
                  <a:pt x="3453021" y="678712"/>
                  <a:pt x="3210967" y="722001"/>
                  <a:pt x="2817550" y="707886"/>
                </a:cubicBezTo>
                <a:cubicBezTo>
                  <a:pt x="2424133" y="693771"/>
                  <a:pt x="2507062" y="711183"/>
                  <a:pt x="2267784" y="707886"/>
                </a:cubicBezTo>
                <a:cubicBezTo>
                  <a:pt x="2028506" y="704589"/>
                  <a:pt x="1995463" y="715237"/>
                  <a:pt x="1786739" y="707886"/>
                </a:cubicBezTo>
                <a:cubicBezTo>
                  <a:pt x="1578015" y="700535"/>
                  <a:pt x="1456594" y="689934"/>
                  <a:pt x="1168253" y="707886"/>
                </a:cubicBezTo>
                <a:cubicBezTo>
                  <a:pt x="879912" y="725838"/>
                  <a:pt x="850895" y="717641"/>
                  <a:pt x="687207" y="707886"/>
                </a:cubicBezTo>
                <a:cubicBezTo>
                  <a:pt x="523519" y="698131"/>
                  <a:pt x="178357" y="678667"/>
                  <a:pt x="0" y="707886"/>
                </a:cubicBezTo>
                <a:cubicBezTo>
                  <a:pt x="1272" y="623479"/>
                  <a:pt x="10355" y="495355"/>
                  <a:pt x="0" y="375180"/>
                </a:cubicBezTo>
                <a:cubicBezTo>
                  <a:pt x="-10355" y="255005"/>
                  <a:pt x="17166" y="97108"/>
                  <a:pt x="0" y="0"/>
                </a:cubicBezTo>
                <a:close/>
              </a:path>
              <a:path w="6872074" h="707886" stroke="0" extrusionOk="0">
                <a:moveTo>
                  <a:pt x="0" y="0"/>
                </a:moveTo>
                <a:cubicBezTo>
                  <a:pt x="300816" y="27948"/>
                  <a:pt x="318609" y="-146"/>
                  <a:pt x="618487" y="0"/>
                </a:cubicBezTo>
                <a:cubicBezTo>
                  <a:pt x="918365" y="146"/>
                  <a:pt x="939379" y="22187"/>
                  <a:pt x="1236973" y="0"/>
                </a:cubicBezTo>
                <a:cubicBezTo>
                  <a:pt x="1534567" y="-22187"/>
                  <a:pt x="1752647" y="12239"/>
                  <a:pt x="2061622" y="0"/>
                </a:cubicBezTo>
                <a:cubicBezTo>
                  <a:pt x="2370597" y="-12239"/>
                  <a:pt x="2372513" y="-23166"/>
                  <a:pt x="2542667" y="0"/>
                </a:cubicBezTo>
                <a:cubicBezTo>
                  <a:pt x="2712822" y="23166"/>
                  <a:pt x="2909474" y="11163"/>
                  <a:pt x="3092433" y="0"/>
                </a:cubicBezTo>
                <a:cubicBezTo>
                  <a:pt x="3275392" y="-11163"/>
                  <a:pt x="3474170" y="-23735"/>
                  <a:pt x="3710920" y="0"/>
                </a:cubicBezTo>
                <a:cubicBezTo>
                  <a:pt x="3947670" y="23735"/>
                  <a:pt x="4081787" y="-9516"/>
                  <a:pt x="4329407" y="0"/>
                </a:cubicBezTo>
                <a:cubicBezTo>
                  <a:pt x="4577027" y="9516"/>
                  <a:pt x="4607044" y="20181"/>
                  <a:pt x="4810452" y="0"/>
                </a:cubicBezTo>
                <a:cubicBezTo>
                  <a:pt x="5013860" y="-20181"/>
                  <a:pt x="5246766" y="-6387"/>
                  <a:pt x="5566380" y="0"/>
                </a:cubicBezTo>
                <a:cubicBezTo>
                  <a:pt x="5885994" y="6387"/>
                  <a:pt x="5932938" y="-30771"/>
                  <a:pt x="6253587" y="0"/>
                </a:cubicBezTo>
                <a:cubicBezTo>
                  <a:pt x="6574236" y="30771"/>
                  <a:pt x="6619400" y="-6721"/>
                  <a:pt x="6872074" y="0"/>
                </a:cubicBezTo>
                <a:cubicBezTo>
                  <a:pt x="6869947" y="117185"/>
                  <a:pt x="6875658" y="262182"/>
                  <a:pt x="6872074" y="361022"/>
                </a:cubicBezTo>
                <a:cubicBezTo>
                  <a:pt x="6868490" y="459862"/>
                  <a:pt x="6872599" y="599467"/>
                  <a:pt x="6872074" y="707886"/>
                </a:cubicBezTo>
                <a:cubicBezTo>
                  <a:pt x="6666990" y="725183"/>
                  <a:pt x="6483564" y="700113"/>
                  <a:pt x="6322308" y="707886"/>
                </a:cubicBezTo>
                <a:cubicBezTo>
                  <a:pt x="6161052" y="715659"/>
                  <a:pt x="5940598" y="689715"/>
                  <a:pt x="5841263" y="707886"/>
                </a:cubicBezTo>
                <a:cubicBezTo>
                  <a:pt x="5741928" y="726057"/>
                  <a:pt x="5350561" y="691440"/>
                  <a:pt x="5222776" y="707886"/>
                </a:cubicBezTo>
                <a:cubicBezTo>
                  <a:pt x="5094991" y="724332"/>
                  <a:pt x="4720279" y="717301"/>
                  <a:pt x="4535569" y="707886"/>
                </a:cubicBezTo>
                <a:cubicBezTo>
                  <a:pt x="4350859" y="698471"/>
                  <a:pt x="4176983" y="734713"/>
                  <a:pt x="3917082" y="707886"/>
                </a:cubicBezTo>
                <a:cubicBezTo>
                  <a:pt x="3657181" y="681059"/>
                  <a:pt x="3441051" y="677653"/>
                  <a:pt x="3298596" y="707886"/>
                </a:cubicBezTo>
                <a:cubicBezTo>
                  <a:pt x="3156141" y="738119"/>
                  <a:pt x="2898612" y="699266"/>
                  <a:pt x="2748830" y="707886"/>
                </a:cubicBezTo>
                <a:cubicBezTo>
                  <a:pt x="2599048" y="716506"/>
                  <a:pt x="2359239" y="719734"/>
                  <a:pt x="2199064" y="707886"/>
                </a:cubicBezTo>
                <a:cubicBezTo>
                  <a:pt x="2038889" y="696038"/>
                  <a:pt x="1716329" y="670601"/>
                  <a:pt x="1443136" y="707886"/>
                </a:cubicBezTo>
                <a:cubicBezTo>
                  <a:pt x="1169943" y="745171"/>
                  <a:pt x="980157" y="719548"/>
                  <a:pt x="824649" y="707886"/>
                </a:cubicBezTo>
                <a:cubicBezTo>
                  <a:pt x="669141" y="696224"/>
                  <a:pt x="344456" y="683725"/>
                  <a:pt x="0" y="707886"/>
                </a:cubicBezTo>
                <a:cubicBezTo>
                  <a:pt x="-3276" y="612883"/>
                  <a:pt x="-15225" y="515314"/>
                  <a:pt x="0" y="346864"/>
                </a:cubicBezTo>
                <a:cubicBezTo>
                  <a:pt x="15225" y="178414"/>
                  <a:pt x="-9529" y="12136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rgbClr val="C00000"/>
            </a:solidFill>
            <a:extLst>
              <a:ext uri="{C807C97D-BFC1-408E-A445-0C87EB9F89A2}">
                <ask:lineSketchStyleProps xmlns:ask="http://schemas.microsoft.com/office/drawing/2018/sketchyshapes" sd="223660005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txBody>
          <a:bodyPr wrap="none" rtlCol="0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Fairly slow, nice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736618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2" y="2180034"/>
            <a:ext cx="804258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mode='w',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'simulation input and results')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417009"/>
            <a:ext cx="805873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243326"/>
            <a:ext cx="803831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27102"/>
            <a:ext cx="8038311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5833008"/>
            <a:ext cx="80259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tables.open_file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5807969" y="1398823"/>
            <a:ext cx="1426545" cy="1079436"/>
            <a:chOff x="4127541" y="1232569"/>
            <a:chExt cx="1426545" cy="1079436"/>
          </a:xfrm>
        </p:grpSpPr>
        <p:sp>
          <p:nvSpPr>
            <p:cNvPr id="9" name="TextBox 8"/>
            <p:cNvSpPr txBox="1"/>
            <p:nvPr/>
          </p:nvSpPr>
          <p:spPr>
            <a:xfrm>
              <a:off x="4492577" y="1232569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01901"/>
              <a:ext cx="283723" cy="423337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5757888" y="2521915"/>
            <a:ext cx="4154537" cy="838675"/>
            <a:chOff x="-138845" y="1637175"/>
            <a:chExt cx="4154537" cy="838675"/>
          </a:xfrm>
        </p:grpSpPr>
        <p:sp>
          <p:nvSpPr>
            <p:cNvPr id="15" name="TextBox 14"/>
            <p:cNvSpPr txBox="1"/>
            <p:nvPr/>
          </p:nvSpPr>
          <p:spPr>
            <a:xfrm>
              <a:off x="3455923" y="2106518"/>
              <a:ext cx="559769" cy="369332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title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-138845" y="1637175"/>
              <a:ext cx="4116867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rgbClr val="0070C0"/>
                </a:solidFill>
              </a:endParaRPr>
            </a:p>
          </p:txBody>
        </p:sp>
        <p:cxnSp>
          <p:nvCxnSpPr>
            <p:cNvPr id="17" name="Straight Arrow Connector 16"/>
            <p:cNvCxnSpPr>
              <a:stCxn id="15" idx="1"/>
              <a:endCxn id="16" idx="2"/>
            </p:cNvCxnSpPr>
            <p:nvPr/>
          </p:nvCxnSpPr>
          <p:spPr>
            <a:xfrm flipH="1" flipV="1">
              <a:off x="1919589" y="1923942"/>
              <a:ext cx="1536334" cy="36724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39239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276873"/>
            <a:ext cx="7960148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h5file.create_group(h5file.root, 'input',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'input data')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4483904"/>
            <a:ext cx="79184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'fields',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'various fields')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168300" y="2959255"/>
            <a:ext cx="7918420" cy="972061"/>
            <a:chOff x="644300" y="2959254"/>
            <a:chExt cx="7918420" cy="972061"/>
          </a:xfrm>
          <a:solidFill>
            <a:schemeClr val="bg1">
              <a:lumMod val="85000"/>
            </a:schemeClr>
          </a:solidFill>
        </p:grpSpPr>
        <p:sp>
          <p:nvSpPr>
            <p:cNvPr id="5" name="TextBox 4"/>
            <p:cNvSpPr txBox="1"/>
            <p:nvPr/>
          </p:nvSpPr>
          <p:spPr>
            <a:xfrm>
              <a:off x="644300" y="3284984"/>
              <a:ext cx="791842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input_group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h5file.create_group('/', 'input',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'input data')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 rot="5400000">
              <a:off x="4497112" y="292206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2165840" y="5203983"/>
            <a:ext cx="7920880" cy="1000002"/>
            <a:chOff x="641840" y="5445224"/>
            <a:chExt cx="7920880" cy="1000002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920880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h5file.create_group('/input', 'fields',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                    'various 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5922274" y="1556792"/>
            <a:ext cx="2694007" cy="1041980"/>
            <a:chOff x="4267010" y="1556792"/>
            <a:chExt cx="2694007" cy="1041980"/>
          </a:xfrm>
        </p:grpSpPr>
        <p:sp>
          <p:nvSpPr>
            <p:cNvPr id="13" name="TextBox 12"/>
            <p:cNvSpPr txBox="1"/>
            <p:nvPr/>
          </p:nvSpPr>
          <p:spPr>
            <a:xfrm>
              <a:off x="4267010" y="1556792"/>
              <a:ext cx="26940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group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5220072" y="2312005"/>
              <a:ext cx="1512168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2"/>
              <a:endCxn id="14" idx="0"/>
            </p:cNvCxnSpPr>
            <p:nvPr/>
          </p:nvCxnSpPr>
          <p:spPr>
            <a:xfrm>
              <a:off x="5614014" y="1926124"/>
              <a:ext cx="362142" cy="38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8656102" y="1563936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6744072" y="2600092"/>
            <a:ext cx="3342648" cy="684892"/>
            <a:chOff x="2992193" y="2879740"/>
            <a:chExt cx="3342648" cy="684892"/>
          </a:xfrm>
        </p:grpSpPr>
        <p:sp>
          <p:nvSpPr>
            <p:cNvPr id="28" name="TextBox 27"/>
            <p:cNvSpPr txBox="1"/>
            <p:nvPr/>
          </p:nvSpPr>
          <p:spPr>
            <a:xfrm>
              <a:off x="5251724" y="3195300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2992193" y="2879740"/>
              <a:ext cx="1647972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0" name="Straight Arrow Connector 29"/>
            <p:cNvCxnSpPr>
              <a:stCxn id="28" idx="1"/>
              <a:endCxn id="29" idx="3"/>
            </p:cNvCxnSpPr>
            <p:nvPr/>
          </p:nvCxnSpPr>
          <p:spPr>
            <a:xfrm flipH="1" flipV="1">
              <a:off x="4640165" y="3023124"/>
              <a:ext cx="611559" cy="356842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17674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'magnetic', field,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'static magnetic field')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556362" y="3861049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384032" y="4139789"/>
            <a:ext cx="3024336" cy="878271"/>
            <a:chOff x="2336262" y="2339588"/>
            <a:chExt cx="3024336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2464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array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4583830" y="5013177"/>
            <a:ext cx="3168354" cy="1120717"/>
            <a:chOff x="2992193" y="2879740"/>
            <a:chExt cx="3168354" cy="1120717"/>
          </a:xfrm>
        </p:grpSpPr>
        <p:sp>
          <p:nvSpPr>
            <p:cNvPr id="15" name="TextBox 14"/>
            <p:cNvSpPr txBox="1"/>
            <p:nvPr/>
          </p:nvSpPr>
          <p:spPr>
            <a:xfrm>
              <a:off x="3826062" y="3631125"/>
              <a:ext cx="10831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comment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92193" y="2879740"/>
              <a:ext cx="3168354" cy="286767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7" name="Straight Arrow Connector 16"/>
            <p:cNvCxnSpPr>
              <a:stCxn id="15" idx="0"/>
            </p:cNvCxnSpPr>
            <p:nvPr/>
          </p:nvCxnSpPr>
          <p:spPr>
            <a:xfrm flipV="1">
              <a:off x="4367621" y="3166507"/>
              <a:ext cx="257287" cy="46461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/>
          <p:cNvGrpSpPr/>
          <p:nvPr/>
        </p:nvGrpSpPr>
        <p:grpSpPr>
          <a:xfrm>
            <a:off x="7977240" y="4731291"/>
            <a:ext cx="1071088" cy="1287318"/>
            <a:chOff x="3704414" y="1421602"/>
            <a:chExt cx="1071088" cy="1287318"/>
          </a:xfrm>
        </p:grpSpPr>
        <p:sp>
          <p:nvSpPr>
            <p:cNvPr id="30" name="TextBox 29"/>
            <p:cNvSpPr txBox="1"/>
            <p:nvPr/>
          </p:nvSpPr>
          <p:spPr>
            <a:xfrm>
              <a:off x="4114167" y="2339588"/>
              <a:ext cx="6613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array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31" name="Rectangle 30"/>
            <p:cNvSpPr/>
            <p:nvPr/>
          </p:nvSpPr>
          <p:spPr>
            <a:xfrm>
              <a:off x="3704414" y="1421602"/>
              <a:ext cx="767231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32" name="Straight Arrow Connector 31"/>
            <p:cNvCxnSpPr>
              <a:stCxn id="30" idx="0"/>
              <a:endCxn id="31" idx="2"/>
            </p:cNvCxnSpPr>
            <p:nvPr/>
          </p:nvCxnSpPr>
          <p:spPr>
            <a:xfrm flipH="1" flipV="1">
              <a:off x="4088030" y="1708369"/>
              <a:ext cx="356805" cy="631219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034595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np.random.normal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h5file.create_array('/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 'positions', positions,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'particle positions',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createparents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38069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h5file.root.input.fields.magnetic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85940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497604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0"/>
              <a:endCxn id="8" idx="2"/>
            </p:cNvCxnSpPr>
            <p:nvPr/>
          </p:nvCxnSpPr>
          <p:spPr>
            <a:xfrm flipH="1" flipV="1">
              <a:off x="4239958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85940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h5file.root.coords.positions[indices,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528048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6564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list of attributes: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v_attrs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734481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field_group._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f_list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('user')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65024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objects &amp;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table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83838"/>
            <a:ext cx="8594019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tables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Int32Col, Float64Col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class Particle(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IsDescription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Int32Col()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mass 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    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= Float64Col()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5352544"/>
            <a:ext cx="8594019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initial_state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h5file.create_table(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'/', 'particles', Particle, 'initial state of particles'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22328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populate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new particles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94870"/>
            <a:ext cx="8594019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particle = h5file.root.particles.row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range(100):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particle_id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particle['mass']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y_vel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random.gauss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particle.append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379752" y="4528755"/>
            <a:ext cx="6804980" cy="1287542"/>
            <a:chOff x="3704413" y="1421602"/>
            <a:chExt cx="6804980" cy="1287542"/>
          </a:xfrm>
        </p:grpSpPr>
        <p:sp>
          <p:nvSpPr>
            <p:cNvPr id="6" name="TextBox 5"/>
            <p:cNvSpPr txBox="1"/>
            <p:nvPr/>
          </p:nvSpPr>
          <p:spPr>
            <a:xfrm>
              <a:off x="4550774" y="2339812"/>
              <a:ext cx="59586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append particles one by one, unlimited (except by disk space)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7" name="Rectangle 6"/>
            <p:cNvSpPr/>
            <p:nvPr/>
          </p:nvSpPr>
          <p:spPr>
            <a:xfrm>
              <a:off x="3704413" y="1421602"/>
              <a:ext cx="2348095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8" name="Straight Arrow Connector 7"/>
            <p:cNvCxnSpPr>
              <a:stCxn id="6" idx="0"/>
              <a:endCxn id="7" idx="2"/>
            </p:cNvCxnSpPr>
            <p:nvPr/>
          </p:nvCxnSpPr>
          <p:spPr>
            <a:xfrm flipH="1" flipV="1">
              <a:off x="4878461" y="1708369"/>
              <a:ext cx="2651623" cy="631443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7968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PyTables</a:t>
            </a:r>
            <a:r>
              <a:rPr lang="en-US" dirty="0"/>
              <a:t>: reading a table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center of mass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348880"/>
            <a:ext cx="8594019" cy="230832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0.0, 0.0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mass = 0.0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particle in h5file.root.particles: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mass += particle['mass']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 += particle['mass']*particle['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x /= mass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y /= mass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687065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102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643</TotalTime>
  <Words>7780</Words>
  <Application>Microsoft Office PowerPoint</Application>
  <PresentationFormat>Widescreen</PresentationFormat>
  <Paragraphs>1319</Paragraphs>
  <Slides>103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103</vt:i4>
      </vt:variant>
    </vt:vector>
  </HeadingPairs>
  <TitlesOfParts>
    <vt:vector size="112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Numpy data types</vt:lpstr>
      <vt:lpstr>Accessing array elements</vt:lpstr>
      <vt:lpstr>Memory layout</vt:lpstr>
      <vt:lpstr>Accessing subarrays: slicing</vt:lpstr>
      <vt:lpstr>Fancy indexing</vt:lpstr>
      <vt:lpstr>Operations on arrays</vt:lpstr>
      <vt:lpstr>Functions operating on arrays</vt:lpstr>
      <vt:lpstr>Some linear algebra</vt:lpstr>
      <vt:lpstr>References versus copies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 I</vt:lpstr>
      <vt:lpstr>3D surface plot II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PyTables &amp; h5py</vt:lpstr>
      <vt:lpstr>HDF5: what is it?</vt:lpstr>
      <vt:lpstr>HDF5 data</vt:lpstr>
      <vt:lpstr>HDF5 storage</vt:lpstr>
      <vt:lpstr>HDF5: how to use it?</vt:lpstr>
      <vt:lpstr>h5py: importing modules</vt:lpstr>
      <vt:lpstr>h5py: open &amp; close HDF5 file</vt:lpstr>
      <vt:lpstr>h5py: creating a group</vt:lpstr>
      <vt:lpstr>h5py: adding a dataset</vt:lpstr>
      <vt:lpstr>h5py: adding an 2D array</vt:lpstr>
      <vt:lpstr>h5py: annotations</vt:lpstr>
      <vt:lpstr>h5py: reading an array </vt:lpstr>
      <vt:lpstr>HDF5 command line utilities</vt:lpstr>
      <vt:lpstr>PyTables: importing modules</vt:lpstr>
      <vt:lpstr>PyTables: open &amp; close HDF5 file</vt:lpstr>
      <vt:lpstr>PyTables: creating a group</vt:lpstr>
      <vt:lpstr>PyTables: adding an array</vt:lpstr>
      <vt:lpstr>PyTables: adding an 2D array</vt:lpstr>
      <vt:lpstr>PyTables: reading an array </vt:lpstr>
      <vt:lpstr>PyTables: annotations</vt:lpstr>
      <vt:lpstr>PyTables: objects &amp; tables</vt:lpstr>
      <vt:lpstr>PyTables: populate table</vt:lpstr>
      <vt:lpstr>PyTables: reading a table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63</cp:revision>
  <dcterms:created xsi:type="dcterms:W3CDTF">2019-11-07T15:31:23Z</dcterms:created>
  <dcterms:modified xsi:type="dcterms:W3CDTF">2026-09-28T12:32:58Z</dcterms:modified>
</cp:coreProperties>
</file>