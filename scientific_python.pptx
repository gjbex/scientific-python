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sldIdLst>
    <p:sldId id="256" r:id="rId2"/>
    <p:sldId id="350" r:id="rId3"/>
    <p:sldId id="351" r:id="rId4"/>
    <p:sldId id="34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61" r:id="rId14"/>
    <p:sldId id="265" r:id="rId15"/>
    <p:sldId id="266" r:id="rId16"/>
    <p:sldId id="359" r:id="rId17"/>
    <p:sldId id="267" r:id="rId18"/>
    <p:sldId id="272" r:id="rId19"/>
    <p:sldId id="268" r:id="rId20"/>
    <p:sldId id="269" r:id="rId21"/>
    <p:sldId id="270" r:id="rId22"/>
    <p:sldId id="360" r:id="rId23"/>
    <p:sldId id="271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62" r:id="rId53"/>
    <p:sldId id="363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58" r:id="rId73"/>
    <p:sldId id="352" r:id="rId74"/>
    <p:sldId id="353" r:id="rId75"/>
    <p:sldId id="354" r:id="rId76"/>
    <p:sldId id="357" r:id="rId77"/>
    <p:sldId id="355" r:id="rId78"/>
    <p:sldId id="356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46DF48-D749-4A85-82E4-376E648194FB}">
          <p14:sldIdLst>
            <p14:sldId id="256"/>
            <p14:sldId id="350"/>
            <p14:sldId id="351"/>
            <p14:sldId id="349"/>
          </p14:sldIdLst>
        </p14:section>
        <p14:section name="numpy" id="{0ABF6D5A-1E58-4600-AE45-538E8F3A850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361"/>
            <p14:sldId id="265"/>
            <p14:sldId id="266"/>
            <p14:sldId id="359"/>
            <p14:sldId id="267"/>
            <p14:sldId id="272"/>
            <p14:sldId id="268"/>
            <p14:sldId id="269"/>
            <p14:sldId id="270"/>
            <p14:sldId id="360"/>
            <p14:sldId id="271"/>
            <p14:sldId id="273"/>
            <p14:sldId id="274"/>
            <p14:sldId id="275"/>
          </p14:sldIdLst>
        </p14:section>
        <p14:section name="scipy" id="{2BFE4CBE-B0F9-4FF9-B06C-4190F5D0A8AE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matplotlib" id="{F403613D-8C13-4CDF-B6A0-431E438689C2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62"/>
            <p14:sldId id="363"/>
            <p14:sldId id="302"/>
          </p14:sldIdLst>
        </p14:section>
        <p14:section name="sympy" id="{891A720C-B16A-48AD-AF97-823F2A124362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HDF5" id="{DED9C11B-28E7-49E5-B16A-009E9F2C22D8}">
          <p14:sldIdLst>
            <p14:sldId id="315"/>
            <p14:sldId id="316"/>
            <p14:sldId id="317"/>
            <p14:sldId id="318"/>
            <p14:sldId id="319"/>
            <p14:sldId id="358"/>
            <p14:sldId id="352"/>
            <p14:sldId id="353"/>
            <p14:sldId id="354"/>
            <p14:sldId id="357"/>
            <p14:sldId id="355"/>
            <p14:sldId id="356"/>
            <p14:sldId id="330"/>
          </p14:sldIdLst>
        </p14:section>
        <p14:section name="Bokeh" id="{22F7CFE4-471A-46E1-B56F-941AA410093A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scikit-image &amp; OpenCV" id="{9AE95759-AB76-41D4-AD63-776D3CBA133E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573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A79FE-F917-4C87-AD83-0AC7A6FA25F7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54D0-57AA-4B0A-9870-489EE29B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67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Impulse_response" TargetMode="External"/><Relationship Id="rId3" Type="http://schemas.openxmlformats.org/officeDocument/2006/relationships/hyperlink" Target="http://en.wikipedia.org/wiki/Sampling_rate" TargetMode="External"/><Relationship Id="rId7" Type="http://schemas.openxmlformats.org/officeDocument/2006/relationships/hyperlink" Target="http://en.wikipedia.org/wiki/Digital_filter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Electronic_filter" TargetMode="External"/><Relationship Id="rId5" Type="http://schemas.openxmlformats.org/officeDocument/2006/relationships/hyperlink" Target="http://en.wikipedia.org/wiki/Linear_time-invariant_system" TargetMode="External"/><Relationship Id="rId4" Type="http://schemas.openxmlformats.org/officeDocument/2006/relationships/hyperlink" Target="http://en.wikipedia.org/wiki/Discrete_signal" TargetMode="External"/><Relationship Id="rId9" Type="http://schemas.openxmlformats.org/officeDocument/2006/relationships/hyperlink" Target="http://en.wikipedia.org/wiki/Finite_impulse_respons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Nyquist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frequency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half of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ampling rate"/>
              </a:rPr>
              <a:t>sampling rate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Discrete signal"/>
              </a:rPr>
              <a:t>discrete signal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processing system.</a:t>
            </a:r>
            <a:endParaRPr lang="en-US" sz="1200" b="0" i="0" u="none" strike="noStrike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Infinite impulse response (IIR)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property applying to many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Linear time-invariant system"/>
              </a:rPr>
              <a:t>linear time-invariant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Common examples of linear time-invariant systems are most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Electronic filter"/>
              </a:rPr>
              <a:t>electronic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Digital filter"/>
              </a:rPr>
              <a:t>digital filters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Systems with this property are known as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IIR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IIR filters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are distinguished by having an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Impulse response"/>
              </a:rPr>
              <a:t>impulse response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which does not become exactly zero past a certain point, but continues indefinitely. This is in contrast to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Finite impulse response"/>
              </a:rPr>
              <a:t>finite impulse response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which the impulse response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become exactly zero at times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&gt;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some finite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thus being of finite duration.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719F6-2AB7-47DE-AD4D-74548843A43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5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5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5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0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8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1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8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6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8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2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F3255-C76E-4FA3-812C-0AAA4654139A}" type="datetimeFigureOut">
              <a:rPr lang="en-US" smtClean="0"/>
              <a:t>2026-10-23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7499-336E-4269-8F37-873EEEB06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7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bit.ly/2qouLp2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Scientific-Python/tree/master/source-code/numpy" TargetMode="External"/><Relationship Id="rId2" Type="http://schemas.openxmlformats.org/officeDocument/2006/relationships/hyperlink" Target="https://github.com/gjbex/Scientific-Python/tree/master/source-code/matrices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2.png"/><Relationship Id="rId3" Type="http://schemas.openxmlformats.org/officeDocument/2006/relationships/image" Target="../media/image6.png"/><Relationship Id="rId21" Type="http://schemas.openxmlformats.org/officeDocument/2006/relationships/image" Target="../media/image25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1.png"/><Relationship Id="rId2" Type="http://schemas.openxmlformats.org/officeDocument/2006/relationships/image" Target="../media/image4.jpg"/><Relationship Id="rId16" Type="http://schemas.openxmlformats.org/officeDocument/2006/relationships/image" Target="../media/image19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7.png"/><Relationship Id="rId10" Type="http://schemas.openxmlformats.org/officeDocument/2006/relationships/image" Target="../media/image13.png"/><Relationship Id="rId19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blob/master/source-code/numpy/views.ipynb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blob/master/source-code/numpy/broadcast.ipynb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mathesaurus.sourceforge.net/matlab-numpy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training-material/tree/master/Python/Birdsong" TargetMode="External"/><Relationship Id="rId2" Type="http://schemas.openxmlformats.org/officeDocument/2006/relationships/hyperlink" Target="https://github.com/gjbex/Scientific-Python/tree/master/source-code/numpy" TargetMode="Externa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tree/master/source-code/matplotlib" TargetMode="Externa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lor-blindness.com/coblis-color-blindness-simulator/" TargetMode="External"/><Relationship Id="rId2" Type="http://schemas.openxmlformats.org/officeDocument/2006/relationships/hyperlink" Target="http://colorbrewer2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-graph-gallery.com/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tree/master/source-code/sympy" TargetMode="Externa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5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peerj.com/articles/cs-103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tree/master/source-code/hdf5" TargetMode="Externa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tree/master/source-code/bokeh" TargetMode="Externa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Scientific-Python/tree/master/Python/image-processing" TargetMode="Externa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4.x/d6/d00/tutorial_py_root.html" TargetMode="External"/><Relationship Id="rId2" Type="http://schemas.openxmlformats.org/officeDocument/2006/relationships/hyperlink" Target="https://scikit-image.org/docs/stabl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Scientific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7" name="Picture 6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8E3B7DE8-2E50-3C99-916F-8A449D7548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0" y="318938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9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60836" y="5445224"/>
            <a:ext cx="4871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http://bit.ly/36VXTEZ </a:t>
            </a:r>
            <a:r>
              <a:rPr lang="en-US" sz="4000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477" y="980729"/>
            <a:ext cx="4093046" cy="409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8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B1808814-F2CD-4104-8853-6F6E9C2B9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8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#!/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usr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/bin/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python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__name__ == '__main__':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case dim temp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1 1 -0.5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2 1 0.0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3 1 0.5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4 2 -0.5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564285" cy="2926615"/>
            <a:chOff x="1321249" y="3584213"/>
            <a:chExt cx="3564285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fragment</a:t>
              </a:r>
              <a:br>
                <a:rPr lang="en-US" dirty="0"/>
              </a:br>
              <a:r>
                <a:rPr lang="en-US" dirty="0"/>
                <a:t>not shown</a:t>
              </a:r>
              <a:endParaRPr lang="nl-BE" dirty="0"/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217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https://github.com/gjbex/Scientific-Python/tree/master/source-code/matrices</a:t>
            </a:r>
            <a:r>
              <a:rPr lang="en-US" sz="1800" dirty="0"/>
              <a:t> </a:t>
            </a:r>
          </a:p>
          <a:p>
            <a:r>
              <a:rPr lang="en-US" sz="1800" dirty="0">
                <a:hlinkClick r:id="rId3"/>
              </a:rPr>
              <a:t>https://github.com/gjbex/Scientific-Python/tree/master/source-code/numpy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6179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the box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interpreted</a:t>
            </a:r>
          </a:p>
          <a:p>
            <a:pPr lvl="1"/>
            <a:r>
              <a:rPr lang="en-US" dirty="0"/>
              <a:t>Python is slow</a:t>
            </a:r>
          </a:p>
          <a:p>
            <a:pPr lvl="1"/>
            <a:r>
              <a:rPr lang="en-US" dirty="0"/>
              <a:t>Python is really slow</a:t>
            </a:r>
          </a:p>
          <a:p>
            <a:r>
              <a:rPr lang="en-US" dirty="0"/>
              <a:t>Okay for one-offs, prototypes, short runtimes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Not okay</a:t>
            </a:r>
            <a:r>
              <a:rPr lang="en-US" dirty="0"/>
              <a:t> for computationally intensive tasks!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7168" y="4705980"/>
            <a:ext cx="664919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Don't use vanilla Python for computations!!!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980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performance</a:t>
            </a:r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3937712" y="2134012"/>
            <a:ext cx="5974713" cy="42473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init_matrix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(n):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m = []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i in range(n):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m.append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([])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j in range(n): </a:t>
            </a:r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            m[i].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append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random.random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())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return m</a:t>
            </a:r>
          </a:p>
          <a:p>
            <a:endParaRPr lang="nl-BE" dirty="0">
              <a:latin typeface="Courier New" pitchFamily="49" charset="0"/>
              <a:cs typeface="Courier New" pitchFamily="49" charset="0"/>
            </a:endParaRPr>
          </a:p>
          <a:p>
            <a:r>
              <a:rPr lang="nl-BE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matmul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(a, b, c):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n =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(a)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i in range(n):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j in range(n):</a:t>
            </a:r>
          </a:p>
          <a:p>
            <a:r>
              <a:rPr lang="nl-BE" dirty="0">
                <a:latin typeface="Courier New" pitchFamily="49" charset="0"/>
                <a:cs typeface="Courier New" pitchFamily="49" charset="0"/>
              </a:rPr>
              <a:t>            c[i][j] = 0.0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k in range(n):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            c[i][j] += a[i][k]*b[k][j]</a:t>
            </a:r>
          </a:p>
        </p:txBody>
      </p:sp>
      <p:sp>
        <p:nvSpPr>
          <p:cNvPr id="6" name="TextBox 5"/>
          <p:cNvSpPr txBox="1"/>
          <p:nvPr/>
        </p:nvSpPr>
        <p:spPr>
          <a:xfrm rot="-1800000">
            <a:off x="4997500" y="3207550"/>
            <a:ext cx="2604174" cy="1200329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FF0000"/>
                </a:solidFill>
              </a:rPr>
              <a:t>Naïve!</a:t>
            </a:r>
            <a:endParaRPr lang="nl-BE" sz="7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417051" y="4292877"/>
                <a:ext cx="2970621" cy="6686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𝐶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𝐵</m:t>
                      </m:r>
                    </m:oMath>
                  </m:oMathPara>
                </a14:m>
                <a:endParaRPr lang="en-US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⋯+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𝑖𝑁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𝑁𝑗</m:t>
                          </m:r>
                        </m:sub>
                      </m:sSub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051" y="4292877"/>
                <a:ext cx="2970621" cy="668645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318066" y="2411596"/>
            <a:ext cx="302640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Represent matrix as list of lists</a:t>
            </a:r>
            <a:endParaRPr lang="nl-BE" dirty="0"/>
          </a:p>
        </p:txBody>
      </p:sp>
      <p:grpSp>
        <p:nvGrpSpPr>
          <p:cNvPr id="16" name="Group 15"/>
          <p:cNvGrpSpPr/>
          <p:nvPr/>
        </p:nvGrpSpPr>
        <p:grpSpPr>
          <a:xfrm>
            <a:off x="1873549" y="2299094"/>
            <a:ext cx="2019592" cy="3227431"/>
            <a:chOff x="349549" y="2299093"/>
            <a:chExt cx="2019592" cy="3227431"/>
          </a:xfrm>
        </p:grpSpPr>
        <p:sp>
          <p:nvSpPr>
            <p:cNvPr id="9" name="TextBox 8"/>
            <p:cNvSpPr txBox="1"/>
            <p:nvPr/>
          </p:nvSpPr>
          <p:spPr>
            <a:xfrm>
              <a:off x="349549" y="2299093"/>
              <a:ext cx="2019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500 ×  500 matrices</a:t>
              </a:r>
              <a:endParaRPr lang="nl-BE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9714" y="2852936"/>
              <a:ext cx="1519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Python: 0.09 s</a:t>
              </a:r>
              <a:endParaRPr lang="nl-BE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714" y="5157192"/>
              <a:ext cx="1344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Python: 32 s</a:t>
              </a:r>
              <a:endParaRPr lang="nl-BE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123714" y="3244334"/>
            <a:ext cx="1091966" cy="2637584"/>
            <a:chOff x="599714" y="3244334"/>
            <a:chExt cx="1091966" cy="2637584"/>
          </a:xfrm>
        </p:grpSpPr>
        <p:sp>
          <p:nvSpPr>
            <p:cNvPr id="12" name="TextBox 11"/>
            <p:cNvSpPr txBox="1"/>
            <p:nvPr/>
          </p:nvSpPr>
          <p:spPr>
            <a:xfrm>
              <a:off x="599714" y="3244334"/>
              <a:ext cx="1091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C: 0.014 s</a:t>
              </a:r>
              <a:endParaRPr lang="nl-BE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9714" y="5512586"/>
              <a:ext cx="974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C: 0.49 s</a:t>
              </a:r>
              <a:endParaRPr lang="nl-BE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123714" y="3635732"/>
            <a:ext cx="1657954" cy="2601580"/>
            <a:chOff x="599714" y="3635732"/>
            <a:chExt cx="1657954" cy="2601580"/>
          </a:xfrm>
        </p:grpSpPr>
        <p:sp>
          <p:nvSpPr>
            <p:cNvPr id="14" name="TextBox 13"/>
            <p:cNvSpPr txBox="1"/>
            <p:nvPr/>
          </p:nvSpPr>
          <p:spPr>
            <a:xfrm>
              <a:off x="599714" y="3635732"/>
              <a:ext cx="16579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Fortran: 0.012 s</a:t>
              </a:r>
              <a:endParaRPr lang="nl-BE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9714" y="5867980"/>
              <a:ext cx="15409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Fortran: 0.11 s</a:t>
              </a:r>
              <a:endParaRPr lang="nl-BE" dirty="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726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for numeric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28801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/>
              <a:t>Fast arrays</a:t>
            </a:r>
          </a:p>
          <a:p>
            <a:pPr lvl="1"/>
            <a:r>
              <a:rPr lang="en-US" dirty="0"/>
              <a:t>Matrix operations (BLAS-like)</a:t>
            </a:r>
          </a:p>
          <a:p>
            <a:pPr lvl="1"/>
            <a:r>
              <a:rPr lang="en-US" dirty="0"/>
              <a:t>Linear algebra</a:t>
            </a:r>
          </a:p>
          <a:p>
            <a:pPr lvl="1"/>
            <a:r>
              <a:rPr lang="en-US" dirty="0"/>
              <a:t>Fast Fourier Transform</a:t>
            </a:r>
          </a:p>
          <a:p>
            <a:pPr lvl="1"/>
            <a:r>
              <a:rPr lang="en-US" dirty="0"/>
              <a:t>Mathematical functions defined on arrays</a:t>
            </a:r>
          </a:p>
          <a:p>
            <a:pPr lvl="1"/>
            <a:r>
              <a:rPr lang="en-US" dirty="0"/>
              <a:t>Pseudo-random number generation to initialize arrays</a:t>
            </a:r>
          </a:p>
          <a:p>
            <a:pPr lvl="1"/>
            <a:r>
              <a:rPr lang="en-US" dirty="0"/>
              <a:t>Simple statistics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061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using </a:t>
            </a:r>
            <a:r>
              <a:rPr lang="en-US" dirty="0" err="1"/>
              <a:t>numpy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4087885" y="1685708"/>
            <a:ext cx="5698996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as np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def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init_matrix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(n,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):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rng.uniform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(0.0, 1.0, (n, n))</a:t>
            </a:r>
          </a:p>
          <a:p>
            <a:endParaRPr lang="nl-BE" dirty="0">
              <a:latin typeface="Courier New" pitchFamily="49" charset="0"/>
              <a:cs typeface="Courier New" pitchFamily="49" charset="0"/>
            </a:endParaRPr>
          </a:p>
          <a:p>
            <a:r>
              <a:rPr lang="nl-BE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dirty="0" err="1">
                <a:latin typeface="Courier New" pitchFamily="49" charset="0"/>
                <a:cs typeface="Courier New" pitchFamily="49" charset="0"/>
              </a:rPr>
              <a:t>matmul</a:t>
            </a:r>
            <a:r>
              <a:rPr lang="nl-BE" dirty="0">
                <a:latin typeface="Courier New" pitchFamily="49" charset="0"/>
                <a:cs typeface="Courier New" pitchFamily="49" charset="0"/>
              </a:rPr>
              <a:t>(a, b):</a:t>
            </a:r>
            <a:br>
              <a:rPr lang="nl-BE" dirty="0">
                <a:latin typeface="Courier New" pitchFamily="49" charset="0"/>
                <a:cs typeface="Courier New" pitchFamily="49" charset="0"/>
              </a:rPr>
            </a:br>
            <a:r>
              <a:rPr lang="nl-BE" dirty="0">
                <a:latin typeface="Courier New" pitchFamily="49" charset="0"/>
                <a:cs typeface="Courier New" pitchFamily="49" charset="0"/>
              </a:rPr>
              <a:t>    return a @ b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873549" y="1723030"/>
            <a:ext cx="2019592" cy="1787271"/>
            <a:chOff x="349549" y="2299093"/>
            <a:chExt cx="2019592" cy="1787271"/>
          </a:xfrm>
        </p:grpSpPr>
        <p:sp>
          <p:nvSpPr>
            <p:cNvPr id="5" name="TextBox 4"/>
            <p:cNvSpPr txBox="1"/>
            <p:nvPr/>
          </p:nvSpPr>
          <p:spPr>
            <a:xfrm>
              <a:off x="349549" y="2299093"/>
              <a:ext cx="2019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500 ×  500 matrices</a:t>
              </a:r>
              <a:endParaRPr lang="nl-BE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99714" y="2852936"/>
              <a:ext cx="1621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numpy</a:t>
              </a:r>
              <a:r>
                <a:rPr lang="en-US" dirty="0"/>
                <a:t>: 0.011 s</a:t>
              </a:r>
              <a:endParaRPr lang="nl-BE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99714" y="3717032"/>
              <a:ext cx="1621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numpy</a:t>
              </a:r>
              <a:r>
                <a:rPr lang="en-US" dirty="0"/>
                <a:t>: 0.077 s</a:t>
              </a:r>
              <a:endParaRPr lang="nl-BE" dirty="0"/>
            </a:p>
          </p:txBody>
        </p:sp>
      </p:grp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83632" y="3861048"/>
          <a:ext cx="6096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Language/library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 matrix multiplication (s)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Fortran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numpy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0.077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Fortran/BLAS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0.060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9048328" y="4622351"/>
            <a:ext cx="1468036" cy="1152128"/>
            <a:chOff x="7524328" y="4622351"/>
            <a:chExt cx="1468036" cy="1152128"/>
          </a:xfrm>
        </p:grpSpPr>
        <p:sp>
          <p:nvSpPr>
            <p:cNvPr id="9" name="Curved Left Arrow 8"/>
            <p:cNvSpPr/>
            <p:nvPr/>
          </p:nvSpPr>
          <p:spPr>
            <a:xfrm>
              <a:off x="7524328" y="4622351"/>
              <a:ext cx="288032" cy="1152128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schemeClr val="tx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84368" y="4869160"/>
              <a:ext cx="1107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415 ×</a:t>
              </a:r>
              <a:endParaRPr lang="nl-BE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62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array I</a:t>
            </a:r>
            <a:endParaRPr lang="nl-BE" dirty="0"/>
          </a:p>
        </p:txBody>
      </p:sp>
      <p:grpSp>
        <p:nvGrpSpPr>
          <p:cNvPr id="47" name="Group 46"/>
          <p:cNvGrpSpPr/>
          <p:nvPr/>
        </p:nvGrpSpPr>
        <p:grpSpPr>
          <a:xfrm>
            <a:off x="2071661" y="4240629"/>
            <a:ext cx="6909352" cy="1633707"/>
            <a:chOff x="547661" y="4395677"/>
            <a:chExt cx="6909352" cy="1633707"/>
          </a:xfrm>
          <a:solidFill>
            <a:schemeClr val="bg1">
              <a:lumMod val="85000"/>
            </a:schemeClr>
          </a:solidFill>
        </p:grpSpPr>
        <p:sp>
          <p:nvSpPr>
            <p:cNvPr id="3" name="TextBox 2"/>
            <p:cNvSpPr txBox="1"/>
            <p:nvPr/>
          </p:nvSpPr>
          <p:spPr>
            <a:xfrm>
              <a:off x="547661" y="4615968"/>
              <a:ext cx="2914551" cy="120032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np.zeros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((2, 3))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b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np.ones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((2, 3))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c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np.eye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(2)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d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np.empty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((2, 3))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347864" y="4395677"/>
              <a:ext cx="4109149" cy="574323"/>
              <a:chOff x="1475656" y="4170361"/>
              <a:chExt cx="4109149" cy="574323"/>
            </a:xfrm>
            <a:grpFill/>
          </p:grpSpPr>
          <p:sp>
            <p:nvSpPr>
              <p:cNvPr id="5" name="TextBox 4"/>
              <p:cNvSpPr txBox="1"/>
              <p:nvPr/>
            </p:nvSpPr>
            <p:spPr>
              <a:xfrm>
                <a:off x="2195736" y="4170361"/>
                <a:ext cx="33890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array, all elements 0.0</a:t>
                </a:r>
              </a:p>
            </p:txBody>
          </p:sp>
          <p:cxnSp>
            <p:nvCxnSpPr>
              <p:cNvPr id="6" name="Straight Arrow Connector 5"/>
              <p:cNvCxnSpPr>
                <a:stCxn id="5" idx="1"/>
              </p:cNvCxnSpPr>
              <p:nvPr/>
            </p:nvCxnSpPr>
            <p:spPr>
              <a:xfrm flipH="1">
                <a:off x="1475656" y="4355027"/>
                <a:ext cx="720080" cy="389657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3345161" y="4724802"/>
              <a:ext cx="4109149" cy="369332"/>
              <a:chOff x="1475656" y="3716690"/>
              <a:chExt cx="4109149" cy="369332"/>
            </a:xfrm>
            <a:grpFill/>
          </p:grpSpPr>
          <p:sp>
            <p:nvSpPr>
              <p:cNvPr id="12" name="TextBox 11"/>
              <p:cNvSpPr txBox="1"/>
              <p:nvPr/>
            </p:nvSpPr>
            <p:spPr>
              <a:xfrm>
                <a:off x="2195736" y="3716690"/>
                <a:ext cx="33890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array, all elements 1.0</a:t>
                </a:r>
              </a:p>
            </p:txBody>
          </p:sp>
          <p:cxnSp>
            <p:nvCxnSpPr>
              <p:cNvPr id="13" name="Straight Arrow Connector 12"/>
              <p:cNvCxnSpPr>
                <a:stCxn id="12" idx="1"/>
              </p:cNvCxnSpPr>
              <p:nvPr/>
            </p:nvCxnSpPr>
            <p:spPr>
              <a:xfrm flipH="1" flipV="1">
                <a:off x="1475656" y="3831325"/>
                <a:ext cx="720080" cy="70031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2483768" y="5009196"/>
              <a:ext cx="4168986" cy="414063"/>
              <a:chOff x="611560" y="3497028"/>
              <a:chExt cx="4168986" cy="414063"/>
            </a:xfrm>
            <a:grpFill/>
          </p:grpSpPr>
          <p:sp>
            <p:nvSpPr>
              <p:cNvPr id="16" name="TextBox 15"/>
              <p:cNvSpPr txBox="1"/>
              <p:nvPr/>
            </p:nvSpPr>
            <p:spPr>
              <a:xfrm>
                <a:off x="2195736" y="3541759"/>
                <a:ext cx="258481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2 identity array</a:t>
                </a:r>
              </a:p>
            </p:txBody>
          </p:sp>
          <p:cxnSp>
            <p:nvCxnSpPr>
              <p:cNvPr id="17" name="Straight Arrow Connector 16"/>
              <p:cNvCxnSpPr>
                <a:stCxn id="16" idx="1"/>
              </p:cNvCxnSpPr>
              <p:nvPr/>
            </p:nvCxnSpPr>
            <p:spPr>
              <a:xfrm flipH="1" flipV="1">
                <a:off x="611560" y="3497028"/>
                <a:ext cx="1584176" cy="229397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3275856" y="5320337"/>
              <a:ext cx="3443711" cy="709047"/>
              <a:chOff x="1403648" y="3376121"/>
              <a:chExt cx="3443711" cy="709047"/>
            </a:xfrm>
            <a:grpFill/>
          </p:grpSpPr>
          <p:sp>
            <p:nvSpPr>
              <p:cNvPr id="20" name="TextBox 19"/>
              <p:cNvSpPr txBox="1"/>
              <p:nvPr/>
            </p:nvSpPr>
            <p:spPr>
              <a:xfrm>
                <a:off x="2195736" y="3438837"/>
                <a:ext cx="265162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"empty" array</a:t>
                </a:r>
                <a:br>
                  <a:rPr lang="en-US" dirty="0"/>
                </a:br>
                <a:r>
                  <a:rPr lang="en-US" dirty="0"/>
                  <a:t>initialize elements later</a:t>
                </a:r>
              </a:p>
            </p:txBody>
          </p:sp>
          <p:cxnSp>
            <p:nvCxnSpPr>
              <p:cNvPr id="21" name="Straight Arrow Connector 20"/>
              <p:cNvCxnSpPr>
                <a:stCxn id="20" idx="1"/>
              </p:cNvCxnSpPr>
              <p:nvPr/>
            </p:nvCxnSpPr>
            <p:spPr>
              <a:xfrm flipH="1" flipV="1">
                <a:off x="1403648" y="3376121"/>
                <a:ext cx="792088" cy="385882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TextBox 22"/>
          <p:cNvSpPr txBox="1"/>
          <p:nvPr/>
        </p:nvSpPr>
        <p:spPr>
          <a:xfrm>
            <a:off x="2112960" y="1556792"/>
            <a:ext cx="290053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as np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2084334" y="2285400"/>
            <a:ext cx="6684355" cy="1354970"/>
            <a:chOff x="560333" y="2285399"/>
            <a:chExt cx="6684355" cy="1354970"/>
          </a:xfrm>
          <a:solidFill>
            <a:schemeClr val="bg1">
              <a:lumMod val="85000"/>
            </a:schemeClr>
          </a:solidFill>
        </p:grpSpPr>
        <p:sp>
          <p:nvSpPr>
            <p:cNvPr id="24" name="TextBox 23"/>
            <p:cNvSpPr txBox="1"/>
            <p:nvPr/>
          </p:nvSpPr>
          <p:spPr>
            <a:xfrm>
              <a:off x="560333" y="2563879"/>
              <a:ext cx="2901879" cy="92333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v1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np.zeros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(3)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v2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np.ones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(3)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v3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np.empty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(3)</a:t>
              </a: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2893687" y="2285399"/>
              <a:ext cx="4165631" cy="648072"/>
              <a:chOff x="1008806" y="4303364"/>
              <a:chExt cx="4165631" cy="648072"/>
            </a:xfrm>
            <a:grpFill/>
          </p:grpSpPr>
          <p:sp>
            <p:nvSpPr>
              <p:cNvPr id="26" name="TextBox 25"/>
              <p:cNvSpPr txBox="1"/>
              <p:nvPr/>
            </p:nvSpPr>
            <p:spPr>
              <a:xfrm>
                <a:off x="2195736" y="4303364"/>
                <a:ext cx="297870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3-element array, all 0.0</a:t>
                </a:r>
              </a:p>
            </p:txBody>
          </p:sp>
          <p:cxnSp>
            <p:nvCxnSpPr>
              <p:cNvPr id="27" name="Straight Arrow Connector 26"/>
              <p:cNvCxnSpPr>
                <a:stCxn id="26" idx="1"/>
              </p:cNvCxnSpPr>
              <p:nvPr/>
            </p:nvCxnSpPr>
            <p:spPr>
              <a:xfrm flipH="1">
                <a:off x="1008806" y="4488030"/>
                <a:ext cx="1186930" cy="463406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2699793" y="2639719"/>
              <a:ext cx="4359525" cy="369332"/>
              <a:chOff x="1475657" y="3874888"/>
              <a:chExt cx="3775164" cy="369332"/>
            </a:xfrm>
            <a:grpFill/>
          </p:grpSpPr>
          <p:sp>
            <p:nvSpPr>
              <p:cNvPr id="29" name="TextBox 28"/>
              <p:cNvSpPr txBox="1"/>
              <p:nvPr/>
            </p:nvSpPr>
            <p:spPr>
              <a:xfrm>
                <a:off x="2671392" y="3874888"/>
                <a:ext cx="257942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3-element array, all 1.0</a:t>
                </a:r>
              </a:p>
            </p:txBody>
          </p:sp>
          <p:cxnSp>
            <p:nvCxnSpPr>
              <p:cNvPr id="30" name="Straight Arrow Connector 29"/>
              <p:cNvCxnSpPr>
                <a:stCxn id="29" idx="1"/>
              </p:cNvCxnSpPr>
              <p:nvPr/>
            </p:nvCxnSpPr>
            <p:spPr>
              <a:xfrm flipH="1">
                <a:off x="1475657" y="4059554"/>
                <a:ext cx="1195735" cy="9967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>
              <a:off x="2843809" y="2850022"/>
              <a:ext cx="4400879" cy="790347"/>
              <a:chOff x="958928" y="3149087"/>
              <a:chExt cx="4400879" cy="790347"/>
            </a:xfrm>
            <a:grpFill/>
          </p:grpSpPr>
          <p:sp>
            <p:nvSpPr>
              <p:cNvPr id="35" name="TextBox 34"/>
              <p:cNvSpPr txBox="1"/>
              <p:nvPr/>
            </p:nvSpPr>
            <p:spPr>
              <a:xfrm>
                <a:off x="2195736" y="3293103"/>
                <a:ext cx="316407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3-element "empty" array</a:t>
                </a:r>
                <a:br>
                  <a:rPr lang="en-US" dirty="0"/>
                </a:br>
                <a:r>
                  <a:rPr lang="en-US" dirty="0"/>
                  <a:t>initialize elements later</a:t>
                </a:r>
              </a:p>
            </p:txBody>
          </p:sp>
          <p:cxnSp>
            <p:nvCxnSpPr>
              <p:cNvPr id="36" name="Straight Arrow Connector 35"/>
              <p:cNvCxnSpPr>
                <a:stCxn id="35" idx="1"/>
              </p:cNvCxnSpPr>
              <p:nvPr/>
            </p:nvCxnSpPr>
            <p:spPr>
              <a:xfrm flipH="1" flipV="1">
                <a:off x="958928" y="3149087"/>
                <a:ext cx="1236808" cy="467182"/>
              </a:xfrm>
              <a:prstGeom prst="straightConnector1">
                <a:avLst/>
              </a:prstGeom>
              <a:grpFill/>
              <a:ln w="19050">
                <a:noFill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oup 38"/>
          <p:cNvGrpSpPr/>
          <p:nvPr/>
        </p:nvGrpSpPr>
        <p:grpSpPr>
          <a:xfrm>
            <a:off x="4799857" y="1198494"/>
            <a:ext cx="2047928" cy="542965"/>
            <a:chOff x="1378722" y="3862789"/>
            <a:chExt cx="2047928" cy="542965"/>
          </a:xfrm>
        </p:grpSpPr>
        <p:sp>
          <p:nvSpPr>
            <p:cNvPr id="40" name="TextBox 39"/>
            <p:cNvSpPr txBox="1"/>
            <p:nvPr/>
          </p:nvSpPr>
          <p:spPr>
            <a:xfrm>
              <a:off x="2195736" y="3862789"/>
              <a:ext cx="123091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convention</a:t>
              </a:r>
            </a:p>
          </p:txBody>
        </p:sp>
        <p:cxnSp>
          <p:nvCxnSpPr>
            <p:cNvPr id="41" name="Straight Arrow Connector 40"/>
            <p:cNvCxnSpPr>
              <a:stCxn id="40" idx="1"/>
            </p:cNvCxnSpPr>
            <p:nvPr/>
          </p:nvCxnSpPr>
          <p:spPr>
            <a:xfrm flipH="1">
              <a:off x="1378722" y="4047455"/>
              <a:ext cx="817014" cy="3582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775520" y="6143153"/>
            <a:ext cx="609820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Default type: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np.float64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</a:t>
            </a:r>
            <a:r>
              <a:rPr lang="en-US" sz="2400" dirty="0"/>
              <a:t> double precision</a:t>
            </a:r>
            <a:endParaRPr lang="nl-BE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937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arrays II</a:t>
            </a:r>
            <a:endParaRPr lang="nl-BE" dirty="0"/>
          </a:p>
        </p:txBody>
      </p:sp>
      <p:grpSp>
        <p:nvGrpSpPr>
          <p:cNvPr id="20" name="Group 19"/>
          <p:cNvGrpSpPr/>
          <p:nvPr/>
        </p:nvGrpSpPr>
        <p:grpSpPr>
          <a:xfrm>
            <a:off x="2063552" y="3491717"/>
            <a:ext cx="7200800" cy="1460485"/>
            <a:chOff x="539552" y="3491716"/>
            <a:chExt cx="7200800" cy="1460485"/>
          </a:xfrm>
        </p:grpSpPr>
        <p:sp>
          <p:nvSpPr>
            <p:cNvPr id="8" name="TextBox 7"/>
            <p:cNvSpPr txBox="1"/>
            <p:nvPr/>
          </p:nvSpPr>
          <p:spPr>
            <a:xfrm>
              <a:off x="539552" y="3491716"/>
              <a:ext cx="720080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g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np.zeros_like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(f)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009053" y="3861048"/>
              <a:ext cx="3451992" cy="1091153"/>
              <a:chOff x="3506349" y="4271030"/>
              <a:chExt cx="3451992" cy="109115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065241" y="4715852"/>
                <a:ext cx="28931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array with shape</a:t>
                </a:r>
                <a:br>
                  <a:rPr lang="en-US" dirty="0"/>
                </a:br>
                <a:r>
                  <a:rPr lang="en-US" dirty="0"/>
                  <a:t>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dtype</a:t>
                </a:r>
                <a:r>
                  <a:rPr lang="en-US" dirty="0"/>
                  <a:t> of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</a:p>
            </p:txBody>
          </p:sp>
          <p:cxnSp>
            <p:nvCxnSpPr>
              <p:cNvPr id="12" name="Straight Arrow Connector 11"/>
              <p:cNvCxnSpPr>
                <a:cxnSpLocks/>
                <a:stCxn id="11" idx="1"/>
              </p:cNvCxnSpPr>
              <p:nvPr/>
            </p:nvCxnSpPr>
            <p:spPr>
              <a:xfrm flipH="1" flipV="1">
                <a:off x="3506349" y="4271030"/>
                <a:ext cx="558892" cy="7679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Group 20"/>
          <p:cNvGrpSpPr/>
          <p:nvPr/>
        </p:nvGrpSpPr>
        <p:grpSpPr>
          <a:xfrm>
            <a:off x="2063552" y="5075893"/>
            <a:ext cx="7200800" cy="1305436"/>
            <a:chOff x="539552" y="5075892"/>
            <a:chExt cx="7200800" cy="1305436"/>
          </a:xfrm>
        </p:grpSpPr>
        <p:sp>
          <p:nvSpPr>
            <p:cNvPr id="15" name="TextBox 14"/>
            <p:cNvSpPr txBox="1"/>
            <p:nvPr/>
          </p:nvSpPr>
          <p:spPr>
            <a:xfrm>
              <a:off x="539552" y="5075892"/>
              <a:ext cx="720080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f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np.genfromtxt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('matrix.txt')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139952" y="5456263"/>
              <a:ext cx="2239065" cy="925065"/>
              <a:chOff x="3637249" y="4437118"/>
              <a:chExt cx="2239065" cy="925065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4065241" y="4715852"/>
                <a:ext cx="181107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array</a:t>
                </a:r>
                <a:br>
                  <a:rPr lang="en-US" dirty="0"/>
                </a:br>
                <a:r>
                  <a:rPr lang="en-US" dirty="0"/>
                  <a:t>from text file</a:t>
                </a:r>
              </a:p>
            </p:txBody>
          </p:sp>
          <p:cxnSp>
            <p:nvCxnSpPr>
              <p:cNvPr id="18" name="Straight Arrow Connector 17"/>
              <p:cNvCxnSpPr>
                <a:stCxn id="17" idx="1"/>
              </p:cNvCxnSpPr>
              <p:nvPr/>
            </p:nvCxnSpPr>
            <p:spPr>
              <a:xfrm flipH="1" flipV="1">
                <a:off x="3637249" y="4437118"/>
                <a:ext cx="427992" cy="6019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11</a:t>
            </a:fld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DA65B-614A-0475-423D-11F88B4F5445}"/>
              </a:ext>
            </a:extLst>
          </p:cNvPr>
          <p:cNvSpPr txBox="1"/>
          <p:nvPr/>
        </p:nvSpPr>
        <p:spPr>
          <a:xfrm>
            <a:off x="8173373" y="5662078"/>
            <a:ext cx="1808827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1.2 2.3 3.4</a:t>
            </a:r>
          </a:p>
          <a:p>
            <a:r>
              <a:rPr lang="nl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4.5 5.6 6.7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2CEB75-555E-7F0E-47BB-4F3CA92AD989}"/>
              </a:ext>
            </a:extLst>
          </p:cNvPr>
          <p:cNvGrpSpPr/>
          <p:nvPr/>
        </p:nvGrpSpPr>
        <p:grpSpPr>
          <a:xfrm>
            <a:off x="2063552" y="1774560"/>
            <a:ext cx="7229654" cy="1460485"/>
            <a:chOff x="539552" y="3491716"/>
            <a:chExt cx="7229654" cy="14604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E6AFB6-4ADE-5C9D-BED2-2B89E443A089}"/>
                </a:ext>
              </a:extLst>
            </p:cNvPr>
            <p:cNvSpPr txBox="1"/>
            <p:nvPr/>
          </p:nvSpPr>
          <p:spPr>
            <a:xfrm>
              <a:off x="539552" y="3491716"/>
              <a:ext cx="720080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f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np.array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([[3.1, 4.2, -1.1], [-0.3, 1.3, 13.1]])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B7DDDB1-F414-5FFD-1907-BABC7640D731}"/>
                </a:ext>
              </a:extLst>
            </p:cNvPr>
            <p:cNvGrpSpPr/>
            <p:nvPr/>
          </p:nvGrpSpPr>
          <p:grpSpPr>
            <a:xfrm>
              <a:off x="4139952" y="3861048"/>
              <a:ext cx="3629254" cy="1091153"/>
              <a:chOff x="3637248" y="4271030"/>
              <a:chExt cx="3629254" cy="109115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4618593-6854-0357-AAF3-383AC58D3DD7}"/>
                  </a:ext>
                </a:extLst>
              </p:cNvPr>
              <p:cNvSpPr txBox="1"/>
              <p:nvPr/>
            </p:nvSpPr>
            <p:spPr>
              <a:xfrm>
                <a:off x="4065241" y="4715852"/>
                <a:ext cx="32012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array from a Python</a:t>
                </a:r>
                <a:br>
                  <a:rPr lang="en-US" dirty="0"/>
                </a:br>
                <a:r>
                  <a:rPr lang="en-US" dirty="0"/>
                  <a:t>list of lists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7B0C852-806A-C70D-901E-7ACE7E4CACCF}"/>
                  </a:ext>
                </a:extLst>
              </p:cNvPr>
              <p:cNvCxnSpPr>
                <a:cxnSpLocks/>
                <a:stCxn id="23" idx="1"/>
                <a:endCxn id="14" idx="2"/>
              </p:cNvCxnSpPr>
              <p:nvPr/>
            </p:nvCxnSpPr>
            <p:spPr>
              <a:xfrm flipH="1" flipV="1">
                <a:off x="3637248" y="4271030"/>
                <a:ext cx="427993" cy="7679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7661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arrays III</a:t>
            </a:r>
            <a:endParaRPr lang="nl-BE" dirty="0"/>
          </a:p>
        </p:txBody>
      </p:sp>
      <p:grpSp>
        <p:nvGrpSpPr>
          <p:cNvPr id="19" name="Group 18"/>
          <p:cNvGrpSpPr/>
          <p:nvPr/>
        </p:nvGrpSpPr>
        <p:grpSpPr>
          <a:xfrm>
            <a:off x="2071661" y="1556793"/>
            <a:ext cx="8111676" cy="1294403"/>
            <a:chOff x="547661" y="1556792"/>
            <a:chExt cx="8111676" cy="1294403"/>
          </a:xfrm>
        </p:grpSpPr>
        <p:sp>
          <p:nvSpPr>
            <p:cNvPr id="3" name="TextBox 2"/>
            <p:cNvSpPr txBox="1"/>
            <p:nvPr/>
          </p:nvSpPr>
          <p:spPr>
            <a:xfrm>
              <a:off x="547661" y="1556792"/>
              <a:ext cx="7192691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e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np.arange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(-1.0, 1.0, 0.25)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144007" y="1926124"/>
              <a:ext cx="4515330" cy="925071"/>
              <a:chOff x="3637248" y="4437112"/>
              <a:chExt cx="4515330" cy="925071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4065241" y="4715852"/>
                <a:ext cx="4087337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8-element array, first element -1.0,</a:t>
                </a:r>
              </a:p>
              <a:p>
                <a:r>
                  <a:rPr lang="en-US" dirty="0"/>
                  <a:t>last element less than 1.0, step 0.25  </a:t>
                </a:r>
              </a:p>
            </p:txBody>
          </p:sp>
          <p:cxnSp>
            <p:nvCxnSpPr>
              <p:cNvPr id="5" name="Straight Arrow Connector 4"/>
              <p:cNvCxnSpPr>
                <a:stCxn id="4" idx="1"/>
                <a:endCxn id="3" idx="2"/>
              </p:cNvCxnSpPr>
              <p:nvPr/>
            </p:nvCxnSpPr>
            <p:spPr>
              <a:xfrm flipH="1" flipV="1">
                <a:off x="3637248" y="4437112"/>
                <a:ext cx="427993" cy="601906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oup 19"/>
          <p:cNvGrpSpPr/>
          <p:nvPr/>
        </p:nvGrpSpPr>
        <p:grpSpPr>
          <a:xfrm>
            <a:off x="2063552" y="4027133"/>
            <a:ext cx="8115730" cy="1460485"/>
            <a:chOff x="539552" y="3491716"/>
            <a:chExt cx="8115730" cy="1460485"/>
          </a:xfrm>
        </p:grpSpPr>
        <p:sp>
          <p:nvSpPr>
            <p:cNvPr id="8" name="TextBox 7"/>
            <p:cNvSpPr txBox="1"/>
            <p:nvPr/>
          </p:nvSpPr>
          <p:spPr>
            <a:xfrm>
              <a:off x="539552" y="3491716"/>
              <a:ext cx="720080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f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np.linspace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(-1.0, 1.0, 9)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4139953" y="4027132"/>
              <a:ext cx="4515329" cy="925069"/>
              <a:chOff x="3637249" y="4437114"/>
              <a:chExt cx="4515329" cy="925069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065241" y="4715852"/>
                <a:ext cx="4087337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9-element array, first element -1.0,</a:t>
                </a:r>
              </a:p>
              <a:p>
                <a:r>
                  <a:rPr lang="en-US" dirty="0"/>
                  <a:t>last element 1.0, determine step  </a:t>
                </a:r>
              </a:p>
            </p:txBody>
          </p:sp>
          <p:cxnSp>
            <p:nvCxnSpPr>
              <p:cNvPr id="12" name="Straight Arrow Connector 11"/>
              <p:cNvCxnSpPr>
                <a:stCxn id="11" idx="1"/>
              </p:cNvCxnSpPr>
              <p:nvPr/>
            </p:nvCxnSpPr>
            <p:spPr>
              <a:xfrm flipH="1" flipV="1">
                <a:off x="3637249" y="4437114"/>
                <a:ext cx="427992" cy="601904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TextBox 21"/>
          <p:cNvSpPr txBox="1"/>
          <p:nvPr/>
        </p:nvSpPr>
        <p:spPr>
          <a:xfrm>
            <a:off x="1933078" y="3307050"/>
            <a:ext cx="769131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 -1.  -0.75  -0.5  -0.25  0.  0.25  0.5  0.75 ]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9536" y="5733256"/>
            <a:ext cx="770485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 -1.  -0.75  -0.5  -0.25  0.  0.25  0.5  0.75  1. 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538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D9454-011C-BA61-DF06-8E7742A4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A0853-C3DD-6893-0BFD-0E2A7CE7F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random number generator (RNG)</a:t>
            </a:r>
          </a:p>
          <a:p>
            <a:endParaRPr lang="en-US" dirty="0"/>
          </a:p>
          <a:p>
            <a:r>
              <a:rPr lang="en-US" dirty="0"/>
              <a:t>Reproducibility: seed RNG</a:t>
            </a:r>
          </a:p>
          <a:p>
            <a:endParaRPr lang="en-US" dirty="0"/>
          </a:p>
          <a:p>
            <a:r>
              <a:rPr lang="en-US" dirty="0"/>
              <a:t>Create arrays</a:t>
            </a:r>
            <a:endParaRPr lang="LID4096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E0CA0A-BA1C-2135-7CF4-13D703974884}"/>
              </a:ext>
            </a:extLst>
          </p:cNvPr>
          <p:cNvGrpSpPr/>
          <p:nvPr/>
        </p:nvGrpSpPr>
        <p:grpSpPr>
          <a:xfrm>
            <a:off x="1745089" y="3347059"/>
            <a:ext cx="9923439" cy="1400898"/>
            <a:chOff x="1745090" y="2812228"/>
            <a:chExt cx="9923439" cy="1400898"/>
          </a:xfrm>
        </p:grpSpPr>
        <p:sp>
          <p:nvSpPr>
            <p:cNvPr id="4" name="TextBox 3"/>
            <p:cNvSpPr txBox="1"/>
            <p:nvPr/>
          </p:nvSpPr>
          <p:spPr>
            <a:xfrm>
              <a:off x="1745090" y="3843794"/>
              <a:ext cx="6111287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e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rng.uniform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(-1.0, 1.0, (2, 3))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800734" y="2812228"/>
              <a:ext cx="6867795" cy="1031566"/>
              <a:chOff x="2769975" y="3150202"/>
              <a:chExt cx="6867795" cy="103156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6113920" y="3150202"/>
                <a:ext cx="35238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2 × 3 array, elements </a:t>
                </a:r>
                <a:r>
                  <a:rPr lang="en-US" i="1" dirty="0"/>
                  <a:t>x</a:t>
                </a:r>
                <a:br>
                  <a:rPr lang="en-US" dirty="0"/>
                </a:br>
                <a:r>
                  <a:rPr lang="en-US" dirty="0"/>
                  <a:t>randomly drawn from  uniform</a:t>
                </a:r>
                <a:br>
                  <a:rPr lang="en-US" dirty="0"/>
                </a:br>
                <a:r>
                  <a:rPr lang="en-US" dirty="0"/>
                  <a:t>distribution such that </a:t>
                </a:r>
                <a:r>
                  <a:rPr lang="en-US" i="1" dirty="0"/>
                  <a:t>x</a:t>
                </a:r>
                <a:r>
                  <a:rPr lang="en-US" dirty="0"/>
                  <a:t> </a:t>
                </a:r>
                <a:r>
                  <a:rPr lang="en-US" dirty="0">
                    <a:sym typeface="Symbol"/>
                  </a:rPr>
                  <a:t></a:t>
                </a:r>
                <a:r>
                  <a:rPr lang="en-US" dirty="0"/>
                  <a:t> [-1.0, 1.0[</a:t>
                </a:r>
              </a:p>
            </p:txBody>
          </p:sp>
          <p:cxnSp>
            <p:nvCxnSpPr>
              <p:cNvPr id="7" name="Straight Arrow Connector 6"/>
              <p:cNvCxnSpPr>
                <a:cxnSpLocks/>
                <a:stCxn id="5" idx="1"/>
                <a:endCxn id="4" idx="0"/>
              </p:cNvCxnSpPr>
              <p:nvPr/>
            </p:nvCxnSpPr>
            <p:spPr>
              <a:xfrm flipH="1">
                <a:off x="2769975" y="3611867"/>
                <a:ext cx="3343945" cy="5699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2FA142D-2A44-E8DC-ABEE-B186D6A48F09}"/>
              </a:ext>
            </a:extLst>
          </p:cNvPr>
          <p:cNvSpPr txBox="1"/>
          <p:nvPr/>
        </p:nvSpPr>
        <p:spPr>
          <a:xfrm>
            <a:off x="1745089" y="2321708"/>
            <a:ext cx="611128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np.random.default_rng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880447-0CD9-28A8-7D51-E23DDB90253D}"/>
              </a:ext>
            </a:extLst>
          </p:cNvPr>
          <p:cNvSpPr txBox="1"/>
          <p:nvPr/>
        </p:nvSpPr>
        <p:spPr>
          <a:xfrm>
            <a:off x="1745089" y="3317457"/>
            <a:ext cx="611128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np.random.default_rng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(seed=1234)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4BFC3D-0F4F-7B6D-8523-3C6D4CE8590A}"/>
              </a:ext>
            </a:extLst>
          </p:cNvPr>
          <p:cNvGrpSpPr/>
          <p:nvPr/>
        </p:nvGrpSpPr>
        <p:grpSpPr>
          <a:xfrm>
            <a:off x="1745089" y="4563291"/>
            <a:ext cx="9608711" cy="1254242"/>
            <a:chOff x="1745090" y="2958884"/>
            <a:chExt cx="9608711" cy="125424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C47E28-C768-8BA6-0FAB-6E550070405E}"/>
                </a:ext>
              </a:extLst>
            </p:cNvPr>
            <p:cNvSpPr txBox="1"/>
            <p:nvPr/>
          </p:nvSpPr>
          <p:spPr>
            <a:xfrm>
              <a:off x="1745090" y="3843794"/>
              <a:ext cx="6111287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e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rng.normal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(loc=1.0, scale=0.1, (5, 4))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A609370-B3C8-A298-7B4D-EA408816DD88}"/>
                </a:ext>
              </a:extLst>
            </p:cNvPr>
            <p:cNvGrpSpPr/>
            <p:nvPr/>
          </p:nvGrpSpPr>
          <p:grpSpPr>
            <a:xfrm>
              <a:off x="4800734" y="2958884"/>
              <a:ext cx="6553067" cy="1200329"/>
              <a:chOff x="2769975" y="3296858"/>
              <a:chExt cx="6553067" cy="120032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E5220E-5AFC-5838-4084-D98C06ABFD4E}"/>
                  </a:ext>
                </a:extLst>
              </p:cNvPr>
              <p:cNvSpPr txBox="1"/>
              <p:nvPr/>
            </p:nvSpPr>
            <p:spPr>
              <a:xfrm>
                <a:off x="6242712" y="3296858"/>
                <a:ext cx="308033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create 5 × 4 array, elements </a:t>
                </a:r>
                <a:r>
                  <a:rPr lang="en-US" i="1" dirty="0"/>
                  <a:t>x</a:t>
                </a:r>
                <a:br>
                  <a:rPr lang="en-US" dirty="0"/>
                </a:br>
                <a:r>
                  <a:rPr lang="en-US" dirty="0"/>
                  <a:t>randomly drawn from  normal</a:t>
                </a:r>
                <a:br>
                  <a:rPr lang="en-US" dirty="0"/>
                </a:br>
                <a:r>
                  <a:rPr lang="en-US" dirty="0"/>
                  <a:t>distribution with mean 1.0 and</a:t>
                </a:r>
                <a:br>
                  <a:rPr lang="en-US" dirty="0"/>
                </a:br>
                <a:r>
                  <a:rPr lang="en-US" dirty="0"/>
                  <a:t>standard deviation 0.1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D00016C-8A10-64CF-6225-E2EA64184EA0}"/>
                  </a:ext>
                </a:extLst>
              </p:cNvPr>
              <p:cNvCxnSpPr>
                <a:cxnSpLocks/>
                <a:stCxn id="21" idx="1"/>
                <a:endCxn id="18" idx="0"/>
              </p:cNvCxnSpPr>
              <p:nvPr/>
            </p:nvCxnSpPr>
            <p:spPr>
              <a:xfrm flipH="1">
                <a:off x="2769975" y="3897023"/>
                <a:ext cx="3472737" cy="2847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1125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data types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3031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dirty="0"/>
              <a:t>Integers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np.int8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np.int16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np.int32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np.int64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np.uint</a:t>
            </a:r>
            <a:r>
              <a:rPr lang="en-US" i="1" dirty="0"/>
              <a:t>&lt;n&gt;</a:t>
            </a:r>
            <a:r>
              <a:rPr lang="en-US" dirty="0"/>
              <a:t> for unsigned integers</a:t>
            </a:r>
          </a:p>
          <a:p>
            <a:r>
              <a:rPr lang="en-US" dirty="0"/>
              <a:t>Floating point numbers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np.float16, np.float32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np.float64</a:t>
            </a:r>
            <a:r>
              <a:rPr lang="en-US" dirty="0">
                <a:latin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np.float128</a:t>
            </a:r>
            <a:endParaRPr lang="en-US" dirty="0"/>
          </a:p>
          <a:p>
            <a:r>
              <a:rPr lang="en-US" dirty="0"/>
              <a:t>Complex numbers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np.complex64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np.complex128</a:t>
            </a:r>
            <a:r>
              <a:rPr lang="en-US" dirty="0">
                <a:latin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np.complex256</a:t>
            </a:r>
            <a:endParaRPr lang="en-US" dirty="0"/>
          </a:p>
          <a:p>
            <a:r>
              <a:rPr lang="en-US" dirty="0"/>
              <a:t>Boolean values: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</a:p>
          <a:p>
            <a:r>
              <a:rPr lang="en-US" dirty="0"/>
              <a:t>Characters/strings: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np.character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pPr lvl="2"/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7446220" y="5549936"/>
            <a:ext cx="437170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v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np.zeros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(3,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dtype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=np.int8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14</a:t>
            </a:fld>
            <a:endParaRPr lang="nl-B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7E8568-F819-8670-89EE-62BC9DECFF85}"/>
              </a:ext>
            </a:extLst>
          </p:cNvPr>
          <p:cNvGrpSpPr/>
          <p:nvPr/>
        </p:nvGrpSpPr>
        <p:grpSpPr>
          <a:xfrm>
            <a:off x="251333" y="3961547"/>
            <a:ext cx="2286000" cy="1142298"/>
            <a:chOff x="0" y="3961547"/>
            <a:chExt cx="2286000" cy="11422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CC1E90-816F-1B42-4266-531CB54DD481}"/>
                </a:ext>
              </a:extLst>
            </p:cNvPr>
            <p:cNvSpPr txBox="1"/>
            <p:nvPr/>
          </p:nvSpPr>
          <p:spPr>
            <a:xfrm>
              <a:off x="0" y="3961547"/>
              <a:ext cx="2041136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Not quad-precision,</a:t>
              </a:r>
              <a:br>
                <a:rPr lang="en-US" dirty="0"/>
              </a:br>
              <a:r>
                <a:rPr lang="en-US" dirty="0"/>
                <a:t>not portable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33DA0B7-4AED-C8CB-F11A-F3DB5F8F6DB2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2041136" y="4086808"/>
              <a:ext cx="244864" cy="197905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7C9AB5A-22B3-0704-562A-A8C6459282C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2041136" y="4284713"/>
              <a:ext cx="244864" cy="819132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9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 elements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88841"/>
            <a:ext cx="8229600" cy="3921299"/>
          </a:xfrm>
        </p:spPr>
        <p:txBody>
          <a:bodyPr>
            <a:normAutofit/>
          </a:bodyPr>
          <a:lstStyle/>
          <a:p>
            <a:r>
              <a:rPr lang="en-US" dirty="0"/>
              <a:t>Array dimensions, strides</a:t>
            </a:r>
          </a:p>
          <a:p>
            <a:endParaRPr lang="en-US" dirty="0"/>
          </a:p>
          <a:p>
            <a:r>
              <a:rPr lang="en-US" dirty="0"/>
              <a:t>Assigning to a specific element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an element's value</a:t>
            </a:r>
            <a:endParaRPr lang="nl-BE" dirty="0"/>
          </a:p>
        </p:txBody>
      </p:sp>
      <p:grpSp>
        <p:nvGrpSpPr>
          <p:cNvPr id="13" name="Group 12"/>
          <p:cNvGrpSpPr/>
          <p:nvPr/>
        </p:nvGrpSpPr>
        <p:grpSpPr>
          <a:xfrm>
            <a:off x="2245346" y="3498093"/>
            <a:ext cx="5232741" cy="554254"/>
            <a:chOff x="721345" y="3789040"/>
            <a:chExt cx="5232741" cy="554254"/>
          </a:xfrm>
          <a:solidFill>
            <a:schemeClr val="bg1">
              <a:lumMod val="85000"/>
            </a:schemeClr>
          </a:solidFill>
        </p:grpSpPr>
        <p:sp>
          <p:nvSpPr>
            <p:cNvPr id="4" name="TextBox 3"/>
            <p:cNvSpPr txBox="1"/>
            <p:nvPr/>
          </p:nvSpPr>
          <p:spPr>
            <a:xfrm>
              <a:off x="721345" y="3789040"/>
              <a:ext cx="3202583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a[1, 0] = 5.0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4114800" y="3789040"/>
              <a:ext cx="1839286" cy="554254"/>
              <a:chOff x="4114800" y="3789040"/>
              <a:chExt cx="1839286" cy="554254"/>
            </a:xfrm>
            <a:grpFill/>
          </p:grpSpPr>
          <p:sp>
            <p:nvSpPr>
              <p:cNvPr id="7" name="Rectangle 6"/>
              <p:cNvSpPr/>
              <p:nvPr/>
            </p:nvSpPr>
            <p:spPr>
              <a:xfrm>
                <a:off x="4262456" y="4056804"/>
                <a:ext cx="485212" cy="2771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dirty="0">
                    <a:solidFill>
                      <a:srgbClr val="C00000"/>
                    </a:solidFill>
                  </a:rPr>
                  <a:t>5.0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4114800" y="3789040"/>
                    <a:ext cx="1839286" cy="55425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.0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0.0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0.0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5.0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0.0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0.0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nl-BE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3789040"/>
                    <a:ext cx="1839286" cy="554254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nl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8" name="TextBox 7"/>
          <p:cNvSpPr txBox="1"/>
          <p:nvPr/>
        </p:nvSpPr>
        <p:spPr>
          <a:xfrm>
            <a:off x="2245346" y="4555975"/>
            <a:ext cx="320258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q = a[1, 0] + a[1,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041" y="4869160"/>
            <a:ext cx="3596497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Implicit conversion of</a:t>
            </a:r>
            <a:br>
              <a:rPr lang="en-US" sz="2800" dirty="0"/>
            </a:br>
            <a:r>
              <a:rPr lang="en-US" sz="2800" dirty="0"/>
              <a:t>tuple for indexing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0-based indexing</a:t>
            </a:r>
            <a:endParaRPr lang="nl-BE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2279577" y="1556792"/>
            <a:ext cx="291455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np.zeros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((2, 3))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9577" y="2487281"/>
            <a:ext cx="291455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a.shape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== (2, 3)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15</a:t>
            </a:fld>
            <a:endParaRPr lang="nl-BE"/>
          </a:p>
        </p:txBody>
      </p:sp>
      <p:sp>
        <p:nvSpPr>
          <p:cNvPr id="15" name="TextBox 14"/>
          <p:cNvSpPr txBox="1"/>
          <p:nvPr/>
        </p:nvSpPr>
        <p:spPr>
          <a:xfrm>
            <a:off x="6344406" y="2483445"/>
            <a:ext cx="299195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a.strides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== (24, 8)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8754736" y="2846794"/>
            <a:ext cx="1346972" cy="934296"/>
            <a:chOff x="7230736" y="2996425"/>
            <a:chExt cx="1346972" cy="934296"/>
          </a:xfrm>
        </p:grpSpPr>
        <p:sp>
          <p:nvSpPr>
            <p:cNvPr id="16" name="TextBox 15"/>
            <p:cNvSpPr txBox="1"/>
            <p:nvPr/>
          </p:nvSpPr>
          <p:spPr>
            <a:xfrm>
              <a:off x="7230736" y="3284390"/>
              <a:ext cx="13469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nr</a:t>
              </a:r>
              <a:r>
                <a:rPr lang="en-US" dirty="0"/>
                <a:t>. bytes to</a:t>
              </a:r>
              <a:br>
                <a:rPr lang="en-US" dirty="0"/>
              </a:br>
              <a:r>
                <a:rPr lang="en-US" dirty="0"/>
                <a:t>next column</a:t>
              </a:r>
            </a:p>
          </p:txBody>
        </p:sp>
        <p:cxnSp>
          <p:nvCxnSpPr>
            <p:cNvPr id="18" name="Straight Arrow Connector 17"/>
            <p:cNvCxnSpPr>
              <a:stCxn id="16" idx="0"/>
            </p:cNvCxnSpPr>
            <p:nvPr/>
          </p:nvCxnSpPr>
          <p:spPr>
            <a:xfrm flipH="1" flipV="1">
              <a:off x="7524328" y="2996425"/>
              <a:ext cx="379894" cy="28796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38624" y="1551513"/>
            <a:ext cx="1260281" cy="935768"/>
            <a:chOff x="5714623" y="1701144"/>
            <a:chExt cx="1260281" cy="935768"/>
          </a:xfrm>
        </p:grpSpPr>
        <p:sp>
          <p:nvSpPr>
            <p:cNvPr id="5" name="TextBox 4"/>
            <p:cNvSpPr txBox="1"/>
            <p:nvPr/>
          </p:nvSpPr>
          <p:spPr>
            <a:xfrm>
              <a:off x="5714623" y="1701144"/>
              <a:ext cx="12602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nr</a:t>
              </a:r>
              <a:r>
                <a:rPr lang="en-US" dirty="0"/>
                <a:t>. bytes to</a:t>
              </a:r>
              <a:br>
                <a:rPr lang="en-US" dirty="0"/>
              </a:br>
              <a:r>
                <a:rPr lang="en-US" dirty="0"/>
                <a:t>next row</a:t>
              </a:r>
            </a:p>
          </p:txBody>
        </p:sp>
        <p:cxnSp>
          <p:nvCxnSpPr>
            <p:cNvPr id="20" name="Straight Arrow Connector 19"/>
            <p:cNvCxnSpPr>
              <a:stCxn id="5" idx="2"/>
            </p:cNvCxnSpPr>
            <p:nvPr/>
          </p:nvCxnSpPr>
          <p:spPr>
            <a:xfrm>
              <a:off x="6344764" y="2347475"/>
              <a:ext cx="459484" cy="28943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394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5C9E-934B-FA15-A42E-CCE09DB8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  <a:endParaRPr lang="LID4096" dirty="0"/>
          </a:p>
        </p:txBody>
      </p:sp>
      <p:pic>
        <p:nvPicPr>
          <p:cNvPr id="5" name="Content Placeholder 4" descr="A diagram of folded clothes&#10;&#10;AI-generated content may be incorrect.">
            <a:extLst>
              <a:ext uri="{FF2B5EF4-FFF2-40B4-BE49-F238E27FC236}">
                <a16:creationId xmlns:a16="http://schemas.microsoft.com/office/drawing/2014/main" id="{EE596465-0D37-1FD8-CA72-2C6B9EAED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8565"/>
            <a:ext cx="3288511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AEF60-2E3A-18C0-CADE-DF1A72E980C6}"/>
                  </a:ext>
                </a:extLst>
              </p:cNvPr>
              <p:cNvSpPr txBox="1"/>
              <p:nvPr/>
            </p:nvSpPr>
            <p:spPr>
              <a:xfrm>
                <a:off x="6913283" y="1199433"/>
                <a:ext cx="1792542" cy="733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`</a:t>
                </a:r>
                <a:endParaRPr lang="LID4096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0AEF60-2E3A-18C0-CADE-DF1A72E98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283" y="1199433"/>
                <a:ext cx="1792542" cy="733342"/>
              </a:xfrm>
              <a:prstGeom prst="rect">
                <a:avLst/>
              </a:prstGeom>
              <a:blipFill>
                <a:blip r:embed="rId3"/>
                <a:stretch>
                  <a:fillRect r="-816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4B8BB4C-F53E-9CBE-6C43-0EB553ABD61A}"/>
              </a:ext>
            </a:extLst>
          </p:cNvPr>
          <p:cNvGrpSpPr/>
          <p:nvPr/>
        </p:nvGrpSpPr>
        <p:grpSpPr>
          <a:xfrm>
            <a:off x="4996788" y="2693709"/>
            <a:ext cx="5818189" cy="276999"/>
            <a:chOff x="5637068" y="2667020"/>
            <a:chExt cx="5818189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0E050D-D941-B46D-BAD2-B6147661414F}"/>
                    </a:ext>
                  </a:extLst>
                </p:cNvPr>
                <p:cNvSpPr txBox="1"/>
                <p:nvPr/>
              </p:nvSpPr>
              <p:spPr>
                <a:xfrm>
                  <a:off x="5637068" y="2667020"/>
                  <a:ext cx="3809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0E050D-D941-B46D-BAD2-B61476614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7068" y="2667020"/>
                  <a:ext cx="38093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677" r="-4839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8C9FA3-5240-44F4-DD05-65740DB5E44E}"/>
                    </a:ext>
                  </a:extLst>
                </p:cNvPr>
                <p:cNvSpPr txBox="1"/>
                <p:nvPr/>
              </p:nvSpPr>
              <p:spPr>
                <a:xfrm>
                  <a:off x="6755823" y="2667020"/>
                  <a:ext cx="3950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8C9FA3-5240-44F4-DD05-65740DB5E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823" y="2667020"/>
                  <a:ext cx="39504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7692" r="-4615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0EAFA97-FA2C-B851-5BAD-DE7B909E8626}"/>
                    </a:ext>
                  </a:extLst>
                </p:cNvPr>
                <p:cNvSpPr txBox="1"/>
                <p:nvPr/>
              </p:nvSpPr>
              <p:spPr>
                <a:xfrm>
                  <a:off x="7292690" y="2667020"/>
                  <a:ext cx="3862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0EAFA97-FA2C-B851-5BAD-DE7B909E8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690" y="2667020"/>
                  <a:ext cx="38626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813" r="-4688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29A603E-A174-5626-E0BE-D65716FAEFCB}"/>
                    </a:ext>
                  </a:extLst>
                </p:cNvPr>
                <p:cNvSpPr txBox="1"/>
                <p:nvPr/>
              </p:nvSpPr>
              <p:spPr>
                <a:xfrm>
                  <a:off x="8342916" y="2667020"/>
                  <a:ext cx="4003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29A603E-A174-5626-E0BE-D65716FAE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2916" y="2667020"/>
                  <a:ext cx="40036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7692" r="-6154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6B9BD4-27C3-A183-FEF7-8BE4D0E60F31}"/>
                    </a:ext>
                  </a:extLst>
                </p:cNvPr>
                <p:cNvSpPr txBox="1"/>
                <p:nvPr/>
              </p:nvSpPr>
              <p:spPr>
                <a:xfrm>
                  <a:off x="9876824" y="2667020"/>
                  <a:ext cx="4455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6B9BD4-27C3-A183-FEF7-8BE4D0E60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824" y="2667020"/>
                  <a:ext cx="44557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6849" r="-4110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85C426-3804-0F3D-D860-32F36414535C}"/>
                    </a:ext>
                  </a:extLst>
                </p:cNvPr>
                <p:cNvSpPr txBox="1"/>
                <p:nvPr/>
              </p:nvSpPr>
              <p:spPr>
                <a:xfrm>
                  <a:off x="10995579" y="2667020"/>
                  <a:ext cx="4596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85C426-3804-0F3D-D860-32F364145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79" y="2667020"/>
                  <a:ext cx="459678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6667" r="-1333" b="-11111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B226FE-0B1F-B51E-94F4-0C9103DD24CD}"/>
                    </a:ext>
                  </a:extLst>
                </p:cNvPr>
                <p:cNvSpPr txBox="1"/>
                <p:nvPr/>
              </p:nvSpPr>
              <p:spPr>
                <a:xfrm>
                  <a:off x="6273903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B226FE-0B1F-B51E-94F4-0C9103DD2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3903" y="2667020"/>
                  <a:ext cx="22602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CF936D-4909-CF06-B273-910E1AFF8A4D}"/>
                    </a:ext>
                  </a:extLst>
                </p:cNvPr>
                <p:cNvSpPr txBox="1"/>
                <p:nvPr/>
              </p:nvSpPr>
              <p:spPr>
                <a:xfrm>
                  <a:off x="7897921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5CF936D-4909-CF06-B273-910E1AFF8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921" y="2667020"/>
                  <a:ext cx="22602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F487B3-8993-F0EC-0B09-FAD052E29D2F}"/>
                    </a:ext>
                  </a:extLst>
                </p:cNvPr>
                <p:cNvSpPr txBox="1"/>
                <p:nvPr/>
              </p:nvSpPr>
              <p:spPr>
                <a:xfrm>
                  <a:off x="10545976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F487B3-8993-F0EC-0B09-FAD052E29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976" y="2667020"/>
                  <a:ext cx="22602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3D3ED37-A620-BD0A-AA48-3D9D6622ECCB}"/>
                    </a:ext>
                  </a:extLst>
                </p:cNvPr>
                <p:cNvSpPr txBox="1"/>
                <p:nvPr/>
              </p:nvSpPr>
              <p:spPr>
                <a:xfrm>
                  <a:off x="9193393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3D3ED37-A620-BD0A-AA48-3D9D6622E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393" y="2667020"/>
                  <a:ext cx="22602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12D225-B475-3D44-ADBC-475603676773}"/>
              </a:ext>
            </a:extLst>
          </p:cNvPr>
          <p:cNvGrpSpPr/>
          <p:nvPr/>
        </p:nvGrpSpPr>
        <p:grpSpPr>
          <a:xfrm>
            <a:off x="4996788" y="3016251"/>
            <a:ext cx="1513800" cy="646334"/>
            <a:chOff x="5637068" y="2989562"/>
            <a:chExt cx="1513800" cy="646334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95304727-59A8-69E9-C11F-5D75937CE0B4}"/>
                </a:ext>
              </a:extLst>
            </p:cNvPr>
            <p:cNvSpPr/>
            <p:nvPr/>
          </p:nvSpPr>
          <p:spPr>
            <a:xfrm rot="5400000">
              <a:off x="6255467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6E50D7-8F30-DDC1-13A2-8C6DAC66B70D}"/>
                </a:ext>
              </a:extLst>
            </p:cNvPr>
            <p:cNvSpPr txBox="1"/>
            <p:nvPr/>
          </p:nvSpPr>
          <p:spPr>
            <a:xfrm>
              <a:off x="6038788" y="3266564"/>
              <a:ext cx="717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  <a:endParaRPr lang="LID4096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FC95A7-A942-D2D6-F8C8-917C2E9D3634}"/>
              </a:ext>
            </a:extLst>
          </p:cNvPr>
          <p:cNvGrpSpPr/>
          <p:nvPr/>
        </p:nvGrpSpPr>
        <p:grpSpPr>
          <a:xfrm>
            <a:off x="6613752" y="3016251"/>
            <a:ext cx="1513800" cy="646334"/>
            <a:chOff x="7254032" y="2989562"/>
            <a:chExt cx="1513800" cy="646334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C0687C83-55A7-DA52-DD6E-5C0B7D4E8AFC}"/>
                </a:ext>
              </a:extLst>
            </p:cNvPr>
            <p:cNvSpPr/>
            <p:nvPr/>
          </p:nvSpPr>
          <p:spPr>
            <a:xfrm rot="5400000">
              <a:off x="7872431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17656A-D511-2D7E-A37D-5CF9B7575668}"/>
                </a:ext>
              </a:extLst>
            </p:cNvPr>
            <p:cNvSpPr txBox="1"/>
            <p:nvPr/>
          </p:nvSpPr>
          <p:spPr>
            <a:xfrm>
              <a:off x="7670291" y="3266564"/>
              <a:ext cx="717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  <a:endParaRPr lang="LID4096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C1C6BB-950E-5F8C-E042-3A1168AE06A3}"/>
              </a:ext>
            </a:extLst>
          </p:cNvPr>
          <p:cNvGrpSpPr/>
          <p:nvPr/>
        </p:nvGrpSpPr>
        <p:grpSpPr>
          <a:xfrm>
            <a:off x="9261807" y="3016251"/>
            <a:ext cx="1513800" cy="646334"/>
            <a:chOff x="9902087" y="2989562"/>
            <a:chExt cx="1513800" cy="646334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E18C1673-9135-1767-235B-D9F0CDD2EC72}"/>
                </a:ext>
              </a:extLst>
            </p:cNvPr>
            <p:cNvSpPr/>
            <p:nvPr/>
          </p:nvSpPr>
          <p:spPr>
            <a:xfrm rot="5400000">
              <a:off x="10520486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5CFA9B-60FC-B130-198A-C033A52DC697}"/>
                </a:ext>
              </a:extLst>
            </p:cNvPr>
            <p:cNvSpPr txBox="1"/>
            <p:nvPr/>
          </p:nvSpPr>
          <p:spPr>
            <a:xfrm>
              <a:off x="10324278" y="3266564"/>
              <a:ext cx="7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</a:t>
              </a:r>
              <a:r>
                <a:rPr lang="en-US" i="1" dirty="0"/>
                <a:t>m</a:t>
              </a:r>
              <a:endParaRPr lang="LID4096" i="1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7C6FF0-D8A2-C75F-16EE-88EC3299E226}"/>
              </a:ext>
            </a:extLst>
          </p:cNvPr>
          <p:cNvGrpSpPr/>
          <p:nvPr/>
        </p:nvGrpSpPr>
        <p:grpSpPr>
          <a:xfrm>
            <a:off x="4876723" y="4570998"/>
            <a:ext cx="5818189" cy="276999"/>
            <a:chOff x="5637068" y="2667020"/>
            <a:chExt cx="5818189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B1C89F-EF40-D63A-89A4-4EC2A6EDB104}"/>
                    </a:ext>
                  </a:extLst>
                </p:cNvPr>
                <p:cNvSpPr txBox="1"/>
                <p:nvPr/>
              </p:nvSpPr>
              <p:spPr>
                <a:xfrm>
                  <a:off x="5637068" y="2667020"/>
                  <a:ext cx="3809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B1C89F-EF40-D63A-89A4-4EC2A6EDB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7068" y="2667020"/>
                  <a:ext cx="38093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9677" r="-4839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15C20B0-44BA-E08C-CED4-ACC3ADC25FA8}"/>
                    </a:ext>
                  </a:extLst>
                </p:cNvPr>
                <p:cNvSpPr txBox="1"/>
                <p:nvPr/>
              </p:nvSpPr>
              <p:spPr>
                <a:xfrm>
                  <a:off x="6755823" y="2667020"/>
                  <a:ext cx="4455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15C20B0-44BA-E08C-CED4-ACC3ADC25F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5823" y="2667020"/>
                  <a:ext cx="44557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6849" r="-4110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DFD1C16-E1FD-0621-8812-B0EF8096BC3A}"/>
                    </a:ext>
                  </a:extLst>
                </p:cNvPr>
                <p:cNvSpPr txBox="1"/>
                <p:nvPr/>
              </p:nvSpPr>
              <p:spPr>
                <a:xfrm>
                  <a:off x="7292690" y="2667020"/>
                  <a:ext cx="3809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DFD1C16-E1FD-0621-8812-B0EF8096B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690" y="2667020"/>
                  <a:ext cx="38093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9677" r="-4839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12DD9A0-DC89-AD14-B9A2-198FBEA96ABE}"/>
                    </a:ext>
                  </a:extLst>
                </p:cNvPr>
                <p:cNvSpPr txBox="1"/>
                <p:nvPr/>
              </p:nvSpPr>
              <p:spPr>
                <a:xfrm>
                  <a:off x="8342916" y="2667020"/>
                  <a:ext cx="4455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12DD9A0-DC89-AD14-B9A2-198FBEA9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2916" y="2667020"/>
                  <a:ext cx="44557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6849" r="-4110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9B8ABC4-E717-24D4-112B-CC4734D0991F}"/>
                    </a:ext>
                  </a:extLst>
                </p:cNvPr>
                <p:cNvSpPr txBox="1"/>
                <p:nvPr/>
              </p:nvSpPr>
              <p:spPr>
                <a:xfrm>
                  <a:off x="9876824" y="2667020"/>
                  <a:ext cx="3950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9B8ABC4-E717-24D4-112B-CC4734D09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824" y="2667020"/>
                  <a:ext cx="395045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7692" r="-4615" b="-15556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358D5DA-5021-05FB-4A4E-35F21A4A0807}"/>
                    </a:ext>
                  </a:extLst>
                </p:cNvPr>
                <p:cNvSpPr txBox="1"/>
                <p:nvPr/>
              </p:nvSpPr>
              <p:spPr>
                <a:xfrm>
                  <a:off x="10995579" y="2667020"/>
                  <a:ext cx="4596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358D5DA-5021-05FB-4A4E-35F21A4A08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5579" y="2667020"/>
                  <a:ext cx="459678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6667" r="-1333" b="-11111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55B86F4-A76B-53CA-07FB-2D89087A3E19}"/>
                    </a:ext>
                  </a:extLst>
                </p:cNvPr>
                <p:cNvSpPr txBox="1"/>
                <p:nvPr/>
              </p:nvSpPr>
              <p:spPr>
                <a:xfrm>
                  <a:off x="6273903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55B86F4-A76B-53CA-07FB-2D89087A3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3903" y="2667020"/>
                  <a:ext cx="22602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DBDD7E4-648C-914D-48A2-35A7756D9504}"/>
                    </a:ext>
                  </a:extLst>
                </p:cNvPr>
                <p:cNvSpPr txBox="1"/>
                <p:nvPr/>
              </p:nvSpPr>
              <p:spPr>
                <a:xfrm>
                  <a:off x="7897921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DBDD7E4-648C-914D-48A2-35A7756D9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7921" y="2667020"/>
                  <a:ext cx="22602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484B0CD-250F-D0A7-2FF3-D30C0A447F9D}"/>
                    </a:ext>
                  </a:extLst>
                </p:cNvPr>
                <p:cNvSpPr txBox="1"/>
                <p:nvPr/>
              </p:nvSpPr>
              <p:spPr>
                <a:xfrm>
                  <a:off x="10545976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484B0CD-250F-D0A7-2FF3-D30C0A447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976" y="2667020"/>
                  <a:ext cx="226023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7C10CD1-07D3-E79C-6852-8AA23AA73B1D}"/>
                    </a:ext>
                  </a:extLst>
                </p:cNvPr>
                <p:cNvSpPr txBox="1"/>
                <p:nvPr/>
              </p:nvSpPr>
              <p:spPr>
                <a:xfrm>
                  <a:off x="9193393" y="2667020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7C10CD1-07D3-E79C-6852-8AA23AA73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393" y="2667020"/>
                  <a:ext cx="226023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EB38DF-ED01-58D5-CC6E-912C0386E13F}"/>
              </a:ext>
            </a:extLst>
          </p:cNvPr>
          <p:cNvGrpSpPr/>
          <p:nvPr/>
        </p:nvGrpSpPr>
        <p:grpSpPr>
          <a:xfrm>
            <a:off x="4876723" y="4893540"/>
            <a:ext cx="1513800" cy="646334"/>
            <a:chOff x="5637068" y="2989562"/>
            <a:chExt cx="1513800" cy="646334"/>
          </a:xfrm>
        </p:grpSpPr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7913803E-5224-4174-423A-97F86829707F}"/>
                </a:ext>
              </a:extLst>
            </p:cNvPr>
            <p:cNvSpPr/>
            <p:nvPr/>
          </p:nvSpPr>
          <p:spPr>
            <a:xfrm rot="5400000">
              <a:off x="6255467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B72782D-B567-C4AE-8B62-E95094447E9C}"/>
                </a:ext>
              </a:extLst>
            </p:cNvPr>
            <p:cNvSpPr txBox="1"/>
            <p:nvPr/>
          </p:nvSpPr>
          <p:spPr>
            <a:xfrm>
              <a:off x="5810186" y="3266564"/>
              <a:ext cx="1053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column 1</a:t>
              </a:r>
              <a:endParaRPr lang="LID4096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7155F48-4727-80A3-5D8D-F57C005C213B}"/>
              </a:ext>
            </a:extLst>
          </p:cNvPr>
          <p:cNvGrpSpPr/>
          <p:nvPr/>
        </p:nvGrpSpPr>
        <p:grpSpPr>
          <a:xfrm>
            <a:off x="6493687" y="4893540"/>
            <a:ext cx="1513800" cy="646334"/>
            <a:chOff x="7254032" y="2989562"/>
            <a:chExt cx="1513800" cy="646334"/>
          </a:xfrm>
        </p:grpSpPr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D8C5E83E-1EC9-D6E9-20D8-EDD83A616BBB}"/>
                </a:ext>
              </a:extLst>
            </p:cNvPr>
            <p:cNvSpPr/>
            <p:nvPr/>
          </p:nvSpPr>
          <p:spPr>
            <a:xfrm rot="5400000">
              <a:off x="7872431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0ED9C9D-D02C-0AFF-CF8C-0A81A4A17B4C}"/>
                </a:ext>
              </a:extLst>
            </p:cNvPr>
            <p:cNvSpPr txBox="1"/>
            <p:nvPr/>
          </p:nvSpPr>
          <p:spPr>
            <a:xfrm>
              <a:off x="7493644" y="3266564"/>
              <a:ext cx="10531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column 2</a:t>
              </a:r>
              <a:endParaRPr lang="LID4096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57DA74-C7B6-E2CB-5ADB-5EADE1BB88DE}"/>
              </a:ext>
            </a:extLst>
          </p:cNvPr>
          <p:cNvGrpSpPr/>
          <p:nvPr/>
        </p:nvGrpSpPr>
        <p:grpSpPr>
          <a:xfrm>
            <a:off x="9141742" y="4893540"/>
            <a:ext cx="1513800" cy="646334"/>
            <a:chOff x="9902087" y="2989562"/>
            <a:chExt cx="1513800" cy="646334"/>
          </a:xfrm>
        </p:grpSpPr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8D66C0FF-0B9C-B38A-45BF-9865E768DE7D}"/>
                </a:ext>
              </a:extLst>
            </p:cNvPr>
            <p:cNvSpPr/>
            <p:nvPr/>
          </p:nvSpPr>
          <p:spPr>
            <a:xfrm rot="5400000">
              <a:off x="10520486" y="2371163"/>
              <a:ext cx="277001" cy="15138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D9E4E3-B092-2A37-2A6E-CDA4F96F529E}"/>
                </a:ext>
              </a:extLst>
            </p:cNvPr>
            <p:cNvSpPr txBox="1"/>
            <p:nvPr/>
          </p:nvSpPr>
          <p:spPr>
            <a:xfrm>
              <a:off x="10137240" y="3266564"/>
              <a:ext cx="1054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column </a:t>
              </a:r>
              <a:r>
                <a:rPr lang="en-US" i="1" dirty="0"/>
                <a:t>n</a:t>
              </a:r>
              <a:endParaRPr lang="LID4096" i="1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5B9B50F-42E8-2993-2CA6-3D0C2D95B594}"/>
              </a:ext>
            </a:extLst>
          </p:cNvPr>
          <p:cNvSpPr txBox="1"/>
          <p:nvPr/>
        </p:nvSpPr>
        <p:spPr>
          <a:xfrm>
            <a:off x="6003344" y="5869903"/>
            <a:ext cx="39962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Access elements contiguously!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62064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919536" y="5661248"/>
            <a:ext cx="4641376" cy="1008112"/>
            <a:chOff x="395536" y="5661248"/>
            <a:chExt cx="4641376" cy="1008112"/>
          </a:xfrm>
        </p:grpSpPr>
        <p:sp>
          <p:nvSpPr>
            <p:cNvPr id="7" name="Rectangle 6"/>
            <p:cNvSpPr/>
            <p:nvPr/>
          </p:nvSpPr>
          <p:spPr>
            <a:xfrm>
              <a:off x="395536" y="5661248"/>
              <a:ext cx="4641376" cy="1008112"/>
            </a:xfrm>
            <a:prstGeom prst="rect">
              <a:avLst/>
            </a:prstGeom>
            <a:solidFill>
              <a:srgbClr val="C00000">
                <a:alpha val="25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5536" y="5661248"/>
              <a:ext cx="305481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cfr</a:t>
              </a:r>
              <a:r>
                <a:rPr lang="en-US" sz="2800" dirty="0"/>
                <a:t>. list slicing, but…</a:t>
              </a:r>
              <a:endParaRPr lang="nl-BE" sz="2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subarrays: slicing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88841"/>
            <a:ext cx="8229600" cy="3921299"/>
          </a:xfrm>
        </p:spPr>
        <p:txBody>
          <a:bodyPr>
            <a:normAutofit/>
          </a:bodyPr>
          <a:lstStyle/>
          <a:p>
            <a:r>
              <a:rPr lang="en-US" dirty="0"/>
              <a:t>Second column</a:t>
            </a:r>
          </a:p>
          <a:p>
            <a:endParaRPr lang="en-US" dirty="0"/>
          </a:p>
          <a:p>
            <a:r>
              <a:rPr lang="en-US" dirty="0"/>
              <a:t>Third row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2D subarray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813298" y="3514719"/>
            <a:ext cx="291455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a[2, :]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3298" y="4747169"/>
            <a:ext cx="449872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a[1:3, 1:3]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np.eye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529" y="1556792"/>
            <a:ext cx="497897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np.arange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(1, 21).reshape(4,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528" y="2437408"/>
            <a:ext cx="288032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a[:,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8088" y="2636912"/>
            <a:ext cx="367240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[ 2  7  12  17 ]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8088" y="3851756"/>
            <a:ext cx="367240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[ 11  12  13  14  15 ]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4727848" y="3068960"/>
            <a:ext cx="3168352" cy="720080"/>
            <a:chOff x="3203848" y="3068960"/>
            <a:chExt cx="3168352" cy="720080"/>
          </a:xfrm>
        </p:grpSpPr>
        <p:sp>
          <p:nvSpPr>
            <p:cNvPr id="16" name="TextBox 15"/>
            <p:cNvSpPr txBox="1"/>
            <p:nvPr/>
          </p:nvSpPr>
          <p:spPr>
            <a:xfrm>
              <a:off x="3203848" y="3183359"/>
              <a:ext cx="20986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result: 1D array</a:t>
              </a:r>
              <a:endParaRPr lang="nl-BE" sz="2400" dirty="0"/>
            </a:p>
          </p:txBody>
        </p:sp>
        <p:cxnSp>
          <p:nvCxnSpPr>
            <p:cNvPr id="18" name="Straight Arrow Connector 17"/>
            <p:cNvCxnSpPr>
              <a:stCxn id="16" idx="3"/>
            </p:cNvCxnSpPr>
            <p:nvPr/>
          </p:nvCxnSpPr>
          <p:spPr>
            <a:xfrm flipV="1">
              <a:off x="5302499" y="3068960"/>
              <a:ext cx="1069701" cy="3452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6" idx="3"/>
            </p:cNvCxnSpPr>
            <p:nvPr/>
          </p:nvCxnSpPr>
          <p:spPr>
            <a:xfrm>
              <a:off x="5302499" y="3414192"/>
              <a:ext cx="1069701" cy="3748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888088" y="4530167"/>
            <a:ext cx="3672408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 1   2   3   4   5 ]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6   1   0   9  10 ]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[ 11   0   1  14  15 ]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[ 16  17  18  19  20 ]]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17</a:t>
            </a:fld>
            <a:endParaRPr lang="nl-BE"/>
          </a:p>
        </p:txBody>
      </p:sp>
      <p:sp>
        <p:nvSpPr>
          <p:cNvPr id="17" name="TextBox 16"/>
          <p:cNvSpPr txBox="1"/>
          <p:nvPr/>
        </p:nvSpPr>
        <p:spPr>
          <a:xfrm>
            <a:off x="6888088" y="1340769"/>
            <a:ext cx="3672408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 1   2   3   4   5 ]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6   7   8   9  10 ]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[ 11  12  13  14  15 ]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[ 16  17  18  19  20 ]]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988" y="6021288"/>
            <a:ext cx="463992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      array slicing does </a:t>
            </a:r>
            <a:r>
              <a:rPr lang="en-US" sz="2800" b="1" i="1" dirty="0">
                <a:solidFill>
                  <a:srgbClr val="C00000"/>
                </a:solidFill>
              </a:rPr>
              <a:t>not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copy!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232748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8" grpId="0" animBg="1"/>
      <p:bldP spid="11" grpId="0" animBg="1"/>
      <p:bldP spid="14" grpId="0" animBg="1"/>
      <p:bldP spid="15" grpId="0" animBg="1"/>
      <p:bldP spid="26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versus copies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42889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Reshape: different view on same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Some operations return copies;</a:t>
            </a:r>
            <a:br>
              <a:rPr lang="en-US" dirty="0"/>
            </a:br>
            <a:r>
              <a:rPr lang="en-US" dirty="0"/>
              <a:t>check documentation carefully;</a:t>
            </a:r>
            <a:br>
              <a:rPr lang="en-US" dirty="0"/>
            </a:br>
            <a:r>
              <a:rPr lang="en-US" dirty="0"/>
              <a:t>also see</a:t>
            </a:r>
            <a:br>
              <a:rPr lang="en-US" dirty="0"/>
            </a:br>
            <a:r>
              <a:rPr lang="en-US" sz="2200" dirty="0">
                <a:hlinkClick r:id="rId2"/>
              </a:rPr>
              <a:t>https://github.com/gjbex/Scientific-Python/blob/master/source-code/numpy/views.ipynb</a:t>
            </a:r>
            <a:r>
              <a:rPr lang="en-US" sz="2200" dirty="0"/>
              <a:t> </a:t>
            </a:r>
            <a:endParaRPr lang="nl-B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18</a:t>
            </a:fld>
            <a:endParaRPr lang="nl-BE"/>
          </a:p>
        </p:txBody>
      </p:sp>
      <p:grpSp>
        <p:nvGrpSpPr>
          <p:cNvPr id="13" name="Group 12"/>
          <p:cNvGrpSpPr/>
          <p:nvPr/>
        </p:nvGrpSpPr>
        <p:grpSpPr>
          <a:xfrm>
            <a:off x="2279577" y="3258125"/>
            <a:ext cx="7850084" cy="369332"/>
            <a:chOff x="755577" y="3258125"/>
            <a:chExt cx="7850084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6157389" y="3258125"/>
              <a:ext cx="2448272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[ 1. 3. 4. 5.]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5577" y="3258125"/>
              <a:ext cx="4248472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b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a.reshape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(-1)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255737" y="2267579"/>
            <a:ext cx="7873924" cy="646332"/>
            <a:chOff x="731737" y="2267579"/>
            <a:chExt cx="7873924" cy="646332"/>
          </a:xfrm>
        </p:grpSpPr>
        <p:sp>
          <p:nvSpPr>
            <p:cNvPr id="5" name="TextBox 4"/>
            <p:cNvSpPr txBox="1"/>
            <p:nvPr/>
          </p:nvSpPr>
          <p:spPr>
            <a:xfrm>
              <a:off x="731737" y="2267580"/>
              <a:ext cx="4272312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np.array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([[1.0, 3.0],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              [4.0, 5.0]])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157389" y="2267579"/>
              <a:ext cx="2448272" cy="6463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[[ 1.  3.]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[ 4.  5.]]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279577" y="3934159"/>
            <a:ext cx="4248473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a[0, 0] = 13.0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928286" y="4006806"/>
            <a:ext cx="3200163" cy="646331"/>
            <a:chOff x="5404285" y="4006805"/>
            <a:chExt cx="3200163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6156176" y="4006805"/>
              <a:ext cx="2448272" cy="6463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[[ 13.  3.]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 4.  5.]]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04285" y="4087454"/>
              <a:ext cx="35165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928286" y="4677352"/>
            <a:ext cx="3200163" cy="417124"/>
            <a:chOff x="5404285" y="4677352"/>
            <a:chExt cx="3200163" cy="417124"/>
          </a:xfrm>
        </p:grpSpPr>
        <p:sp>
          <p:nvSpPr>
            <p:cNvPr id="11" name="TextBox 10"/>
            <p:cNvSpPr txBox="1"/>
            <p:nvPr/>
          </p:nvSpPr>
          <p:spPr>
            <a:xfrm>
              <a:off x="6156176" y="4725144"/>
              <a:ext cx="2448272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[ 13. 3. 4. 5.]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04285" y="4677352"/>
              <a:ext cx="35165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70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Fancy indexing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88841"/>
            <a:ext cx="8229600" cy="3921299"/>
          </a:xfrm>
        </p:spPr>
        <p:txBody>
          <a:bodyPr>
            <a:normAutofit/>
          </a:bodyPr>
          <a:lstStyle/>
          <a:p>
            <a:r>
              <a:rPr lang="en-US" dirty="0"/>
              <a:t>Conditional indexing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Conditional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528" y="1556792"/>
            <a:ext cx="691276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np.arange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(1, 10,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=np.int8).reshape(3,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528" y="2520534"/>
            <a:ext cx="28803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a[a % 2 == 1] = 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19</a:t>
            </a:fld>
            <a:endParaRPr lang="nl-BE"/>
          </a:p>
        </p:txBody>
      </p:sp>
      <p:sp>
        <p:nvSpPr>
          <p:cNvPr id="17" name="TextBox 16"/>
          <p:cNvSpPr txBox="1"/>
          <p:nvPr/>
        </p:nvSpPr>
        <p:spPr>
          <a:xfrm>
            <a:off x="9083561" y="1554525"/>
            <a:ext cx="2382432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 1   2   3 ]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4   5   6 ]</a:t>
            </a:r>
            <a:b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</a:br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7   8   9 ]]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0794" y="2793702"/>
            <a:ext cx="2382432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 0   2   0 ]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4   0   6 ]</a:t>
            </a:r>
            <a:b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</a:br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0   8   0 ]]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228351" y="2815649"/>
            <a:ext cx="3289575" cy="903005"/>
            <a:chOff x="755576" y="2952808"/>
            <a:chExt cx="3289575" cy="903005"/>
          </a:xfrm>
        </p:grpSpPr>
        <p:sp>
          <p:nvSpPr>
            <p:cNvPr id="4" name="Left Brace 3"/>
            <p:cNvSpPr/>
            <p:nvPr/>
          </p:nvSpPr>
          <p:spPr>
            <a:xfrm rot="16200000">
              <a:off x="1309568" y="2398816"/>
              <a:ext cx="188160" cy="129614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051720" y="3486481"/>
              <a:ext cx="199343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3 </a:t>
              </a:r>
              <a:r>
                <a:rPr lang="en-US" dirty="0">
                  <a:sym typeface="Symbol" panose="05050102010706020507" pitchFamily="18" charset="2"/>
                </a:rPr>
                <a:t></a:t>
              </a:r>
              <a:r>
                <a:rPr lang="en-US" dirty="0"/>
                <a:t> 3 Boolean array</a:t>
              </a:r>
            </a:p>
          </p:txBody>
        </p:sp>
        <p:cxnSp>
          <p:nvCxnSpPr>
            <p:cNvPr id="8" name="Straight Arrow Connector 7"/>
            <p:cNvCxnSpPr>
              <a:stCxn id="6" idx="1"/>
              <a:endCxn id="4" idx="1"/>
            </p:cNvCxnSpPr>
            <p:nvPr/>
          </p:nvCxnSpPr>
          <p:spPr>
            <a:xfrm flipH="1" flipV="1">
              <a:off x="1403648" y="3140968"/>
              <a:ext cx="648072" cy="53017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847528" y="4680666"/>
            <a:ext cx="324036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np.where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 &gt; 0, 1, -1)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166714" y="4963183"/>
            <a:ext cx="3289575" cy="903005"/>
            <a:chOff x="755576" y="2952808"/>
            <a:chExt cx="3289575" cy="903005"/>
          </a:xfrm>
        </p:grpSpPr>
        <p:sp>
          <p:nvSpPr>
            <p:cNvPr id="16" name="Left Brace 15"/>
            <p:cNvSpPr/>
            <p:nvPr/>
          </p:nvSpPr>
          <p:spPr>
            <a:xfrm rot="16200000">
              <a:off x="1029330" y="2679054"/>
              <a:ext cx="149532" cy="697039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51720" y="3486481"/>
              <a:ext cx="199343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3 </a:t>
              </a:r>
              <a:r>
                <a:rPr lang="en-US" dirty="0">
                  <a:sym typeface="Symbol" panose="05050102010706020507" pitchFamily="18" charset="2"/>
                </a:rPr>
                <a:t></a:t>
              </a:r>
              <a:r>
                <a:rPr lang="en-US" dirty="0"/>
                <a:t> 3 Boolean array</a:t>
              </a:r>
            </a:p>
          </p:txBody>
        </p:sp>
        <p:cxnSp>
          <p:nvCxnSpPr>
            <p:cNvPr id="19" name="Straight Arrow Connector 18"/>
            <p:cNvCxnSpPr>
              <a:stCxn id="18" idx="1"/>
              <a:endCxn id="16" idx="1"/>
            </p:cNvCxnSpPr>
            <p:nvPr/>
          </p:nvCxnSpPr>
          <p:spPr>
            <a:xfrm flipH="1" flipV="1">
              <a:off x="1104097" y="3102340"/>
              <a:ext cx="947623" cy="56880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9080794" y="4946031"/>
            <a:ext cx="2382432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-1   1  -1 ]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 1  -1   1 ]</a:t>
            </a:r>
            <a:b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</a:br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-1   1  -1 ]]</a:t>
            </a:r>
          </a:p>
        </p:txBody>
      </p:sp>
    </p:spTree>
    <p:extLst>
      <p:ext uri="{BB962C8B-B14F-4D97-AF65-F5344CB8AC3E}">
        <p14:creationId xmlns:p14="http://schemas.microsoft.com/office/powerpoint/2010/main" val="290907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21" grpId="0" animBg="1"/>
      <p:bldP spid="14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on arrays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Scalar-array operations: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Element-wise operations: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Matrix product</a:t>
            </a:r>
          </a:p>
          <a:p>
            <a:endParaRPr lang="en-US" dirty="0"/>
          </a:p>
          <a:p>
            <a:r>
              <a:rPr lang="en-US" dirty="0"/>
              <a:t>Broadcasting, see</a:t>
            </a:r>
            <a:br>
              <a:rPr lang="en-US" dirty="0"/>
            </a:br>
            <a:r>
              <a:rPr lang="en-US" sz="2400" dirty="0">
                <a:hlinkClick r:id="rId2"/>
              </a:rPr>
              <a:t>https://github.com/gjbex/Scientific-Python/blob/master/source-code/numpy/broadcast.ipynb</a:t>
            </a:r>
            <a:r>
              <a:rPr lang="en-US" dirty="0"/>
              <a:t> </a:t>
            </a:r>
            <a:endParaRPr lang="nl-BE" dirty="0"/>
          </a:p>
        </p:txBody>
      </p:sp>
      <p:grpSp>
        <p:nvGrpSpPr>
          <p:cNvPr id="10" name="Group 9"/>
          <p:cNvGrpSpPr/>
          <p:nvPr/>
        </p:nvGrpSpPr>
        <p:grpSpPr>
          <a:xfrm>
            <a:off x="2255738" y="3440589"/>
            <a:ext cx="8892368" cy="923330"/>
            <a:chOff x="731737" y="3933056"/>
            <a:chExt cx="8892368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731737" y="3933056"/>
              <a:ext cx="5784480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np.array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([[1.0, 3.0], [4.0, 5.0]])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b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np.array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([[2.0, 3.0], [1.0, 0.5]])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print(a*b)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103825" y="4086923"/>
              <a:ext cx="2520280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[[ 2.   9.  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[ 4.   2.5 ]]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279576" y="2091063"/>
            <a:ext cx="578448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([[1.0, 3.0], [4.0, 5.0]])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print(3.0 +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600" y="2086817"/>
            <a:ext cx="24964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[[ 4.   6.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[ 7.   8. ]]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20</a:t>
            </a:fld>
            <a:endParaRPr lang="nl-B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EF166-5E80-901E-315D-7A0A70C938F7}"/>
              </a:ext>
            </a:extLst>
          </p:cNvPr>
          <p:cNvGrpSpPr/>
          <p:nvPr/>
        </p:nvGrpSpPr>
        <p:grpSpPr>
          <a:xfrm>
            <a:off x="2279576" y="4781913"/>
            <a:ext cx="8868530" cy="646331"/>
            <a:chOff x="2279576" y="5040706"/>
            <a:chExt cx="8868530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8627826" y="5040706"/>
              <a:ext cx="2520280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 5.    4.5 ]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[ 13.   14.5 ]]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9576" y="5149133"/>
              <a:ext cx="577462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print(a @ 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865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operating on arrays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600037"/>
            <a:ext cx="8229600" cy="3526126"/>
          </a:xfrm>
        </p:spPr>
        <p:txBody>
          <a:bodyPr>
            <a:normAutofit/>
          </a:bodyPr>
          <a:lstStyle/>
          <a:p>
            <a:r>
              <a:rPr lang="en-US" dirty="0"/>
              <a:t>Avoid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</a:t>
            </a:r>
          </a:p>
          <a:p>
            <a:endParaRPr lang="en-US" dirty="0"/>
          </a:p>
          <a:p>
            <a:r>
              <a:rPr lang="en-US" dirty="0"/>
              <a:t>Other functions: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np.sin</a:t>
            </a:r>
            <a:r>
              <a:rPr lang="en-US" dirty="0"/>
              <a:t>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np.sinh</a:t>
            </a:r>
            <a:r>
              <a:rPr lang="en-US" dirty="0"/>
              <a:t>, 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en-US" dirty="0">
                <a:cs typeface="Courier New" panose="02070309020205020404" pitchFamily="49" charset="0"/>
              </a:rPr>
              <a:t>,…</a:t>
            </a:r>
            <a:endParaRPr lang="nl-BE" dirty="0"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5346" y="1700809"/>
            <a:ext cx="622691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np.empty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((500, 500))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rng.uniform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(0.0, 1.0, (500, 500))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5737" y="3140968"/>
            <a:ext cx="6226919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in range(500):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for j in range(500):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a[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(b[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9577" y="4715852"/>
            <a:ext cx="6226919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np.sqrt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(b)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976321" y="3212976"/>
            <a:ext cx="1018227" cy="1872208"/>
            <a:chOff x="7452320" y="3573016"/>
            <a:chExt cx="1018227" cy="1872208"/>
          </a:xfrm>
        </p:grpSpPr>
        <p:sp>
          <p:nvSpPr>
            <p:cNvPr id="7" name="TextBox 6"/>
            <p:cNvSpPr txBox="1"/>
            <p:nvPr/>
          </p:nvSpPr>
          <p:spPr>
            <a:xfrm>
              <a:off x="7452320" y="3573016"/>
              <a:ext cx="1018227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140 </a:t>
              </a:r>
              <a:r>
                <a:rPr lang="en-US" sz="2400" dirty="0">
                  <a:sym typeface="Symbol"/>
                </a:rPr>
                <a:t></a:t>
              </a:r>
              <a:r>
                <a:rPr lang="en-US" sz="2400" dirty="0"/>
                <a:t>s</a:t>
              </a:r>
              <a:endParaRPr lang="nl-BE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52320" y="4983559"/>
              <a:ext cx="93968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6.5 </a:t>
              </a:r>
              <a:r>
                <a:rPr lang="en-US" sz="2400" dirty="0">
                  <a:sym typeface="Symbol"/>
                </a:rPr>
                <a:t></a:t>
              </a:r>
              <a:r>
                <a:rPr lang="en-US" sz="2400" dirty="0"/>
                <a:t>s</a:t>
              </a:r>
              <a:endParaRPr lang="nl-BE" sz="2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264353" y="3717032"/>
            <a:ext cx="1259645" cy="936104"/>
            <a:chOff x="7524328" y="4766367"/>
            <a:chExt cx="1259645" cy="936104"/>
          </a:xfrm>
        </p:grpSpPr>
        <p:sp>
          <p:nvSpPr>
            <p:cNvPr id="10" name="Curved Left Arrow 9"/>
            <p:cNvSpPr/>
            <p:nvPr/>
          </p:nvSpPr>
          <p:spPr>
            <a:xfrm>
              <a:off x="7524328" y="4766367"/>
              <a:ext cx="288032" cy="936104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84368" y="4869160"/>
              <a:ext cx="8996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21 ×</a:t>
              </a:r>
              <a:endParaRPr lang="nl-BE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6289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5F7B-EC7F-CD86-5861-CE0ABE52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functions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B79AF-912B-0534-F1DA-B6021771B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02424"/>
            <a:ext cx="10515600" cy="2747963"/>
          </a:xfrm>
        </p:spPr>
        <p:txBody>
          <a:bodyPr/>
          <a:lstStyle/>
          <a:p>
            <a:r>
              <a:rPr lang="en-US" dirty="0"/>
              <a:t>Sum of columns</a:t>
            </a:r>
          </a:p>
          <a:p>
            <a:endParaRPr lang="en-US" dirty="0"/>
          </a:p>
          <a:p>
            <a:r>
              <a:rPr lang="en-US" dirty="0"/>
              <a:t>Sum of rows</a:t>
            </a:r>
          </a:p>
          <a:p>
            <a:endParaRPr lang="en-US" dirty="0"/>
          </a:p>
          <a:p>
            <a:r>
              <a:rPr lang="en-US" dirty="0"/>
              <a:t>Sum of all elements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14C7E-39D9-A7FB-CBAF-A6A49F96213E}"/>
              </a:ext>
            </a:extLst>
          </p:cNvPr>
          <p:cNvSpPr txBox="1"/>
          <p:nvPr/>
        </p:nvSpPr>
        <p:spPr>
          <a:xfrm>
            <a:off x="1458481" y="1773826"/>
            <a:ext cx="486767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np.arange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(24).reshape(4, -1)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31128-47FB-7EDD-0367-BCD622C9630F}"/>
              </a:ext>
            </a:extLst>
          </p:cNvPr>
          <p:cNvSpPr txBox="1"/>
          <p:nvPr/>
        </p:nvSpPr>
        <p:spPr>
          <a:xfrm>
            <a:off x="7987004" y="1387022"/>
            <a:ext cx="3601616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 0  1  2  3  4  5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 6  7  8  9 10 11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12 13 14 15 16 17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  18 19 20 21 22 23 ]]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F19DD-8A27-75A9-2F6E-5FB4219E8974}"/>
              </a:ext>
            </a:extLst>
          </p:cNvPr>
          <p:cNvSpPr txBox="1"/>
          <p:nvPr/>
        </p:nvSpPr>
        <p:spPr>
          <a:xfrm>
            <a:off x="1458481" y="3629385"/>
            <a:ext cx="486767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a.sum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(axis=0)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02A7C-36E1-C848-96D0-54A2D7881E08}"/>
              </a:ext>
            </a:extLst>
          </p:cNvPr>
          <p:cNvSpPr txBox="1"/>
          <p:nvPr/>
        </p:nvSpPr>
        <p:spPr>
          <a:xfrm>
            <a:off x="7987004" y="3674719"/>
            <a:ext cx="360161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  36 40 44 48 52 56 ]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95DBD-9719-0135-EDDD-D8FAF5293743}"/>
              </a:ext>
            </a:extLst>
          </p:cNvPr>
          <p:cNvSpPr txBox="1"/>
          <p:nvPr/>
        </p:nvSpPr>
        <p:spPr>
          <a:xfrm>
            <a:off x="1458481" y="4555220"/>
            <a:ext cx="486767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a.sum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(axis=1)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78634-7FF0-FA3C-654F-D36A67A0CAD0}"/>
              </a:ext>
            </a:extLst>
          </p:cNvPr>
          <p:cNvSpPr txBox="1"/>
          <p:nvPr/>
        </p:nvSpPr>
        <p:spPr>
          <a:xfrm>
            <a:off x="7987004" y="4555220"/>
            <a:ext cx="360161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  15 51 87 123 ]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9245E-A2AA-6FF6-DFB7-47175E8586F6}"/>
              </a:ext>
            </a:extLst>
          </p:cNvPr>
          <p:cNvSpPr txBox="1"/>
          <p:nvPr/>
        </p:nvSpPr>
        <p:spPr>
          <a:xfrm>
            <a:off x="1458481" y="5615993"/>
            <a:ext cx="486767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a.sum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19FB1-BFA2-BD93-5B4C-7A1804659CE7}"/>
              </a:ext>
            </a:extLst>
          </p:cNvPr>
          <p:cNvSpPr txBox="1"/>
          <p:nvPr/>
        </p:nvSpPr>
        <p:spPr>
          <a:xfrm>
            <a:off x="7987004" y="5615993"/>
            <a:ext cx="360161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276</a:t>
            </a:r>
          </a:p>
        </p:txBody>
      </p:sp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CB6841B4-072C-73DD-8859-BCF45A57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A209D72-2E9D-49B0-8977-41DCCC66C0BB}" type="slidenum">
              <a:rPr lang="nl-BE" smtClean="0"/>
              <a:t>22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3802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has some linear algebra operations</a:t>
            </a:r>
          </a:p>
          <a:p>
            <a:pPr lvl="1"/>
            <a:r>
              <a:rPr lang="en-US" dirty="0"/>
              <a:t>matrix power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matrix  inverse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determinant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eigenvalues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23</a:t>
            </a:fld>
            <a:endParaRPr lang="nl-BE"/>
          </a:p>
        </p:txBody>
      </p:sp>
      <p:grpSp>
        <p:nvGrpSpPr>
          <p:cNvPr id="5" name="Group 4"/>
          <p:cNvGrpSpPr/>
          <p:nvPr/>
        </p:nvGrpSpPr>
        <p:grpSpPr>
          <a:xfrm>
            <a:off x="2255738" y="2539412"/>
            <a:ext cx="8163703" cy="646331"/>
            <a:chOff x="731737" y="3784165"/>
            <a:chExt cx="8163703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731737" y="3933056"/>
              <a:ext cx="412829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np.linalg.matrix_power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(a, 3)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32040" y="3784165"/>
              <a:ext cx="3963400" cy="6463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 85.  129.]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[ 172.  257.]]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55737" y="1351888"/>
            <a:ext cx="5784479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([[1.0, 3.0], [4.0, 5.0]])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255738" y="3322570"/>
            <a:ext cx="8160743" cy="646331"/>
            <a:chOff x="731737" y="3646765"/>
            <a:chExt cx="8160743" cy="646331"/>
          </a:xfrm>
        </p:grpSpPr>
        <p:sp>
          <p:nvSpPr>
            <p:cNvPr id="8" name="TextBox 7"/>
            <p:cNvSpPr txBox="1"/>
            <p:nvPr/>
          </p:nvSpPr>
          <p:spPr>
            <a:xfrm>
              <a:off x="731737" y="3792522"/>
              <a:ext cx="4131208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np.linalg.inv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(a)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32040" y="3646765"/>
              <a:ext cx="3960440" cy="64633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[[-0.71428571  0.42857143]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[ 0.57142857 -0.14285714]]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279578" y="4250337"/>
            <a:ext cx="8136903" cy="378624"/>
            <a:chOff x="755577" y="4715852"/>
            <a:chExt cx="8136903" cy="378624"/>
          </a:xfrm>
        </p:grpSpPr>
        <p:sp>
          <p:nvSpPr>
            <p:cNvPr id="9" name="TextBox 8"/>
            <p:cNvSpPr txBox="1"/>
            <p:nvPr/>
          </p:nvSpPr>
          <p:spPr>
            <a:xfrm>
              <a:off x="755577" y="4725144"/>
              <a:ext cx="410445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np.linalg.det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(a)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32040" y="4715852"/>
              <a:ext cx="3960440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-7.0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279577" y="5129975"/>
            <a:ext cx="8136903" cy="378624"/>
            <a:chOff x="755577" y="4715852"/>
            <a:chExt cx="8136903" cy="378624"/>
          </a:xfrm>
        </p:grpSpPr>
        <p:sp>
          <p:nvSpPr>
            <p:cNvPr id="15" name="TextBox 14"/>
            <p:cNvSpPr txBox="1"/>
            <p:nvPr/>
          </p:nvSpPr>
          <p:spPr>
            <a:xfrm>
              <a:off x="755577" y="4725144"/>
              <a:ext cx="410445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np.linalg.eigvals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(a)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32040" y="4715852"/>
              <a:ext cx="3960440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[-1.  7.]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397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data I/O revisited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text file with 10</a:t>
            </a:r>
            <a:r>
              <a:rPr lang="en-US" baseline="30000" dirty="0"/>
              <a:t>7</a:t>
            </a:r>
            <a:r>
              <a:rPr lang="en-US" dirty="0"/>
              <a:t> 64-bit floats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np.genfromtxt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dirty="0">
                <a:cs typeface="Courier New" panose="02070309020205020404" pitchFamily="49" charset="0"/>
              </a:rPr>
              <a:t>:                     </a:t>
            </a:r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12 seconds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np.fromfile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='\n')</a:t>
            </a:r>
            <a:r>
              <a:rPr lang="en-US" dirty="0"/>
              <a:t>:  </a:t>
            </a:r>
            <a:r>
              <a:rPr lang="en-US" dirty="0">
                <a:solidFill>
                  <a:srgbClr val="FF0000"/>
                </a:solidFill>
              </a:rPr>
              <a:t>6 seconds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np.loadtxt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dirty="0"/>
              <a:t>:                               </a:t>
            </a:r>
            <a:r>
              <a:rPr lang="en-US" dirty="0">
                <a:solidFill>
                  <a:srgbClr val="FF0000"/>
                </a:solidFill>
              </a:rPr>
              <a:t>2 seconds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Reading binary file with 10</a:t>
            </a:r>
            <a:r>
              <a:rPr lang="en-US" baseline="30000" dirty="0"/>
              <a:t>7</a:t>
            </a:r>
            <a:r>
              <a:rPr lang="en-US" dirty="0"/>
              <a:t> 64-bit floats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dirty="0"/>
              <a:t>:                                   </a:t>
            </a:r>
            <a:r>
              <a:rPr lang="en-US" dirty="0">
                <a:solidFill>
                  <a:srgbClr val="FF0000"/>
                </a:solidFill>
              </a:rPr>
              <a:t>19 milliseconds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np.fromfile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dirty="0"/>
              <a:t>:                         </a:t>
            </a:r>
            <a:r>
              <a:rPr lang="en-US" dirty="0">
                <a:solidFill>
                  <a:srgbClr val="FF0000"/>
                </a:solidFill>
              </a:rPr>
              <a:t>16 milliseconds</a:t>
            </a:r>
            <a:endParaRPr lang="nl-BE" dirty="0"/>
          </a:p>
          <a:p>
            <a:r>
              <a:rPr lang="nl-BE" dirty="0"/>
              <a:t>HDF5 file </a:t>
            </a:r>
            <a:r>
              <a:rPr lang="nl-BE" dirty="0" err="1"/>
              <a:t>with</a:t>
            </a:r>
            <a:r>
              <a:rPr lang="en-US" dirty="0"/>
              <a:t> 10</a:t>
            </a:r>
            <a:r>
              <a:rPr lang="en-US" baseline="30000" dirty="0"/>
              <a:t>7</a:t>
            </a:r>
            <a:r>
              <a:rPr lang="en-US" dirty="0"/>
              <a:t> 64-bit floats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h5_file['data'][:]</a:t>
            </a:r>
            <a:r>
              <a:rPr lang="en-US" dirty="0"/>
              <a:t>:              </a:t>
            </a:r>
            <a:r>
              <a:rPr lang="en-US" dirty="0">
                <a:solidFill>
                  <a:srgbClr val="FF0000"/>
                </a:solidFill>
              </a:rPr>
              <a:t>32 milliseconds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7590961" y="688637"/>
            <a:ext cx="435196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All functions are equal, but…</a:t>
            </a:r>
          </a:p>
          <a:p>
            <a:pPr algn="ctr"/>
            <a:r>
              <a:rPr lang="en-US" sz="2400" dirty="0"/>
              <a:t>some are more equal than others</a:t>
            </a:r>
            <a:endParaRPr lang="nl-BE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663226" y="5894685"/>
            <a:ext cx="651345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 all data formats are equal: HDF5 to the rescue</a:t>
            </a:r>
            <a:endParaRPr lang="nl-BE" sz="2400" dirty="0"/>
          </a:p>
        </p:txBody>
      </p:sp>
      <p:grpSp>
        <p:nvGrpSpPr>
          <p:cNvPr id="7" name="Group 6"/>
          <p:cNvGrpSpPr/>
          <p:nvPr/>
        </p:nvGrpSpPr>
        <p:grpSpPr>
          <a:xfrm>
            <a:off x="9372860" y="3428136"/>
            <a:ext cx="1563341" cy="1014871"/>
            <a:chOff x="7164288" y="4766367"/>
            <a:chExt cx="1563341" cy="1014871"/>
          </a:xfrm>
        </p:grpSpPr>
        <p:sp>
          <p:nvSpPr>
            <p:cNvPr id="8" name="Curved Left Arrow 7"/>
            <p:cNvSpPr/>
            <p:nvPr/>
          </p:nvSpPr>
          <p:spPr>
            <a:xfrm>
              <a:off x="7164288" y="4766367"/>
              <a:ext cx="288032" cy="1014871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19633" y="4918822"/>
              <a:ext cx="1107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100 ×</a:t>
              </a:r>
              <a:endParaRPr lang="nl-BE" sz="3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478910" y="2400518"/>
            <a:ext cx="1099254" cy="868452"/>
            <a:chOff x="7164288" y="5626971"/>
            <a:chExt cx="1099254" cy="868452"/>
          </a:xfrm>
        </p:grpSpPr>
        <p:sp>
          <p:nvSpPr>
            <p:cNvPr id="13" name="Curved Left Arrow 12"/>
            <p:cNvSpPr/>
            <p:nvPr/>
          </p:nvSpPr>
          <p:spPr>
            <a:xfrm>
              <a:off x="7164288" y="5626971"/>
              <a:ext cx="288032" cy="868452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72327" y="5765768"/>
              <a:ext cx="691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6 ×</a:t>
              </a:r>
              <a:endParaRPr lang="nl-BE" sz="3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241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Matrices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Matlab</a:t>
            </a:r>
            <a:r>
              <a:rPr lang="en-US" dirty="0"/>
              <a:t>-like initialization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ourier New" panose="02070309020205020404" pitchFamily="49" charset="0"/>
              </a:rPr>
              <a:t>Overloaded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latin typeface="Calibri" panose="020F0502020204030204" pitchFamily="34" charset="0"/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dirty="0">
                <a:latin typeface="Calibri" panose="020F0502020204030204" pitchFamily="34" charset="0"/>
                <a:cs typeface="Courier New" panose="02070309020205020404" pitchFamily="49" charset="0"/>
              </a:rPr>
              <a:t> operators</a:t>
            </a:r>
          </a:p>
          <a:p>
            <a:endParaRPr lang="en-US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endParaRPr lang="en-US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endParaRPr lang="en-US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dirty="0"/>
              <a:t>Result is always matrix (2D)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55738" y="3294489"/>
            <a:ext cx="8875142" cy="1334841"/>
            <a:chOff x="731737" y="3798544"/>
            <a:chExt cx="8875142" cy="1334841"/>
          </a:xfrm>
        </p:grpSpPr>
        <p:sp>
          <p:nvSpPr>
            <p:cNvPr id="4" name="TextBox 3"/>
            <p:cNvSpPr txBox="1"/>
            <p:nvPr/>
          </p:nvSpPr>
          <p:spPr>
            <a:xfrm>
              <a:off x="731737" y="3933056"/>
              <a:ext cx="578448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np.matrix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([[1.0, 3.0], [4.0, 5.0]])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b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np.matrix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([[2.0, 3.0], [1.0, 0.5]])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print(a*b)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print(a**3)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86599" y="3798544"/>
              <a:ext cx="2520280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 5.   4.5 ]</a:t>
              </a:r>
            </a:p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 [ 13.  14.5 ]]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255738" y="2257981"/>
            <a:ext cx="578448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np.matrix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('1.0  3.0; 4.0  5.0')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0600" y="2111408"/>
            <a:ext cx="24964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[[ 1.   3.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[ 4.   5. ]]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0600" y="4167754"/>
            <a:ext cx="252028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 85.  129. ]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[ 172.  257. ]]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255738" y="5503587"/>
            <a:ext cx="8875142" cy="923330"/>
            <a:chOff x="635890" y="3973225"/>
            <a:chExt cx="8875142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635890" y="3973225"/>
              <a:ext cx="5784480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a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np.matrix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('1.0, 3.0')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b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np.matrix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('2.0; 4.0')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print(a*b)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90752" y="4146781"/>
              <a:ext cx="252028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2"/>
                  </a:solidFill>
                  <a:latin typeface="Courier New" pitchFamily="49" charset="0"/>
                  <a:cs typeface="Courier New" pitchFamily="49" charset="0"/>
                </a:rPr>
                <a:t>[[ 14. ]]</a:t>
              </a: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25</a:t>
            </a:fld>
            <a:endParaRPr lang="nl-BE"/>
          </a:p>
        </p:txBody>
      </p:sp>
      <p:grpSp>
        <p:nvGrpSpPr>
          <p:cNvPr id="16" name="Group 15"/>
          <p:cNvGrpSpPr/>
          <p:nvPr/>
        </p:nvGrpSpPr>
        <p:grpSpPr>
          <a:xfrm rot="20320667">
            <a:off x="2732598" y="2907275"/>
            <a:ext cx="3672408" cy="2160240"/>
            <a:chOff x="251520" y="1268760"/>
            <a:chExt cx="3672408" cy="2160240"/>
          </a:xfrm>
        </p:grpSpPr>
        <p:sp>
          <p:nvSpPr>
            <p:cNvPr id="7" name="TextBox 6"/>
            <p:cNvSpPr txBox="1"/>
            <p:nvPr/>
          </p:nvSpPr>
          <p:spPr>
            <a:xfrm>
              <a:off x="251520" y="1268760"/>
              <a:ext cx="3666388" cy="2123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dirty="0">
                  <a:solidFill>
                    <a:srgbClr val="C00000"/>
                  </a:solidFill>
                </a:rPr>
                <a:t>Don't use,</a:t>
              </a:r>
            </a:p>
            <a:p>
              <a:r>
                <a:rPr lang="en-US" sz="6600" dirty="0">
                  <a:solidFill>
                    <a:srgbClr val="C00000"/>
                  </a:solidFill>
                </a:rPr>
                <a:t>confusing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51520" y="1268760"/>
              <a:ext cx="3672408" cy="2160240"/>
            </a:xfrm>
            <a:prstGeom prst="roundRect">
              <a:avLst/>
            </a:prstGeom>
            <a:solidFill>
              <a:srgbClr val="C00000">
                <a:alpha val="29000"/>
              </a:srgb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653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for MATLAB users</a:t>
            </a:r>
            <a:br>
              <a:rPr lang="en-US" dirty="0"/>
            </a:br>
            <a:r>
              <a:rPr lang="en-US" sz="2400" dirty="0">
                <a:hlinkClick r:id="rId2"/>
              </a:rPr>
              <a:t>http://mathesaurus.sourceforge.net/matlab-numpy.html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1990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https://github.com/gjbex/Scientific-Python/tree/master/source-code/numpy</a:t>
            </a:r>
            <a:r>
              <a:rPr lang="en-US" sz="1800" dirty="0"/>
              <a:t> </a:t>
            </a:r>
          </a:p>
          <a:p>
            <a:r>
              <a:rPr lang="en-US" sz="1800" dirty="0">
                <a:hlinkClick r:id="rId3"/>
              </a:rPr>
              <a:t>https://github.com/gjbex/</a:t>
            </a:r>
            <a:r>
              <a:rPr lang="en-US" sz="1800" dirty="0">
                <a:hlinkClick r:id="rId2"/>
              </a:rPr>
              <a:t>Scientific-Python</a:t>
            </a:r>
            <a:r>
              <a:rPr lang="en-US" sz="1800" dirty="0">
                <a:hlinkClick r:id="rId3"/>
              </a:rPr>
              <a:t>/tree/master/source-code/birdsong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3663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for numeric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28801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…</a:t>
            </a:r>
          </a:p>
          <a:p>
            <a:r>
              <a:rPr lang="en-US" dirty="0" err="1"/>
              <a:t>scipy</a:t>
            </a:r>
            <a:endParaRPr lang="en-US" dirty="0"/>
          </a:p>
          <a:p>
            <a:pPr lvl="1"/>
            <a:r>
              <a:rPr lang="en-US" dirty="0"/>
              <a:t>Dense/sparse linear algebra</a:t>
            </a:r>
          </a:p>
          <a:p>
            <a:pPr lvl="1"/>
            <a:r>
              <a:rPr lang="en-US" dirty="0"/>
              <a:t>Solving ordinary differential equations</a:t>
            </a:r>
          </a:p>
          <a:p>
            <a:pPr lvl="1"/>
            <a:r>
              <a:rPr lang="en-US" dirty="0"/>
              <a:t>Numerical integration</a:t>
            </a:r>
          </a:p>
          <a:p>
            <a:pPr lvl="1"/>
            <a:r>
              <a:rPr lang="en-US" dirty="0"/>
              <a:t>Optimization</a:t>
            </a:r>
          </a:p>
          <a:p>
            <a:pPr lvl="1"/>
            <a:r>
              <a:rPr lang="en-US" dirty="0"/>
              <a:t>Interpolation</a:t>
            </a:r>
          </a:p>
          <a:p>
            <a:pPr lvl="1"/>
            <a:r>
              <a:rPr lang="en-US" dirty="0"/>
              <a:t>Signal processing</a:t>
            </a:r>
          </a:p>
          <a:p>
            <a:pPr lvl="1"/>
            <a:r>
              <a:rPr lang="en-US" dirty="0"/>
              <a:t>Statistics</a:t>
            </a:r>
          </a:p>
          <a:p>
            <a:pPr lvl="1"/>
            <a:r>
              <a:rPr lang="en-US" dirty="0"/>
              <a:t>Special mathematical functions</a:t>
            </a:r>
          </a:p>
          <a:p>
            <a:pPr lvl="1"/>
            <a:r>
              <a:rPr lang="en-US" dirty="0"/>
              <a:t>Mathematical &amp; physical constants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28</a:t>
            </a:fld>
            <a:endParaRPr lang="nl-BE"/>
          </a:p>
        </p:txBody>
      </p:sp>
      <p:grpSp>
        <p:nvGrpSpPr>
          <p:cNvPr id="5" name="Group 4"/>
          <p:cNvGrpSpPr/>
          <p:nvPr/>
        </p:nvGrpSpPr>
        <p:grpSpPr>
          <a:xfrm>
            <a:off x="3638321" y="5470314"/>
            <a:ext cx="4734825" cy="727631"/>
            <a:chOff x="588960" y="1198493"/>
            <a:chExt cx="4734825" cy="727631"/>
          </a:xfrm>
          <a:solidFill>
            <a:schemeClr val="bg1">
              <a:lumMod val="85000"/>
            </a:schemeClr>
          </a:solidFill>
        </p:grpSpPr>
        <p:sp>
          <p:nvSpPr>
            <p:cNvPr id="6" name="TextBox 5"/>
            <p:cNvSpPr txBox="1"/>
            <p:nvPr/>
          </p:nvSpPr>
          <p:spPr>
            <a:xfrm>
              <a:off x="588960" y="1556792"/>
              <a:ext cx="290053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import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scipy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as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sp</a:t>
              </a:r>
              <a:endParaRPr lang="en-US" dirty="0"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275857" y="1198493"/>
              <a:ext cx="2047928" cy="542965"/>
              <a:chOff x="1378722" y="3862789"/>
              <a:chExt cx="2047928" cy="542965"/>
            </a:xfrm>
            <a:grpFill/>
          </p:grpSpPr>
          <p:sp>
            <p:nvSpPr>
              <p:cNvPr id="8" name="TextBox 7"/>
              <p:cNvSpPr txBox="1"/>
              <p:nvPr/>
            </p:nvSpPr>
            <p:spPr>
              <a:xfrm>
                <a:off x="2195736" y="3862789"/>
                <a:ext cx="123091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convention</a:t>
                </a:r>
              </a:p>
            </p:txBody>
          </p:sp>
          <p:cxnSp>
            <p:nvCxnSpPr>
              <p:cNvPr id="9" name="Straight Arrow Connector 8"/>
              <p:cNvCxnSpPr>
                <a:stCxn id="8" idx="1"/>
              </p:cNvCxnSpPr>
              <p:nvPr/>
            </p:nvCxnSpPr>
            <p:spPr>
              <a:xfrm flipH="1">
                <a:off x="1378722" y="4047455"/>
                <a:ext cx="817014" cy="358299"/>
              </a:xfrm>
              <a:prstGeom prst="straightConnector1">
                <a:avLst/>
              </a:prstGeom>
              <a:grpFill/>
              <a:ln w="190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49374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Value Decomposition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Computing SVD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/>
              <a:t> is not a 2D-array, it is a 1D-array</a:t>
            </a:r>
          </a:p>
          <a:p>
            <a:endParaRPr lang="en-US" dirty="0"/>
          </a:p>
          <a:p>
            <a:r>
              <a:rPr lang="en-US" dirty="0"/>
              <a:t>Let's check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255737" y="2482692"/>
            <a:ext cx="622691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([[7.3, 5.7], [-1.2, 5.3]])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u, s, v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sp.linalg.svd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5737" y="3912731"/>
            <a:ext cx="622691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S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np.diag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736" y="4907539"/>
            <a:ext cx="622691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 = u @ S @ v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delta = A -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5880" y="5733257"/>
            <a:ext cx="525658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[[ 8.88178420e-16, 0.00000000e+00],</a:t>
            </a:r>
          </a:p>
          <a:p>
            <a:r>
              <a:rPr lang="fr-FR" b="1" dirty="0">
                <a:solidFill>
                  <a:schemeClr val="bg2"/>
                </a:solidFill>
                <a:latin typeface="Courier New" pitchFamily="49" charset="0"/>
                <a:cs typeface="Courier New" pitchFamily="49" charset="0"/>
              </a:rPr>
              <a:t> [ 4.44089210e-16, 0.00000000e+00]]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2065" y="1412776"/>
            <a:ext cx="363003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Should be fast when built against</a:t>
            </a:r>
            <a:br>
              <a:rPr lang="en-US" sz="2000" dirty="0"/>
            </a:br>
            <a:r>
              <a:rPr lang="en-US" sz="2000" dirty="0"/>
              <a:t>good BLAS/</a:t>
            </a:r>
            <a:r>
              <a:rPr lang="en-US" sz="2000" dirty="0" err="1"/>
              <a:t>Lapack</a:t>
            </a:r>
            <a:r>
              <a:rPr lang="en-US" sz="2000" dirty="0"/>
              <a:t> library</a:t>
            </a:r>
            <a:endParaRPr lang="nl-BE" sz="2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9232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736" y="2505670"/>
            <a:ext cx="7368656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data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np.genfromtxt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('data.csv',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=[np.float64, np.float64],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delimiter=',', names=True)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713640" y="868052"/>
            <a:ext cx="3024336" cy="1200909"/>
            <a:chOff x="755577" y="4078813"/>
            <a:chExt cx="3024336" cy="1200909"/>
          </a:xfrm>
        </p:grpSpPr>
        <p:sp>
          <p:nvSpPr>
            <p:cNvPr id="5" name="TextBox 4"/>
            <p:cNvSpPr txBox="1"/>
            <p:nvPr/>
          </p:nvSpPr>
          <p:spPr>
            <a:xfrm>
              <a:off x="755577" y="4078813"/>
              <a:ext cx="3024336" cy="120032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x,y</a:t>
              </a: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0.000e+00,1.206e+00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5.263e-02,1.207e+00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…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19868" y="4941168"/>
              <a:ext cx="860044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data.csv</a:t>
              </a:r>
              <a:endParaRPr lang="nl-BE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255736" y="4466163"/>
            <a:ext cx="736865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slp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r, _, _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sp.stats.linregress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(data['x'],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       data['y'])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555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function definitions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</a:t>
            </a:r>
          </a:p>
          <a:p>
            <a:r>
              <a:rPr lang="en-US" dirty="0"/>
              <a:t>Define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Define gradient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30417" y="1765501"/>
                <a:ext cx="65511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  <m:r>
                            <a:rPr lang="en-US" sz="2800" i="1">
                              <a:latin typeface="Cambria Math"/>
                            </a:rPr>
                            <m:t>, </m:t>
                          </m:r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+0.1</m:t>
                      </m:r>
                      <m:r>
                        <a:rPr lang="en-US" sz="28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417" y="1765501"/>
                <a:ext cx="655115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55736" y="2847433"/>
            <a:ext cx="758468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f(X):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x, y = X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return (x**2 + y**2)**2 - 2*x**2 - 2*y**2 + 0.1*x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736" y="4904130"/>
            <a:ext cx="758468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grad_f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x, y = X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f_x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4*(x**2 + y**2)*x - 4*x + 0.1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f_y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4*(x**2 + y**2)*y - 4*y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f_x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f_y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18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300" dirty="0"/>
              <a:t>Compute</a:t>
            </a:r>
            <a:r>
              <a:rPr lang="en-US" dirty="0"/>
              <a:t> </a:t>
            </a:r>
            <a:r>
              <a:rPr lang="en-US" sz="3300" dirty="0"/>
              <a:t>minimum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300" dirty="0"/>
              <a:t>Many</a:t>
            </a:r>
            <a:r>
              <a:rPr lang="en-US" dirty="0"/>
              <a:t> </a:t>
            </a:r>
            <a:r>
              <a:rPr lang="en-US" sz="3300" dirty="0"/>
              <a:t>methods</a:t>
            </a:r>
            <a:endParaRPr lang="en-US" dirty="0"/>
          </a:p>
          <a:p>
            <a:pPr lvl="1"/>
            <a:r>
              <a:rPr lang="en-US" sz="2800" dirty="0"/>
              <a:t>Powell</a:t>
            </a:r>
            <a:endParaRPr lang="en-US" dirty="0"/>
          </a:p>
          <a:p>
            <a:pPr lvl="1"/>
            <a:r>
              <a:rPr lang="en-US" sz="2800" dirty="0"/>
              <a:t>Conjugate</a:t>
            </a:r>
            <a:r>
              <a:rPr lang="en-US" dirty="0"/>
              <a:t> </a:t>
            </a:r>
            <a:r>
              <a:rPr lang="en-US" sz="2800" dirty="0"/>
              <a:t>gradient</a:t>
            </a:r>
            <a:endParaRPr lang="en-US" dirty="0"/>
          </a:p>
          <a:p>
            <a:pPr lvl="1"/>
            <a:r>
              <a:rPr lang="en-US" sz="2800" dirty="0"/>
              <a:t>BFGS</a:t>
            </a:r>
            <a:endParaRPr lang="en-US" dirty="0"/>
          </a:p>
          <a:p>
            <a:pPr lvl="1"/>
            <a:r>
              <a:rPr lang="en-US" sz="2800" dirty="0"/>
              <a:t>Newton</a:t>
            </a:r>
            <a:r>
              <a:rPr lang="en-US" dirty="0"/>
              <a:t> </a:t>
            </a:r>
            <a:r>
              <a:rPr lang="en-US" sz="2800" dirty="0"/>
              <a:t>conjugate</a:t>
            </a:r>
            <a:r>
              <a:rPr lang="en-US" dirty="0"/>
              <a:t> </a:t>
            </a:r>
            <a:r>
              <a:rPr lang="en-US" sz="2800" dirty="0"/>
              <a:t>gradient</a:t>
            </a:r>
            <a:endParaRPr lang="en-US" dirty="0"/>
          </a:p>
          <a:p>
            <a:pPr lvl="1"/>
            <a:r>
              <a:rPr lang="en-US" dirty="0"/>
              <a:t>…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279576" y="2367776"/>
            <a:ext cx="758468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x0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([1.0, 0.01])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xopt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scipy.optimize.fmin_cg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(f, x0,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fprime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grad_f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disp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=False)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699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Ordinary differential equations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Rewrite higher order differential equation to set of first order equations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33</a:t>
            </a:fld>
            <a:endParaRPr lang="nl-BE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821891"/>
              </p:ext>
            </p:extLst>
          </p:nvPr>
        </p:nvGraphicFramePr>
        <p:xfrm>
          <a:off x="2025650" y="3060700"/>
          <a:ext cx="401161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419040" progId="Equation.DSMT4">
                  <p:embed/>
                </p:oleObj>
              </mc:Choice>
              <mc:Fallback>
                <p:oleObj name="Equation" r:id="rId2" imgW="1993680" imgH="41904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060700"/>
                        <a:ext cx="401161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144518" y="2636839"/>
          <a:ext cx="4271963" cy="169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2120760" imgH="838080" progId="Equation.3">
                  <p:embed/>
                </p:oleObj>
              </mc:Choice>
              <mc:Fallback>
                <p:oleObj name="Vergelijking" r:id="rId4" imgW="2120760" imgH="83808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4518" y="2636839"/>
                        <a:ext cx="4271963" cy="169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2279576" y="4499587"/>
            <a:ext cx="7584680" cy="2199391"/>
            <a:chOff x="755576" y="4499586"/>
            <a:chExt cx="7584680" cy="2199391"/>
          </a:xfrm>
        </p:grpSpPr>
        <p:sp>
          <p:nvSpPr>
            <p:cNvPr id="8" name="TextBox 7"/>
            <p:cNvSpPr txBox="1"/>
            <p:nvPr/>
          </p:nvSpPr>
          <p:spPr>
            <a:xfrm>
              <a:off x="755576" y="4499586"/>
              <a:ext cx="7584680" cy="17543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def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func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(t, y, g, l, q, F_D,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Omega_D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):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    theta, omega = y[0], y[1]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    return [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        omega,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        -(g/l)*theta - q*omega + F_D*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np.sin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Omega_D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*t)</a:t>
              </a:r>
            </a:p>
            <a:p>
              <a:r>
                <a:rPr lang="en-US" dirty="0">
                  <a:latin typeface="Courier New" pitchFamily="49" charset="0"/>
                  <a:cs typeface="Courier New" pitchFamily="49" charset="0"/>
                </a:rPr>
                <a:t>    ]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75656" y="6237312"/>
              <a:ext cx="13885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y[0]</a:t>
              </a:r>
              <a:r>
                <a:rPr lang="en-US" sz="2400" dirty="0"/>
                <a:t> </a:t>
              </a:r>
              <a:r>
                <a:rPr lang="en-US" sz="2400" dirty="0">
                  <a:sym typeface="Symbol"/>
                </a:rPr>
                <a:t></a:t>
              </a:r>
              <a:r>
                <a:rPr lang="en-US" sz="2400" dirty="0"/>
                <a:t> </a:t>
              </a:r>
              <a:r>
                <a:rPr lang="en-US" sz="2400" i="1" dirty="0">
                  <a:sym typeface="Symbol"/>
                </a:rPr>
                <a:t></a:t>
              </a:r>
              <a:endParaRPr lang="nl-BE" sz="2400" i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19872" y="6237312"/>
              <a:ext cx="14398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y[1]</a:t>
              </a:r>
              <a:r>
                <a:rPr lang="en-US" sz="2400" dirty="0"/>
                <a:t> </a:t>
              </a:r>
              <a:r>
                <a:rPr lang="en-US" sz="2400" dirty="0">
                  <a:sym typeface="Symbol"/>
                </a:rPr>
                <a:t></a:t>
              </a:r>
              <a:r>
                <a:rPr lang="en-US" sz="2400" dirty="0"/>
                <a:t> </a:t>
              </a:r>
              <a:r>
                <a:rPr lang="en-US" sz="2400" i="1" dirty="0">
                  <a:sym typeface="Symbol"/>
                </a:rPr>
                <a:t></a:t>
              </a:r>
              <a:endParaRPr lang="nl-BE" sz="24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6138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Jacobian for equations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some methods, convergence improves by specifying Jacobian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34</a:t>
            </a:fld>
            <a:endParaRPr lang="nl-BE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33650" y="2816226"/>
          <a:ext cx="462915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2298600" imgH="660240" progId="Equation.3">
                  <p:embed/>
                </p:oleObj>
              </mc:Choice>
              <mc:Fallback>
                <p:oleObj name="Vergelijking" r:id="rId2" imgW="2298600" imgH="6602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2816226"/>
                        <a:ext cx="4629150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84232" y="2780928"/>
                <a:ext cx="1294008" cy="1185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𝜕𝜃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𝜕𝜔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𝜕𝜃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nl-BE" i="1">
                                        <a:latin typeface="Cambria Math"/>
                                        <a:ea typeface="Cambria Math"/>
                                      </a:rPr>
                                      <m:t>𝜕𝜔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2" y="2780928"/>
                <a:ext cx="1294008" cy="1185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79576" y="4581128"/>
            <a:ext cx="758468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(t, y, g, l, q, F_D,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Omega_D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return [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[0.0, 1.0],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[-g/l, -q]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]</a:t>
            </a:r>
          </a:p>
        </p:txBody>
      </p:sp>
    </p:spTree>
    <p:extLst>
      <p:ext uri="{BB962C8B-B14F-4D97-AF65-F5344CB8AC3E}">
        <p14:creationId xmlns:p14="http://schemas.microsoft.com/office/powerpoint/2010/main" val="84259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 ODEs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t0</a:t>
            </a:r>
            <a:r>
              <a:rPr lang="en-US" dirty="0"/>
              <a:t>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t_max</a:t>
            </a:r>
            <a:r>
              <a:rPr lang="en-US" dirty="0"/>
              <a:t> in steps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delta_t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35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2279576" y="2502701"/>
            <a:ext cx="7584680" cy="3693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scipy.integrate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solve_ivp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solution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solve_ivp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t_span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=(t0,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t_max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y0=(theta0, omega0),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t_eval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np.arange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(t0,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t_max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delta_t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=(g, l, q, F_D,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Omega_D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method="RK45",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not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solution.success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085184" y="4984478"/>
            <a:ext cx="3195102" cy="646331"/>
            <a:chOff x="5688563" y="2422629"/>
            <a:chExt cx="3195102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6876256" y="2422629"/>
              <a:ext cx="2007409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integration method</a:t>
              </a:r>
              <a:br>
                <a:rPr lang="en-US" dirty="0"/>
              </a:br>
              <a:r>
                <a:rPr lang="en-US" dirty="0"/>
                <a:t>RKF(4, 5)</a:t>
              </a:r>
            </a:p>
          </p:txBody>
        </p:sp>
        <p:cxnSp>
          <p:nvCxnSpPr>
            <p:cNvPr id="8" name="Straight Arrow Connector 7"/>
            <p:cNvCxnSpPr>
              <a:cxnSpLocks/>
              <a:stCxn id="6" idx="1"/>
            </p:cNvCxnSpPr>
            <p:nvPr/>
          </p:nvCxnSpPr>
          <p:spPr>
            <a:xfrm flipH="1" flipV="1">
              <a:off x="5688563" y="2422629"/>
              <a:ext cx="1187693" cy="3231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77009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processing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noise from sound file (WAV)</a:t>
            </a:r>
          </a:p>
          <a:p>
            <a:pPr lvl="1"/>
            <a:r>
              <a:rPr lang="en-US" dirty="0"/>
              <a:t>Read WAV file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Perform FFT to compute frequency spectrum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279576" y="2697804"/>
            <a:ext cx="758468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scipy.io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wavfile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sample_rate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signal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wavfile.read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wav_file_name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1584" y="4669655"/>
            <a:ext cx="758468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n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(signal)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freq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sample_rate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np.arange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(n)/n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Y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sp.fft.fft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(signal)/n</a:t>
            </a:r>
          </a:p>
        </p:txBody>
      </p:sp>
    </p:spTree>
    <p:extLst>
      <p:ext uri="{BB962C8B-B14F-4D97-AF65-F5344CB8AC3E}">
        <p14:creationId xmlns:p14="http://schemas.microsoft.com/office/powerpoint/2010/main" val="169737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signal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37</a:t>
            </a:fld>
            <a:endParaRPr lang="nl-BE"/>
          </a:p>
        </p:txBody>
      </p:sp>
      <p:pic>
        <p:nvPicPr>
          <p:cNvPr id="3074" name="Picture 2" descr="C:\Users\lucg5005\Desktop\blue_jay_ori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259136"/>
            <a:ext cx="73152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blue_jay_orig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22024" y="50733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7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highpass</a:t>
            </a:r>
            <a:r>
              <a:rPr lang="en-US" dirty="0"/>
              <a:t> filter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IIR digital filter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38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279576" y="3012275"/>
            <a:ext cx="7584680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b, 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sp.signal.iirfilter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(17, cutoff,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min_attenuation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highpass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analog=False,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='cheby2')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225880" y="2739343"/>
            <a:ext cx="1846036" cy="576982"/>
            <a:chOff x="6876256" y="2422629"/>
            <a:chExt cx="1846036" cy="576982"/>
          </a:xfrm>
        </p:grpSpPr>
        <p:sp>
          <p:nvSpPr>
            <p:cNvPr id="7" name="TextBox 6"/>
            <p:cNvSpPr txBox="1"/>
            <p:nvPr/>
          </p:nvSpPr>
          <p:spPr>
            <a:xfrm>
              <a:off x="6876256" y="2422629"/>
              <a:ext cx="181248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order of the filter</a:t>
              </a:r>
            </a:p>
          </p:txBody>
        </p:sp>
        <p:cxnSp>
          <p:nvCxnSpPr>
            <p:cNvPr id="8" name="Straight Arrow Connector 7"/>
            <p:cNvCxnSpPr>
              <a:stCxn id="7" idx="2"/>
            </p:cNvCxnSpPr>
            <p:nvPr/>
          </p:nvCxnSpPr>
          <p:spPr>
            <a:xfrm>
              <a:off x="7782498" y="2791961"/>
              <a:ext cx="939794" cy="2076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456040" y="2381045"/>
            <a:ext cx="2920800" cy="862355"/>
            <a:chOff x="6876256" y="2422629"/>
            <a:chExt cx="2920800" cy="862355"/>
          </a:xfrm>
        </p:grpSpPr>
        <p:sp>
          <p:nvSpPr>
            <p:cNvPr id="10" name="TextBox 9"/>
            <p:cNvSpPr txBox="1"/>
            <p:nvPr/>
          </p:nvSpPr>
          <p:spPr>
            <a:xfrm>
              <a:off x="6876256" y="2422629"/>
              <a:ext cx="29208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fraction of </a:t>
              </a:r>
              <a:r>
                <a:rPr lang="en-US" dirty="0" err="1"/>
                <a:t>Nyquist</a:t>
              </a:r>
              <a:r>
                <a:rPr lang="en-US" dirty="0"/>
                <a:t> frequency</a:t>
              </a:r>
            </a:p>
          </p:txBody>
        </p:sp>
        <p:cxnSp>
          <p:nvCxnSpPr>
            <p:cNvPr id="11" name="Straight Arrow Connector 10"/>
            <p:cNvCxnSpPr>
              <a:stCxn id="10" idx="2"/>
            </p:cNvCxnSpPr>
            <p:nvPr/>
          </p:nvCxnSpPr>
          <p:spPr>
            <a:xfrm flipH="1">
              <a:off x="7596336" y="2791961"/>
              <a:ext cx="740320" cy="4930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7896200" y="2942008"/>
            <a:ext cx="2237728" cy="718339"/>
            <a:chOff x="7775352" y="2422629"/>
            <a:chExt cx="2237728" cy="718339"/>
          </a:xfrm>
        </p:grpSpPr>
        <p:sp>
          <p:nvSpPr>
            <p:cNvPr id="16" name="TextBox 15"/>
            <p:cNvSpPr txBox="1"/>
            <p:nvPr/>
          </p:nvSpPr>
          <p:spPr>
            <a:xfrm>
              <a:off x="7775352" y="2422629"/>
              <a:ext cx="223772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minimum attenuation</a:t>
              </a:r>
            </a:p>
          </p:txBody>
        </p:sp>
        <p:cxnSp>
          <p:nvCxnSpPr>
            <p:cNvPr id="17" name="Straight Arrow Connector 16"/>
            <p:cNvCxnSpPr>
              <a:stCxn id="16" idx="2"/>
            </p:cNvCxnSpPr>
            <p:nvPr/>
          </p:nvCxnSpPr>
          <p:spPr>
            <a:xfrm flipH="1">
              <a:off x="8572920" y="2791961"/>
              <a:ext cx="321296" cy="3490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8350418" y="4155110"/>
            <a:ext cx="2165556" cy="369332"/>
            <a:chOff x="6550670" y="2483604"/>
            <a:chExt cx="2165556" cy="369332"/>
          </a:xfrm>
        </p:grpSpPr>
        <p:sp>
          <p:nvSpPr>
            <p:cNvPr id="21" name="TextBox 20"/>
            <p:cNvSpPr txBox="1"/>
            <p:nvPr/>
          </p:nvSpPr>
          <p:spPr>
            <a:xfrm>
              <a:off x="7320588" y="2483604"/>
              <a:ext cx="139563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IIR filter type</a:t>
              </a:r>
            </a:p>
          </p:txBody>
        </p:sp>
        <p:cxnSp>
          <p:nvCxnSpPr>
            <p:cNvPr id="22" name="Straight Arrow Connector 21"/>
            <p:cNvCxnSpPr>
              <a:stCxn id="21" idx="1"/>
            </p:cNvCxnSpPr>
            <p:nvPr/>
          </p:nvCxnSpPr>
          <p:spPr>
            <a:xfrm flipH="1">
              <a:off x="6550670" y="2668270"/>
              <a:ext cx="769918" cy="1846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8502819" y="3588338"/>
            <a:ext cx="1872207" cy="369332"/>
            <a:chOff x="6550670" y="2483604"/>
            <a:chExt cx="1872207" cy="369332"/>
          </a:xfrm>
        </p:grpSpPr>
        <p:sp>
          <p:nvSpPr>
            <p:cNvPr id="28" name="TextBox 27"/>
            <p:cNvSpPr txBox="1"/>
            <p:nvPr/>
          </p:nvSpPr>
          <p:spPr>
            <a:xfrm>
              <a:off x="7320588" y="2483604"/>
              <a:ext cx="110228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filter type</a:t>
              </a:r>
            </a:p>
          </p:txBody>
        </p:sp>
        <p:cxnSp>
          <p:nvCxnSpPr>
            <p:cNvPr id="29" name="Straight Arrow Connector 28"/>
            <p:cNvCxnSpPr>
              <a:stCxn id="28" idx="1"/>
            </p:cNvCxnSpPr>
            <p:nvPr/>
          </p:nvCxnSpPr>
          <p:spPr>
            <a:xfrm flipH="1">
              <a:off x="6550670" y="2668270"/>
              <a:ext cx="769918" cy="1846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386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signal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filter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Write signal to WAV file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279576" y="2350489"/>
            <a:ext cx="7584680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base = np.uint8(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np.mean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(signal))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filtered_signal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sp.signal.filtfilt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(b, a, signal)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wav_signal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base +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filtered_signal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=np.uint8)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9576" y="4909486"/>
            <a:ext cx="758468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wavfile.write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filtered_wav_file_name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sample_rate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       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wav_signal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79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Filtered signal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40</a:t>
            </a:fld>
            <a:endParaRPr lang="nl-BE"/>
          </a:p>
        </p:txBody>
      </p:sp>
      <p:pic>
        <p:nvPicPr>
          <p:cNvPr id="4098" name="Picture 2" descr="C:\Users\lucg5005\Desktop\blue_jay_filter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268760"/>
            <a:ext cx="73152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blue_jay_filtered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22024" y="51214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7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Matplotlib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https://github.com/gjbex/Scientific-Python/tree/master/source-code/matplotlib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94517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some </a:t>
            </a:r>
            <a:r>
              <a:rPr lang="en-US" dirty="0" err="1"/>
              <a:t>matplotlib</a:t>
            </a:r>
            <a:r>
              <a:rPr lang="en-US" dirty="0"/>
              <a:t>…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Rich Python plotting library</a:t>
            </a:r>
          </a:p>
          <a:p>
            <a:pPr lvl="1"/>
            <a:r>
              <a:rPr lang="en-US" dirty="0"/>
              <a:t>scatter plot</a:t>
            </a:r>
          </a:p>
          <a:p>
            <a:pPr lvl="1"/>
            <a:r>
              <a:rPr lang="en-US" dirty="0"/>
              <a:t>line plot</a:t>
            </a:r>
          </a:p>
          <a:p>
            <a:pPr lvl="1"/>
            <a:r>
              <a:rPr lang="en-US" dirty="0"/>
              <a:t>bar plot/histogram</a:t>
            </a:r>
          </a:p>
          <a:p>
            <a:pPr lvl="1"/>
            <a:r>
              <a:rPr lang="en-US" dirty="0" err="1"/>
              <a:t>heatmap</a:t>
            </a:r>
            <a:endParaRPr lang="en-US" dirty="0"/>
          </a:p>
          <a:p>
            <a:pPr lvl="1"/>
            <a:r>
              <a:rPr lang="en-US" dirty="0"/>
              <a:t>3D surface plot</a:t>
            </a:r>
          </a:p>
          <a:p>
            <a:r>
              <a:rPr lang="en-US" dirty="0"/>
              <a:t>Highly customizable plots</a:t>
            </a:r>
          </a:p>
          <a:p>
            <a:pPr lvl="1"/>
            <a:r>
              <a:rPr lang="en-US" dirty="0" err="1"/>
              <a:t>LaTeX</a:t>
            </a:r>
            <a:r>
              <a:rPr lang="en-US" dirty="0"/>
              <a:t> labels/annotation</a:t>
            </a:r>
          </a:p>
          <a:p>
            <a:r>
              <a:rPr lang="en-US" dirty="0"/>
              <a:t>Plot to screen, various file formats</a:t>
            </a:r>
            <a:endParaRPr lang="nl-BE" dirty="0"/>
          </a:p>
        </p:txBody>
      </p:sp>
      <p:sp>
        <p:nvSpPr>
          <p:cNvPr id="4" name="Rectangle 3"/>
          <p:cNvSpPr/>
          <p:nvPr/>
        </p:nvSpPr>
        <p:spPr>
          <a:xfrm>
            <a:off x="3976884" y="5915923"/>
            <a:ext cx="564750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nl-BE" dirty="0" err="1">
                <a:cs typeface="Courier New" panose="02070309020205020404" pitchFamily="49" charset="0"/>
              </a:rPr>
              <a:t>Convention</a:t>
            </a:r>
            <a:r>
              <a:rPr lang="nl-BE" dirty="0">
                <a:cs typeface="Courier New" panose="02070309020205020404" pitchFamily="49" charset="0"/>
              </a:rPr>
              <a:t>: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84032" y="2564905"/>
            <a:ext cx="316835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Lots of features, this barely scratches the surface.</a:t>
            </a:r>
            <a:endParaRPr lang="nl-BE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655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 plot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Data: lists or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Create figure/axis, add plot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Show plot</a:t>
            </a:r>
          </a:p>
          <a:p>
            <a:endParaRPr lang="en-US" dirty="0"/>
          </a:p>
          <a:p>
            <a:r>
              <a:rPr lang="en-US" dirty="0"/>
              <a:t>Save plot</a:t>
            </a:r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1708819" y="2538461"/>
            <a:ext cx="5285421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np.linspace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(0.0, 20.0, 500)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(-mu*x)*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(2.0*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8819" y="3820590"/>
            <a:ext cx="4197927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figure, axis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plt.subplots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7" t="6409" r="7990" b="5313"/>
          <a:stretch/>
        </p:blipFill>
        <p:spPr>
          <a:xfrm>
            <a:off x="6434578" y="3284984"/>
            <a:ext cx="4197927" cy="3241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8819" y="5102719"/>
            <a:ext cx="419792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08818" y="6176963"/>
            <a:ext cx="419792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figure.savefig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9614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uiExpand="1" animBg="1"/>
      <p:bldP spid="8" grpId="0" uiExpand="1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labels, annotation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label for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axis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Add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1769" y="2332361"/>
            <a:ext cx="542327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axis.set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r'$t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$',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=r'$\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(t)$',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770" y="4436523"/>
            <a:ext cx="542328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(r'$\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frac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{d^2 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}{dt^2} = ' +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r'- 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frac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{g}{l} 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' +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r'- \mu 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frac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{d\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}{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}$')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axis.text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(10.0, 0.65,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fontsize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=18)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7" t="6842" r="7674"/>
          <a:stretch/>
        </p:blipFill>
        <p:spPr>
          <a:xfrm>
            <a:off x="7446510" y="3479706"/>
            <a:ext cx="3718009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567609" y="6089792"/>
            <a:ext cx="385131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err="1"/>
              <a:t>LaTeX</a:t>
            </a:r>
            <a:r>
              <a:rPr lang="en-US" sz="2800" dirty="0"/>
              <a:t> notation, rendered</a:t>
            </a:r>
            <a:endParaRPr lang="nl-BE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83078" y="2084656"/>
            <a:ext cx="290541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construct plot</a:t>
            </a:r>
          </a:p>
          <a:p>
            <a:pPr algn="ctr"/>
            <a:r>
              <a:rPr lang="en-US" sz="2400" dirty="0">
                <a:sym typeface="Symbol"/>
              </a:rPr>
              <a:t></a:t>
            </a:r>
            <a:endParaRPr lang="en-US" sz="2400" dirty="0"/>
          </a:p>
          <a:p>
            <a:pPr algn="ctr"/>
            <a:r>
              <a:rPr lang="en-US" sz="2400" dirty="0"/>
              <a:t>gradually enrich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nl-B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726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9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functions on line plot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to plot, line style, color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359474" y="2432310"/>
            <a:ext cx="3631121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y_plus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(-mu*x)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-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(-mu*x)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9475" y="3995042"/>
            <a:ext cx="3631122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axis.plot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(x,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y_plus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':',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=0.8,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='red',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=0.9)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axis.plot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(x,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':',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=0.8,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='red',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=0.9)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" t="7955" r="8116" b="2295"/>
          <a:stretch/>
        </p:blipFill>
        <p:spPr>
          <a:xfrm>
            <a:off x="5990214" y="2064122"/>
            <a:ext cx="4642291" cy="349321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Group 13"/>
          <p:cNvGrpSpPr/>
          <p:nvPr/>
        </p:nvGrpSpPr>
        <p:grpSpPr>
          <a:xfrm>
            <a:off x="1285011" y="5332459"/>
            <a:ext cx="1985469" cy="1408222"/>
            <a:chOff x="611560" y="4725144"/>
            <a:chExt cx="1985469" cy="1408222"/>
          </a:xfrm>
        </p:grpSpPr>
        <p:sp>
          <p:nvSpPr>
            <p:cNvPr id="7" name="Oval 6"/>
            <p:cNvSpPr/>
            <p:nvPr/>
          </p:nvSpPr>
          <p:spPr>
            <a:xfrm>
              <a:off x="2123728" y="4725144"/>
              <a:ext cx="473301" cy="36004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11560" y="5733256"/>
              <a:ext cx="1088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line type</a:t>
              </a:r>
              <a:endParaRPr lang="nl-BE" sz="2000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Straight Arrow Connector 9"/>
            <p:cNvCxnSpPr>
              <a:stCxn id="8" idx="3"/>
              <a:endCxn id="7" idx="3"/>
            </p:cNvCxnSpPr>
            <p:nvPr/>
          </p:nvCxnSpPr>
          <p:spPr>
            <a:xfrm flipV="1">
              <a:off x="1700320" y="5032457"/>
              <a:ext cx="492721" cy="90085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701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line plot</a:t>
            </a:r>
            <a:endParaRPr lang="nl-BE" dirty="0"/>
          </a:p>
        </p:txBody>
      </p:sp>
      <p:grpSp>
        <p:nvGrpSpPr>
          <p:cNvPr id="7" name="Group 6"/>
          <p:cNvGrpSpPr/>
          <p:nvPr/>
        </p:nvGrpSpPr>
        <p:grpSpPr>
          <a:xfrm>
            <a:off x="2687782" y="1495176"/>
            <a:ext cx="6776376" cy="5246193"/>
            <a:chOff x="1163782" y="1495175"/>
            <a:chExt cx="6776376" cy="524619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1" t="7550" r="7834" b="1938"/>
            <a:stretch/>
          </p:blipFill>
          <p:spPr>
            <a:xfrm>
              <a:off x="1163782" y="1608796"/>
              <a:ext cx="6776376" cy="5132572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635896" y="1495175"/>
              <a:ext cx="2808312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9622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Plot histogram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172347" y="2368807"/>
            <a:ext cx="445827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np.loadtxt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('data.txt')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bins = 50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2347" y="3887558"/>
            <a:ext cx="4320413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plt.subplots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axis.hist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bins,density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=True,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='red',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=0.6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axis.set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='$x$',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='$P(x)$',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" t="6624" r="6619" b="2644"/>
          <a:stretch/>
        </p:blipFill>
        <p:spPr>
          <a:xfrm>
            <a:off x="6679801" y="3284984"/>
            <a:ext cx="4177147" cy="309794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/>
          <p:cNvGrpSpPr/>
          <p:nvPr/>
        </p:nvGrpSpPr>
        <p:grpSpPr>
          <a:xfrm>
            <a:off x="7248128" y="1484785"/>
            <a:ext cx="2808312" cy="1384995"/>
            <a:chOff x="6012160" y="1556792"/>
            <a:chExt cx="2808312" cy="1384995"/>
          </a:xfrm>
        </p:grpSpPr>
        <p:sp>
          <p:nvSpPr>
            <p:cNvPr id="7" name="TextBox 6"/>
            <p:cNvSpPr txBox="1"/>
            <p:nvPr/>
          </p:nvSpPr>
          <p:spPr>
            <a:xfrm>
              <a:off x="6012160" y="1556792"/>
              <a:ext cx="2808312" cy="13849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13.3146868758</a:t>
              </a:r>
            </a:p>
            <a:p>
              <a:r>
                <a:rPr lang="nl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9.66243828428</a:t>
              </a:r>
            </a:p>
            <a:p>
              <a:r>
                <a:rPr lang="nl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6.44936354431</a:t>
              </a:r>
            </a:p>
            <a:p>
              <a:r>
                <a:rPr lang="nl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2.81183151337</a:t>
              </a:r>
            </a:p>
            <a:p>
              <a:r>
                <a:rPr lang="nl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9.55644862073</a:t>
              </a:r>
            </a:p>
            <a:p>
              <a:r>
                <a:rPr lang="nl-BE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84470" y="2594703"/>
              <a:ext cx="82561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data.txt</a:t>
              </a:r>
              <a:endParaRPr lang="nl-BE" sz="1600" dirty="0"/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2199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plot on histogram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Reminder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422907" y="2353989"/>
            <a:ext cx="5561138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 = np.linspace(floor(np.min(values)),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ceil(np.max(values)),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200)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y = sp.stats.gamma.pdf(x, 2,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=3.0)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y, linewidth=2.0,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color='black')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8347" y="4925499"/>
            <a:ext cx="559569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np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scipy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" t="7008" r="7813" b="1704"/>
          <a:stretch/>
        </p:blipFill>
        <p:spPr>
          <a:xfrm>
            <a:off x="7236811" y="2670920"/>
            <a:ext cx="4701696" cy="35857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267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map data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to plot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760884" y="2371118"/>
            <a:ext cx="865559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f(x, y, x0=0.0,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=1.0,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=0.5):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r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((x - x0)**2 + y**2)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beta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*r)*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(2.0*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6610" y="3971813"/>
            <a:ext cx="865987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np.linspace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points)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np.linspace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points)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X, Y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np.meshgrid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z = f(X, Y, x0=x0_1, freq=f_1) + f(X, Y, x0=x0_2, freq=f_2)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6705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map plot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map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760884" y="2357300"/>
            <a:ext cx="7215437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plt.subplots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axis.imshow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axis.grid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6" t="6818" r="16761" b="3788"/>
          <a:stretch/>
        </p:blipFill>
        <p:spPr>
          <a:xfrm>
            <a:off x="7327043" y="3073198"/>
            <a:ext cx="3064311" cy="31037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279577" y="3861049"/>
            <a:ext cx="317984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Explore color maps,</a:t>
            </a:r>
            <a:br>
              <a:rPr lang="en-US" sz="2800" dirty="0"/>
            </a:br>
            <a:r>
              <a:rPr lang="en-US" sz="2800" dirty="0"/>
              <a:t>helps interpret data!</a:t>
            </a:r>
          </a:p>
          <a:p>
            <a:r>
              <a:rPr lang="en-US" sz="2800" dirty="0"/>
              <a:t>Brewer schemes</a:t>
            </a:r>
            <a:endParaRPr lang="nl-BE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4752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surface plot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</a:t>
            </a:r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1612868" y="2431633"/>
            <a:ext cx="8456161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plt.subplots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subplot_kw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={'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projection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': '3d'})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axes.set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xlim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ylim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zlim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z_min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z_max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surface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axes.plot_surface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X, Y,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coolwarm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figure.colorbar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surface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51</a:t>
            </a:fld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949217-192E-FD38-D73F-EB1AA5DF4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539" y="3396366"/>
            <a:ext cx="3887378" cy="291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3B84-3E49-8908-D1BF-BBA5DCF5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plots data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13796-161C-F585-4D6F-B9E7B3BF35AF}"/>
              </a:ext>
            </a:extLst>
          </p:cNvPr>
          <p:cNvSpPr txBox="1"/>
          <p:nvPr/>
        </p:nvSpPr>
        <p:spPr>
          <a:xfrm>
            <a:off x="838200" y="2012103"/>
            <a:ext cx="9696885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t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np.linspace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(0.0, 20.0*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1001)</a:t>
            </a:r>
          </a:p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μ_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([0.0, 0.1, 0.3])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np.stack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(2.0*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*t)*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μ_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[:, None]*t),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(2.0*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*t)*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μ_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[:, None]*t) + \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0.1*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((2.0*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+ 0.7)*t)*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(-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μ_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[:, None]*t),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D7900B-D8ED-6C0B-3802-23D448CC23C5}"/>
              </a:ext>
            </a:extLst>
          </p:cNvPr>
          <p:cNvGrpSpPr/>
          <p:nvPr/>
        </p:nvGrpSpPr>
        <p:grpSpPr>
          <a:xfrm>
            <a:off x="758738" y="3856959"/>
            <a:ext cx="2541593" cy="1845947"/>
            <a:chOff x="6242712" y="2651240"/>
            <a:chExt cx="2541593" cy="184594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073992-3D23-E58E-D9E6-38022B21DB88}"/>
                </a:ext>
              </a:extLst>
            </p:cNvPr>
            <p:cNvSpPr txBox="1"/>
            <p:nvPr/>
          </p:nvSpPr>
          <p:spPr>
            <a:xfrm>
              <a:off x="6242712" y="3296858"/>
              <a:ext cx="254159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create 2 × 3 × 1001 array,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axis 0: functions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axis 1: </a:t>
              </a:r>
              <a:r>
                <a:rPr lang="en-US" dirty="0">
                  <a:sym typeface="Symbol" panose="05050102010706020507" pitchFamily="18" charset="2"/>
                </a:rPr>
                <a:t></a:t>
              </a:r>
              <a:r>
                <a:rPr lang="en-US" dirty="0"/>
                <a:t>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axis 2: time values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34F1159-F349-356B-A7CF-218A7F562DAE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6728818" y="2651240"/>
              <a:ext cx="784691" cy="6456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C48E66-9795-0E7D-2885-DEEA914CB9DA}"/>
              </a:ext>
            </a:extLst>
          </p:cNvPr>
          <p:cNvGrpSpPr/>
          <p:nvPr/>
        </p:nvGrpSpPr>
        <p:grpSpPr>
          <a:xfrm>
            <a:off x="8130713" y="3835158"/>
            <a:ext cx="1937966" cy="1314107"/>
            <a:chOff x="6242712" y="2352083"/>
            <a:chExt cx="1937966" cy="13141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CA557A-9583-16CE-6E83-F2DB71BCAB4D}"/>
                </a:ext>
              </a:extLst>
            </p:cNvPr>
            <p:cNvSpPr txBox="1"/>
            <p:nvPr/>
          </p:nvSpPr>
          <p:spPr>
            <a:xfrm>
              <a:off x="6242712" y="3296858"/>
              <a:ext cx="1937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broadcast </a:t>
              </a:r>
              <a:r>
                <a:rPr lang="en-US" dirty="0">
                  <a:sym typeface="Symbol" panose="05050102010706020507" pitchFamily="18" charset="2"/>
                </a:rPr>
                <a:t></a:t>
              </a:r>
              <a:r>
                <a:rPr lang="en-US" dirty="0"/>
                <a:t> values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4635655-6937-6EF9-E96A-C9950EA7A51A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7211695" y="2352083"/>
              <a:ext cx="727592" cy="9447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2B9FD3E-2AC3-E7C5-83D9-80205D504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A209D72-2E9D-49B0-8977-41DCCC66C0BB}" type="slidenum">
              <a:rPr lang="nl-BE" smtClean="0"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096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74C7-E054-2306-1C82-F84C7A08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plots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30DC8-996B-77AD-8665-6E3BD03EB0D2}"/>
              </a:ext>
            </a:extLst>
          </p:cNvPr>
          <p:cNvSpPr txBox="1"/>
          <p:nvPr/>
        </p:nvSpPr>
        <p:spPr>
          <a:xfrm>
            <a:off x="1262238" y="1586802"/>
            <a:ext cx="4871847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plt.subplots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=3,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=(10, 3),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layout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constrained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np.ndindex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axes.shape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].plot(t, Y[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3D5B3-2FF0-7521-CF28-5D18B3763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426" y="4002715"/>
            <a:ext cx="7251569" cy="217547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8CCB882-5978-EA3D-AE33-D7F7C9D1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A209D72-2E9D-49B0-8977-41DCCC66C0BB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99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ColorBrewer</a:t>
            </a:r>
            <a:r>
              <a:rPr lang="en-US" dirty="0"/>
              <a:t> 2.0: advice on choosing appropriate color maps</a:t>
            </a:r>
            <a:br>
              <a:rPr lang="en-US" sz="2400" dirty="0"/>
            </a:br>
            <a:r>
              <a:rPr lang="en-US" dirty="0">
                <a:hlinkClick r:id="rId2"/>
              </a:rPr>
              <a:t>http://colorbrewer2.org/</a:t>
            </a:r>
            <a:r>
              <a:rPr lang="en-US" dirty="0"/>
              <a:t>  </a:t>
            </a:r>
          </a:p>
          <a:p>
            <a:r>
              <a:rPr lang="en-US" dirty="0" err="1"/>
              <a:t>Coblis</a:t>
            </a:r>
            <a:r>
              <a:rPr lang="en-US" dirty="0"/>
              <a:t>: color blindness simulator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https://www.color-blindness.com/coblis-color-blindness-simulator/</a:t>
            </a:r>
            <a:r>
              <a:rPr lang="en-US" sz="2400" dirty="0"/>
              <a:t> </a:t>
            </a:r>
          </a:p>
          <a:p>
            <a:r>
              <a:rPr lang="en-US" dirty="0"/>
              <a:t>Overview of data visualization types &amp; libraries for Python</a:t>
            </a:r>
            <a:br>
              <a:rPr lang="en-US" dirty="0"/>
            </a:br>
            <a:r>
              <a:rPr lang="en-US" dirty="0">
                <a:hlinkClick r:id="rId4"/>
              </a:rPr>
              <a:t>https://python-graph-gallery.com/</a:t>
            </a:r>
            <a:r>
              <a:rPr 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74110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Sympy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https://github.com/gjbex/Scientific-Python/tree/master/source-code/sympy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85625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sympy</a:t>
            </a:r>
            <a:r>
              <a:rPr lang="en-US" dirty="0"/>
              <a:t>: library for computer algebra</a:t>
            </a:r>
          </a:p>
          <a:p>
            <a:pPr lvl="1"/>
            <a:r>
              <a:rPr lang="en-US" dirty="0"/>
              <a:t>symbolic computations</a:t>
            </a:r>
          </a:p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linear algebra</a:t>
            </a:r>
          </a:p>
          <a:p>
            <a:pPr lvl="2"/>
            <a:r>
              <a:rPr lang="en-US" dirty="0"/>
              <a:t>vectors, matrices, tensors</a:t>
            </a:r>
          </a:p>
          <a:p>
            <a:pPr lvl="2"/>
            <a:r>
              <a:rPr lang="en-US" dirty="0"/>
              <a:t>solving linear sets of equations</a:t>
            </a:r>
          </a:p>
          <a:p>
            <a:pPr lvl="2"/>
            <a:r>
              <a:rPr lang="en-US" dirty="0"/>
              <a:t>eigenvalues/eigenvectors, SVD</a:t>
            </a:r>
          </a:p>
          <a:p>
            <a:pPr lvl="2"/>
            <a:r>
              <a:rPr lang="en-US" dirty="0"/>
              <a:t>…</a:t>
            </a:r>
          </a:p>
          <a:p>
            <a:pPr lvl="1"/>
            <a:r>
              <a:rPr lang="en-US" dirty="0"/>
              <a:t>calculus</a:t>
            </a:r>
          </a:p>
          <a:p>
            <a:pPr lvl="2"/>
            <a:r>
              <a:rPr lang="en-US" dirty="0"/>
              <a:t>computing derivatives, series expansions</a:t>
            </a:r>
          </a:p>
          <a:p>
            <a:pPr lvl="2"/>
            <a:r>
              <a:rPr lang="en-US" dirty="0"/>
              <a:t>limits</a:t>
            </a:r>
          </a:p>
          <a:p>
            <a:pPr lvl="2"/>
            <a:r>
              <a:rPr lang="en-US" dirty="0"/>
              <a:t>integrals (indeterminate/determinate)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788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multiple symbols</a:t>
            </a:r>
          </a:p>
          <a:p>
            <a:endParaRPr lang="en-US" dirty="0"/>
          </a:p>
          <a:p>
            <a:r>
              <a:rPr lang="en-US" dirty="0"/>
              <a:t>Symbol with assumptions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real</a:t>
            </a:r>
          </a:p>
          <a:p>
            <a:pPr lvl="1"/>
            <a:r>
              <a:rPr lang="en-US" dirty="0"/>
              <a:t>rational</a:t>
            </a:r>
          </a:p>
          <a:p>
            <a:pPr lvl="1"/>
            <a:r>
              <a:rPr lang="en-US" dirty="0"/>
              <a:t>integer</a:t>
            </a:r>
          </a:p>
          <a:p>
            <a:pPr lvl="1"/>
            <a:r>
              <a:rPr lang="en-US" dirty="0"/>
              <a:t>positive/negative</a:t>
            </a:r>
          </a:p>
          <a:p>
            <a:r>
              <a:rPr lang="en-US" dirty="0"/>
              <a:t>Matrices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57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650830" y="2324814"/>
            <a:ext cx="69397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a, b, c, x = sympy.symbols('a b c x')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830" y="1411050"/>
            <a:ext cx="187220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sympy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50830" y="3293091"/>
            <a:ext cx="69397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y = sympy.Symbol('y', positive=True)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830" y="5787705"/>
            <a:ext cx="69397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A = sympy.Matrix([[x**2, x*y], [-x*y, y**2]])</a:t>
            </a:r>
          </a:p>
        </p:txBody>
      </p:sp>
    </p:spTree>
    <p:extLst>
      <p:ext uri="{BB962C8B-B14F-4D97-AF65-F5344CB8AC3E}">
        <p14:creationId xmlns:p14="http://schemas.microsoft.com/office/powerpoint/2010/main" val="235257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58</a:t>
            </a:fld>
            <a:endParaRPr lang="nl-BE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59697" y="1529673"/>
          <a:ext cx="2808311" cy="58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203040" progId="Equation.3">
                  <p:embed/>
                </p:oleObj>
              </mc:Choice>
              <mc:Fallback>
                <p:oleObj name="Equation" r:id="rId2" imgW="977760" imgH="20304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59697" y="1529673"/>
                        <a:ext cx="2808311" cy="58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96640" y="2339588"/>
            <a:ext cx="69397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sympy.solve(a*x**2 + b*x + c, x)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287688" y="2854678"/>
            <a:ext cx="6048672" cy="646331"/>
            <a:chOff x="1763688" y="2967335"/>
            <a:chExt cx="6048672" cy="646331"/>
          </a:xfrm>
          <a:solidFill>
            <a:schemeClr val="bg1">
              <a:lumMod val="85000"/>
            </a:schemeClr>
          </a:solidFill>
        </p:grpSpPr>
        <p:sp>
          <p:nvSpPr>
            <p:cNvPr id="8" name="TextBox 7"/>
            <p:cNvSpPr txBox="1"/>
            <p:nvPr/>
          </p:nvSpPr>
          <p:spPr>
            <a:xfrm>
              <a:off x="2371643" y="2967335"/>
              <a:ext cx="5440717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[ (-b +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(-4*a*c + b**2))/(2*a),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-(b +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(-4*a*c + b**2))/(2*a) ]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503712" y="3907866"/>
          <a:ext cx="153193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177480" progId="Equation.3">
                  <p:embed/>
                </p:oleObj>
              </mc:Choice>
              <mc:Fallback>
                <p:oleObj name="Equation" r:id="rId4" imgW="533160" imgH="17748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3712" y="3907866"/>
                        <a:ext cx="1531938" cy="50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396639" y="4604936"/>
            <a:ext cx="693972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A = sympy.Matrix([[a, b], [c, d]])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 = sympy.Matrix([x, y])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B = sympy.Matrix([1, 0])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sympy.solve(A*X - B, X)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300055" y="5985560"/>
            <a:ext cx="6036304" cy="646331"/>
            <a:chOff x="1776055" y="5985559"/>
            <a:chExt cx="6036304" cy="646331"/>
          </a:xfrm>
          <a:solidFill>
            <a:schemeClr val="bg1">
              <a:lumMod val="85000"/>
            </a:schemeClr>
          </a:solidFill>
        </p:grpSpPr>
        <p:sp>
          <p:nvSpPr>
            <p:cNvPr id="13" name="TextBox 12"/>
            <p:cNvSpPr txBox="1"/>
            <p:nvPr/>
          </p:nvSpPr>
          <p:spPr>
            <a:xfrm>
              <a:off x="2371642" y="5985559"/>
              <a:ext cx="5440717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x:  d/(a*d - b*c),</a:t>
              </a:r>
            </a:p>
            <a:p>
              <a:r>
                <a:rPr lang="es-E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y: -c/(a*d - b*c) }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776055" y="6301843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55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Eigenvalues, eigenvectors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59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396640" y="2339588"/>
            <a:ext cx="780789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eigen = A.eigenvects()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402904" y="2986785"/>
            <a:ext cx="7807896" cy="1384995"/>
            <a:chOff x="1763688" y="2967335"/>
            <a:chExt cx="8229600" cy="1384995"/>
          </a:xfrm>
          <a:solidFill>
            <a:schemeClr val="bg1">
              <a:lumMod val="85000"/>
            </a:schemeClr>
          </a:solidFill>
        </p:grpSpPr>
        <p:sp>
          <p:nvSpPr>
            <p:cNvPr id="16" name="TextBox 15"/>
            <p:cNvSpPr txBox="1"/>
            <p:nvPr/>
          </p:nvSpPr>
          <p:spPr>
            <a:xfrm>
              <a:off x="2371643" y="2967335"/>
              <a:ext cx="7621645" cy="13849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[(a/2 + d/2 - 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(a**2 - 2*a*d + 4*b*c + d**2)/2, 1, [Matrix([</a:t>
              </a: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[-b/(a/2 - d/2 + 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(a**2 - 2*a*d + 4*b*c + d**2)/2)],</a:t>
              </a: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[                                                   1]])]),</a:t>
              </a: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(a/2 + d/2 + 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(a**2 - 2*a*d + 4*b*c + d**2)/2, 1, [Matrix([</a:t>
              </a: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[-b/(a/2 - d/2 - </a:t>
              </a:r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sqrt</a:t>
              </a:r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(a**2 - 2*a*d + 4*b*c + d**2)/2)],</a:t>
              </a:r>
            </a:p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[                                                   1]])])]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8400256" y="1402360"/>
            <a:ext cx="1593070" cy="1900476"/>
            <a:chOff x="8460432" y="3122171"/>
            <a:chExt cx="1593070" cy="1900476"/>
          </a:xfrm>
        </p:grpSpPr>
        <p:sp>
          <p:nvSpPr>
            <p:cNvPr id="9" name="Oval 8"/>
            <p:cNvSpPr/>
            <p:nvPr/>
          </p:nvSpPr>
          <p:spPr>
            <a:xfrm>
              <a:off x="8460432" y="4659089"/>
              <a:ext cx="360040" cy="363558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820472" y="3122171"/>
              <a:ext cx="1233030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multiplicity</a:t>
              </a:r>
            </a:p>
          </p:txBody>
        </p:sp>
        <p:cxnSp>
          <p:nvCxnSpPr>
            <p:cNvPr id="12" name="Straight Arrow Connector 11"/>
            <p:cNvCxnSpPr>
              <a:stCxn id="10" idx="2"/>
              <a:endCxn id="9" idx="0"/>
            </p:cNvCxnSpPr>
            <p:nvPr/>
          </p:nvCxnSpPr>
          <p:spPr>
            <a:xfrm flipH="1">
              <a:off x="8640452" y="3491503"/>
              <a:ext cx="796535" cy="1167586"/>
            </a:xfrm>
            <a:prstGeom prst="straightConnector1">
              <a:avLst/>
            </a:prstGeom>
            <a:ln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2396640" y="4577818"/>
            <a:ext cx="780789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v1, v2 = eigen[0][2][0], eigen[1][2][0]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sympy.simplify(v1.T*v2)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2396640" y="5517233"/>
            <a:ext cx="7807896" cy="307777"/>
            <a:chOff x="1763688" y="3105260"/>
            <a:chExt cx="8229600" cy="307777"/>
          </a:xfrm>
          <a:solidFill>
            <a:schemeClr val="bg1">
              <a:lumMod val="85000"/>
            </a:schemeClr>
          </a:solidFill>
        </p:grpSpPr>
        <p:sp>
          <p:nvSpPr>
            <p:cNvPr id="23" name="TextBox 22"/>
            <p:cNvSpPr txBox="1"/>
            <p:nvPr/>
          </p:nvSpPr>
          <p:spPr>
            <a:xfrm>
              <a:off x="2371643" y="3105260"/>
              <a:ext cx="7621645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Matrix([[(-b + c)/c]])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3791744" y="6021288"/>
            <a:ext cx="44660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/>
              <a:t> is symmetric, eigenvectors are orthogonal</a:t>
            </a:r>
          </a:p>
        </p:txBody>
      </p:sp>
    </p:spTree>
    <p:extLst>
      <p:ext uri="{BB962C8B-B14F-4D97-AF65-F5344CB8AC3E}">
        <p14:creationId xmlns:p14="http://schemas.microsoft.com/office/powerpoint/2010/main" val="345501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function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Derivative with respect to </a:t>
            </a:r>
            <a:r>
              <a:rPr lang="en-US" i="1" dirty="0"/>
              <a:t>x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Derivative with respect to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60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2409635" y="2352591"/>
            <a:ext cx="693972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def f(x, y):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a*x**2 + b*x*y + c*y**2 +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006" y="3857176"/>
            <a:ext cx="697234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sympy.diff(f(x, y), x)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96640" y="4431500"/>
            <a:ext cx="6952714" cy="307777"/>
            <a:chOff x="1763688" y="3105260"/>
            <a:chExt cx="8268402" cy="307777"/>
          </a:xfrm>
          <a:solidFill>
            <a:schemeClr val="bg1">
              <a:lumMod val="85000"/>
            </a:schemeClr>
          </a:solidFill>
        </p:grpSpPr>
        <p:sp>
          <p:nvSpPr>
            <p:cNvPr id="8" name="TextBox 7"/>
            <p:cNvSpPr txBox="1"/>
            <p:nvPr/>
          </p:nvSpPr>
          <p:spPr>
            <a:xfrm>
              <a:off x="2371642" y="3105260"/>
              <a:ext cx="7660448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2*a*x + b*y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415122" y="5419132"/>
            <a:ext cx="693423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sympy.diff(f(x, y), x, y)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434755" y="6018373"/>
            <a:ext cx="6920086" cy="307777"/>
            <a:chOff x="1763688" y="3105260"/>
            <a:chExt cx="8229600" cy="307777"/>
          </a:xfrm>
          <a:solidFill>
            <a:schemeClr val="bg1">
              <a:lumMod val="85000"/>
            </a:schemeClr>
          </a:solidFill>
        </p:grpSpPr>
        <p:sp>
          <p:nvSpPr>
            <p:cNvPr id="12" name="TextBox 11"/>
            <p:cNvSpPr txBox="1"/>
            <p:nvPr/>
          </p:nvSpPr>
          <p:spPr>
            <a:xfrm>
              <a:off x="2371643" y="3105260"/>
              <a:ext cx="7621645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115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 animBg="1"/>
      <p:bldP spid="5" grpId="0" animBg="1"/>
      <p:bldP spid="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Indefinite integral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Definite integral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Multiple integrals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409635" y="2277778"/>
            <a:ext cx="69397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sympy.integrate(f(x, y), x)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96640" y="2830807"/>
            <a:ext cx="6952714" cy="307777"/>
            <a:chOff x="1763688" y="3105260"/>
            <a:chExt cx="8268402" cy="307777"/>
          </a:xfrm>
          <a:solidFill>
            <a:schemeClr val="bg1">
              <a:lumMod val="85000"/>
            </a:schemeClr>
          </a:solidFill>
        </p:grpSpPr>
        <p:sp>
          <p:nvSpPr>
            <p:cNvPr id="7" name="TextBox 6"/>
            <p:cNvSpPr txBox="1"/>
            <p:nvPr/>
          </p:nvSpPr>
          <p:spPr>
            <a:xfrm>
              <a:off x="2371642" y="3105260"/>
              <a:ext cx="7660448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a*x**3/3 + b*x**2*y/2 + x*(c*y**2 + d)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409635" y="3826651"/>
            <a:ext cx="693972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from sympy import exp, sqrt, pi, oo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sympy.integrate(exp(-x**2/2)/sqrt(2*pi),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(x, -oo, oo))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96640" y="4932544"/>
            <a:ext cx="6952714" cy="307777"/>
            <a:chOff x="1763688" y="3105260"/>
            <a:chExt cx="8268402" cy="307777"/>
          </a:xfrm>
          <a:solidFill>
            <a:schemeClr val="bg1">
              <a:lumMod val="85000"/>
            </a:schemeClr>
          </a:solidFill>
        </p:grpSpPr>
        <p:sp>
          <p:nvSpPr>
            <p:cNvPr id="11" name="TextBox 10"/>
            <p:cNvSpPr txBox="1"/>
            <p:nvPr/>
          </p:nvSpPr>
          <p:spPr>
            <a:xfrm>
              <a:off x="2371642" y="3105260"/>
              <a:ext cx="7660448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424668" y="5834654"/>
            <a:ext cx="69397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sympy.integrate(f(x, y), (x, 0, 1), (y, 0, 2))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411673" y="6387683"/>
            <a:ext cx="6952714" cy="307777"/>
            <a:chOff x="1763688" y="3105260"/>
            <a:chExt cx="8268402" cy="307777"/>
          </a:xfrm>
          <a:solidFill>
            <a:schemeClr val="bg1">
              <a:lumMod val="85000"/>
            </a:schemeClr>
          </a:solidFill>
        </p:grpSpPr>
        <p:sp>
          <p:nvSpPr>
            <p:cNvPr id="15" name="TextBox 14"/>
            <p:cNvSpPr txBox="1"/>
            <p:nvPr/>
          </p:nvSpPr>
          <p:spPr>
            <a:xfrm>
              <a:off x="2371642" y="3105260"/>
              <a:ext cx="7660448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2*a/3 + b + 8*c/3 + 2*d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707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and series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/>
              <a:t>Series expansion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62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409636" y="2227900"/>
            <a:ext cx="519853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sympy.limit(sin(x)/x, x, 0)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96640" y="2780929"/>
            <a:ext cx="5211528" cy="307777"/>
            <a:chOff x="1763688" y="3105260"/>
            <a:chExt cx="6197725" cy="307777"/>
          </a:xfrm>
          <a:solidFill>
            <a:schemeClr val="bg1">
              <a:lumMod val="85000"/>
            </a:schemeClr>
          </a:solidFill>
        </p:grpSpPr>
        <p:sp>
          <p:nvSpPr>
            <p:cNvPr id="7" name="TextBox 6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409636" y="3984711"/>
            <a:ext cx="519853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sympy.series(sin(x)/x, x, 0, n=6)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96640" y="4537740"/>
            <a:ext cx="5211528" cy="307777"/>
            <a:chOff x="1763688" y="3105260"/>
            <a:chExt cx="6197725" cy="307777"/>
          </a:xfrm>
          <a:solidFill>
            <a:schemeClr val="bg1">
              <a:lumMod val="85000"/>
            </a:schemeClr>
          </a:solidFill>
        </p:grpSpPr>
        <p:sp>
          <p:nvSpPr>
            <p:cNvPr id="11" name="TextBox 10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1 - x**2/6 + x**4/120 + O(x**6)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763688" y="3290501"/>
              <a:ext cx="432048" cy="0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3071665" y="54452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5519937" y="4476185"/>
            <a:ext cx="3245843" cy="1219565"/>
            <a:chOff x="3995936" y="4476184"/>
            <a:chExt cx="3245843" cy="1219565"/>
          </a:xfrm>
        </p:grpSpPr>
        <p:sp>
          <p:nvSpPr>
            <p:cNvPr id="14" name="TextBox 13"/>
            <p:cNvSpPr txBox="1"/>
            <p:nvPr/>
          </p:nvSpPr>
          <p:spPr>
            <a:xfrm>
              <a:off x="5220072" y="5049418"/>
              <a:ext cx="2021707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Use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removeO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r>
                <a:rPr lang="en-US" dirty="0"/>
                <a:t> </a:t>
              </a:r>
              <a:br>
                <a:rPr lang="en-US" dirty="0"/>
              </a:br>
              <a:r>
                <a:rPr lang="en-US" dirty="0"/>
                <a:t>when not required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995936" y="4476184"/>
              <a:ext cx="792088" cy="4407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>
              <a:stCxn id="14" idx="1"/>
              <a:endCxn id="15" idx="5"/>
            </p:cNvCxnSpPr>
            <p:nvPr/>
          </p:nvCxnSpPr>
          <p:spPr>
            <a:xfrm flipH="1" flipV="1">
              <a:off x="4672025" y="4852390"/>
              <a:ext cx="548047" cy="52019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295406" y="4476185"/>
            <a:ext cx="3302106" cy="1588503"/>
            <a:chOff x="3995936" y="4476184"/>
            <a:chExt cx="3302106" cy="1588503"/>
          </a:xfrm>
        </p:grpSpPr>
        <p:sp>
          <p:nvSpPr>
            <p:cNvPr id="21" name="TextBox 20"/>
            <p:cNvSpPr txBox="1"/>
            <p:nvPr/>
          </p:nvSpPr>
          <p:spPr>
            <a:xfrm>
              <a:off x="4492274" y="5418356"/>
              <a:ext cx="280576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Use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taylor_term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r>
                <a:rPr lang="en-US" dirty="0"/>
                <a:t> </a:t>
              </a:r>
              <a:br>
                <a:rPr lang="en-US" dirty="0"/>
              </a:br>
              <a:r>
                <a:rPr lang="en-US" dirty="0"/>
                <a:t>to get term of specific order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3995936" y="4476184"/>
              <a:ext cx="792088" cy="4407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>
              <a:stCxn id="21" idx="0"/>
              <a:endCxn id="22" idx="5"/>
            </p:cNvCxnSpPr>
            <p:nvPr/>
          </p:nvCxnSpPr>
          <p:spPr>
            <a:xfrm flipH="1" flipV="1">
              <a:off x="4672025" y="4852390"/>
              <a:ext cx="1223133" cy="56596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815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sympy</a:t>
            </a:r>
            <a:r>
              <a:rPr lang="en-US" dirty="0"/>
              <a:t> expression =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334820" y="2390000"/>
            <a:ext cx="693972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from sympy import Add, Mul, Pow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Add(Mul(a, Pow(x, 2)), Mul(b, x), c)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760962" y="1878459"/>
          <a:ext cx="21526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03040" progId="Equation.3">
                  <p:embed/>
                </p:oleObj>
              </mc:Choice>
              <mc:Fallback>
                <p:oleObj name="Equation" r:id="rId2" imgW="749160" imgH="20304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0962" y="1878459"/>
                        <a:ext cx="2152650" cy="584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1919537" y="3342333"/>
            <a:ext cx="7003221" cy="2658258"/>
            <a:chOff x="395536" y="3342333"/>
            <a:chExt cx="7003221" cy="2658258"/>
          </a:xfrm>
        </p:grpSpPr>
        <p:sp>
          <p:nvSpPr>
            <p:cNvPr id="7" name="TextBox 6"/>
            <p:cNvSpPr txBox="1"/>
            <p:nvPr/>
          </p:nvSpPr>
          <p:spPr>
            <a:xfrm>
              <a:off x="3913710" y="3342333"/>
              <a:ext cx="56137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Add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39678" y="4222585"/>
              <a:ext cx="55656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Mul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18519" y="4186224"/>
              <a:ext cx="55656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Mul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92787" y="4926922"/>
              <a:ext cx="58471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Pow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84578" y="4187487"/>
              <a:ext cx="121417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Symbol('c')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60771" y="4931876"/>
              <a:ext cx="121578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Symbol('x')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01388" y="4926922"/>
              <a:ext cx="123822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Symbol('b')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5536" y="4926922"/>
              <a:ext cx="122700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Symbol('a')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31787" y="5631259"/>
              <a:ext cx="121578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Symbol('x')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71313" y="5631259"/>
              <a:ext cx="111267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Integer(2)</a:t>
              </a:r>
            </a:p>
          </p:txBody>
        </p:sp>
        <p:cxnSp>
          <p:nvCxnSpPr>
            <p:cNvPr id="19" name="Straight Connector 18"/>
            <p:cNvCxnSpPr>
              <a:stCxn id="7" idx="2"/>
              <a:endCxn id="10" idx="0"/>
            </p:cNvCxnSpPr>
            <p:nvPr/>
          </p:nvCxnSpPr>
          <p:spPr>
            <a:xfrm>
              <a:off x="4194396" y="3711665"/>
              <a:ext cx="2405" cy="4745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7" idx="2"/>
              <a:endCxn id="9" idx="0"/>
            </p:cNvCxnSpPr>
            <p:nvPr/>
          </p:nvCxnSpPr>
          <p:spPr>
            <a:xfrm flipH="1">
              <a:off x="1817960" y="3711665"/>
              <a:ext cx="2376436" cy="5109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7" idx="2"/>
              <a:endCxn id="12" idx="0"/>
            </p:cNvCxnSpPr>
            <p:nvPr/>
          </p:nvCxnSpPr>
          <p:spPr>
            <a:xfrm>
              <a:off x="4194396" y="3711665"/>
              <a:ext cx="2597272" cy="4758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0" idx="2"/>
              <a:endCxn id="13" idx="0"/>
            </p:cNvCxnSpPr>
            <p:nvPr/>
          </p:nvCxnSpPr>
          <p:spPr>
            <a:xfrm>
              <a:off x="4196801" y="4555556"/>
              <a:ext cx="871861" cy="3763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0" idx="2"/>
              <a:endCxn id="14" idx="0"/>
            </p:cNvCxnSpPr>
            <p:nvPr/>
          </p:nvCxnSpPr>
          <p:spPr>
            <a:xfrm flipH="1">
              <a:off x="3520500" y="4555556"/>
              <a:ext cx="676301" cy="3713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9" idx="2"/>
              <a:endCxn id="11" idx="0"/>
            </p:cNvCxnSpPr>
            <p:nvPr/>
          </p:nvCxnSpPr>
          <p:spPr>
            <a:xfrm>
              <a:off x="1817960" y="4591917"/>
              <a:ext cx="467183" cy="335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9" idx="2"/>
              <a:endCxn id="15" idx="0"/>
            </p:cNvCxnSpPr>
            <p:nvPr/>
          </p:nvCxnSpPr>
          <p:spPr>
            <a:xfrm flipH="1">
              <a:off x="1009038" y="4591917"/>
              <a:ext cx="808922" cy="335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1" idx="2"/>
              <a:endCxn id="17" idx="0"/>
            </p:cNvCxnSpPr>
            <p:nvPr/>
          </p:nvCxnSpPr>
          <p:spPr>
            <a:xfrm>
              <a:off x="2285143" y="5296254"/>
              <a:ext cx="742509" cy="335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1" idx="2"/>
              <a:endCxn id="16" idx="0"/>
            </p:cNvCxnSpPr>
            <p:nvPr/>
          </p:nvCxnSpPr>
          <p:spPr>
            <a:xfrm flipH="1">
              <a:off x="1539678" y="5296254"/>
              <a:ext cx="745465" cy="335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835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Taking expression apart</a:t>
            </a:r>
          </a:p>
          <a:p>
            <a:endParaRPr lang="en-US" dirty="0"/>
          </a:p>
          <a:p>
            <a:r>
              <a:rPr lang="en-US" dirty="0"/>
              <a:t>Operator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Operands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396640" y="2319343"/>
            <a:ext cx="319530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expr = 1/(a*x +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1447" y="1751202"/>
            <a:ext cx="5847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3137" y="3943253"/>
            <a:ext cx="12157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Symbol('x')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5192" y="3946226"/>
            <a:ext cx="12270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Symbol('a')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973" y="2455539"/>
            <a:ext cx="11832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Integer(-1)</a:t>
            </a:r>
          </a:p>
        </p:txBody>
      </p:sp>
      <p:cxnSp>
        <p:nvCxnSpPr>
          <p:cNvPr id="20" name="Straight Connector 19"/>
          <p:cNvCxnSpPr>
            <a:stCxn id="29" idx="2"/>
            <a:endCxn id="12" idx="0"/>
          </p:cNvCxnSpPr>
          <p:nvPr/>
        </p:nvCxnSpPr>
        <p:spPr>
          <a:xfrm>
            <a:off x="9304856" y="3563439"/>
            <a:ext cx="886172" cy="379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6" idx="2"/>
            <a:endCxn id="28" idx="0"/>
          </p:cNvCxnSpPr>
          <p:nvPr/>
        </p:nvCxnSpPr>
        <p:spPr>
          <a:xfrm flipH="1">
            <a:off x="7118810" y="2841283"/>
            <a:ext cx="1107123" cy="3468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26" idx="2"/>
            <a:endCxn id="29" idx="0"/>
          </p:cNvCxnSpPr>
          <p:nvPr/>
        </p:nvCxnSpPr>
        <p:spPr>
          <a:xfrm>
            <a:off x="8225933" y="2841283"/>
            <a:ext cx="1078923" cy="352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29" idx="2"/>
            <a:endCxn id="14" idx="0"/>
          </p:cNvCxnSpPr>
          <p:nvPr/>
        </p:nvCxnSpPr>
        <p:spPr>
          <a:xfrm flipH="1">
            <a:off x="8548694" y="3563439"/>
            <a:ext cx="756162" cy="382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2"/>
            <a:endCxn id="16" idx="0"/>
          </p:cNvCxnSpPr>
          <p:nvPr/>
        </p:nvCxnSpPr>
        <p:spPr>
          <a:xfrm>
            <a:off x="8973803" y="2120534"/>
            <a:ext cx="777775" cy="335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  <a:endCxn id="26" idx="0"/>
          </p:cNvCxnSpPr>
          <p:nvPr/>
        </p:nvCxnSpPr>
        <p:spPr>
          <a:xfrm flipH="1">
            <a:off x="8225933" y="2120534"/>
            <a:ext cx="747870" cy="3514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45247" y="2471951"/>
            <a:ext cx="5613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9698" y="3188136"/>
            <a:ext cx="12382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Symbol('b')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026574" y="3194107"/>
            <a:ext cx="5565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Mul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396640" y="3279708"/>
            <a:ext cx="319530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expr.func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063552" y="3770343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39" name="TextBox 38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sympy.core.power.Pow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2396640" y="4869089"/>
            <a:ext cx="319530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expr.args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2063552" y="5359724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44" name="TextBox 43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(a*x + b, -1)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6628280" y="4869089"/>
            <a:ext cx="319530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expr.args[0].args[0]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6295192" y="5359724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48" name="TextBox 47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643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37" grpId="0" animBg="1"/>
      <p:bldP spid="42" grpId="0" animBg="1"/>
      <p:bldP spid="4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Substitution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Factor, expand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Simplify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396640" y="2302718"/>
            <a:ext cx="456345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expr = x**2 + 2*a*x + y**2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expr.subs(y, a)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063552" y="3068961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7" name="TextBox 6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a**2 + 2*a*x + x**2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1794987" y="3862857"/>
            <a:ext cx="434743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(x**2 + 2*x*y + y**2).factor()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10602" y="4389625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11" name="TextBox 10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(x + y)**2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6509816" y="3862857"/>
            <a:ext cx="397867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((x + y)**2).expand()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805736" y="4384546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15" name="TextBox 14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x**2 + 2*x*y + y**2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794987" y="5418223"/>
            <a:ext cx="516510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x, y = symbols('x y', positive=True)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(log(x) + log(y)).simplify()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210602" y="6141494"/>
            <a:ext cx="3528392" cy="307777"/>
            <a:chOff x="1357569" y="3105260"/>
            <a:chExt cx="6603844" cy="307777"/>
          </a:xfrm>
          <a:solidFill>
            <a:schemeClr val="bg1">
              <a:lumMod val="85000"/>
            </a:schemeClr>
          </a:solidFill>
        </p:grpSpPr>
        <p:sp>
          <p:nvSpPr>
            <p:cNvPr id="19" name="TextBox 18"/>
            <p:cNvSpPr txBox="1"/>
            <p:nvPr/>
          </p:nvSpPr>
          <p:spPr>
            <a:xfrm>
              <a:off x="2371642" y="3105260"/>
              <a:ext cx="558977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s-E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log(x*y)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357569" y="3290501"/>
              <a:ext cx="838166" cy="21707"/>
            </a:xfrm>
            <a:prstGeom prst="straightConnector1">
              <a:avLst/>
            </a:prstGeom>
            <a:grpFill/>
            <a:ln w="444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002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" grpId="0" animBg="1"/>
      <p:bldP spid="13" grpId="0" animBg="1"/>
      <p:bldP spid="1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Sympy</a:t>
            </a:r>
            <a:r>
              <a:rPr lang="en-US" dirty="0">
                <a:hlinkClick r:id="rId2"/>
              </a:rPr>
              <a:t>: symbolic computing in Python</a:t>
            </a:r>
            <a:br>
              <a:rPr lang="en-US" dirty="0"/>
            </a:br>
            <a:r>
              <a:rPr lang="en-US" dirty="0"/>
              <a:t>A. </a:t>
            </a:r>
            <a:r>
              <a:rPr lang="en-US" dirty="0" err="1"/>
              <a:t>Muerer</a:t>
            </a:r>
            <a:r>
              <a:rPr lang="en-US" dirty="0"/>
              <a:t>, C.P. Smith, M. </a:t>
            </a:r>
            <a:r>
              <a:rPr lang="en-US" dirty="0" err="1"/>
              <a:t>Paprocki</a:t>
            </a:r>
            <a:r>
              <a:rPr lang="en-US" dirty="0"/>
              <a:t> et al.</a:t>
            </a:r>
            <a:br>
              <a:rPr lang="en-US" dirty="0"/>
            </a:br>
            <a:r>
              <a:rPr lang="en-US" dirty="0" err="1"/>
              <a:t>PeerJ.CompSci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05754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HDF5: h5py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1800" dirty="0">
                <a:hlinkClick r:id="rId2"/>
              </a:rPr>
              <a:t>https://github.com/gjbex/Scientific-Python/tree/master/source-code/hdf5</a:t>
            </a:r>
            <a:r>
              <a:rPr lang="nl-BE" sz="1800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30962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HDF5: what is it?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</a:t>
            </a:r>
            <a:r>
              <a:rPr lang="en-US" dirty="0"/>
              <a:t>ierarchical </a:t>
            </a:r>
            <a:r>
              <a:rPr lang="en-US" sz="4000" b="1" dirty="0"/>
              <a:t>D</a:t>
            </a:r>
            <a:r>
              <a:rPr lang="en-US" dirty="0"/>
              <a:t>ata </a:t>
            </a:r>
            <a:r>
              <a:rPr lang="en-US" sz="4000" b="1" dirty="0"/>
              <a:t>F</a:t>
            </a:r>
            <a:r>
              <a:rPr lang="en-US" dirty="0"/>
              <a:t>ormat</a:t>
            </a:r>
          </a:p>
          <a:p>
            <a:r>
              <a:rPr lang="en-US" dirty="0"/>
              <a:t>Abstract data model</a:t>
            </a:r>
          </a:p>
          <a:p>
            <a:pPr lvl="1"/>
            <a:r>
              <a:rPr lang="en-US" dirty="0"/>
              <a:t>File</a:t>
            </a:r>
          </a:p>
          <a:p>
            <a:pPr lvl="1"/>
            <a:r>
              <a:rPr lang="en-US" dirty="0"/>
              <a:t>Group</a:t>
            </a:r>
          </a:p>
          <a:p>
            <a:pPr lvl="1"/>
            <a:r>
              <a:rPr lang="en-US" dirty="0"/>
              <a:t>Dataset</a:t>
            </a:r>
          </a:p>
          <a:p>
            <a:pPr lvl="1"/>
            <a:r>
              <a:rPr lang="en-US" dirty="0"/>
              <a:t>Data type</a:t>
            </a:r>
          </a:p>
          <a:p>
            <a:pPr lvl="1"/>
            <a:r>
              <a:rPr lang="en-US" dirty="0"/>
              <a:t>Attribute</a:t>
            </a:r>
          </a:p>
          <a:p>
            <a:r>
              <a:rPr lang="en-US" dirty="0"/>
              <a:t>Storage model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5463730" y="2829836"/>
            <a:ext cx="1715741" cy="2130549"/>
            <a:chOff x="3939729" y="2888024"/>
            <a:chExt cx="1715741" cy="2130549"/>
          </a:xfrm>
        </p:grpSpPr>
        <p:sp>
          <p:nvSpPr>
            <p:cNvPr id="8" name="TextBox 7"/>
            <p:cNvSpPr txBox="1"/>
            <p:nvPr/>
          </p:nvSpPr>
          <p:spPr>
            <a:xfrm>
              <a:off x="3939729" y="2888024"/>
              <a:ext cx="17138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File</a:t>
              </a:r>
              <a:r>
                <a:rPr lang="en-US" sz="2800" dirty="0"/>
                <a:t> system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39729" y="3325576"/>
              <a:ext cx="13412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Directory</a:t>
              </a:r>
              <a:endParaRPr lang="en-US" sz="28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39729" y="3747069"/>
              <a:ext cx="6206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File</a:t>
              </a:r>
              <a:endParaRPr lang="en-US" sz="2800" dirty="0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3939729" y="4298493"/>
              <a:ext cx="1715741" cy="720080"/>
              <a:chOff x="4067944" y="4298493"/>
              <a:chExt cx="1715741" cy="720080"/>
            </a:xfrm>
          </p:grpSpPr>
          <p:sp>
            <p:nvSpPr>
              <p:cNvPr id="11" name="Right Brace 10"/>
              <p:cNvSpPr/>
              <p:nvPr/>
            </p:nvSpPr>
            <p:spPr>
              <a:xfrm>
                <a:off x="4067944" y="4298493"/>
                <a:ext cx="216024" cy="720080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384841" y="4387693"/>
                <a:ext cx="1398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Metadata</a:t>
                </a:r>
                <a:endParaRPr lang="en-US" sz="2800" dirty="0"/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7381193" y="1246550"/>
            <a:ext cx="306911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System, OS,</a:t>
            </a:r>
            <a:br>
              <a:rPr lang="en-US" sz="2400" dirty="0"/>
            </a:br>
            <a:r>
              <a:rPr lang="en-US" sz="2400" dirty="0"/>
              <a:t>programming language</a:t>
            </a:r>
            <a:br>
              <a:rPr lang="en-US" sz="2400" dirty="0"/>
            </a:br>
            <a:r>
              <a:rPr lang="en-US" sz="2400" dirty="0"/>
              <a:t>independent way of</a:t>
            </a:r>
            <a:br>
              <a:rPr lang="en-US" sz="2400" dirty="0"/>
            </a:br>
            <a:r>
              <a:rPr lang="en-US" sz="2400" dirty="0"/>
              <a:t>storing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936" y="5320090"/>
            <a:ext cx="405636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Documentation, comments</a:t>
            </a:r>
            <a:br>
              <a:rPr lang="en-US" sz="2400" dirty="0"/>
            </a:br>
            <a:r>
              <a:rPr lang="en-US" sz="2400" dirty="0"/>
              <a:t>in data file itself, self contained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737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4" grpId="0" uiExpand="1" animBg="1"/>
      <p:bldP spid="15" grpId="0" uiExpan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stored in dataset as </a:t>
            </a:r>
            <a:r>
              <a:rPr lang="en-US" i="1" dirty="0"/>
              <a:t>n</a:t>
            </a:r>
            <a:r>
              <a:rPr lang="en-US" dirty="0"/>
              <a:t>-dimensional arrays</a:t>
            </a:r>
          </a:p>
          <a:p>
            <a:pPr lvl="1"/>
            <a:r>
              <a:rPr lang="en-US" dirty="0" err="1"/>
              <a:t>Dataspace</a:t>
            </a:r>
            <a:r>
              <a:rPr lang="en-US" dirty="0"/>
              <a:t> describes layout of data (</a:t>
            </a:r>
            <a:r>
              <a:rPr lang="en-US" dirty="0" err="1"/>
              <a:t>rank,dimensions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Datatype</a:t>
            </a:r>
            <a:r>
              <a:rPr lang="en-US" dirty="0"/>
              <a:t> describes single data element</a:t>
            </a:r>
          </a:p>
          <a:p>
            <a:pPr lvl="2"/>
            <a:r>
              <a:rPr lang="en-US" dirty="0"/>
              <a:t>Atomic</a:t>
            </a:r>
          </a:p>
          <a:p>
            <a:pPr lvl="3"/>
            <a:r>
              <a:rPr lang="en-US" dirty="0"/>
              <a:t>Integer, float</a:t>
            </a:r>
          </a:p>
          <a:p>
            <a:pPr lvl="3"/>
            <a:r>
              <a:rPr lang="en-US" dirty="0"/>
              <a:t>String, time</a:t>
            </a:r>
          </a:p>
          <a:p>
            <a:pPr lvl="3"/>
            <a:r>
              <a:rPr lang="en-US" dirty="0"/>
              <a:t>Opaque</a:t>
            </a:r>
          </a:p>
          <a:p>
            <a:pPr lvl="2"/>
            <a:r>
              <a:rPr lang="en-US" dirty="0"/>
              <a:t>Composite</a:t>
            </a:r>
          </a:p>
          <a:p>
            <a:pPr lvl="3"/>
            <a:r>
              <a:rPr lang="en-US" dirty="0"/>
              <a:t>Compound</a:t>
            </a:r>
          </a:p>
          <a:p>
            <a:pPr lvl="3"/>
            <a:r>
              <a:rPr lang="en-US" dirty="0"/>
              <a:t>Enumeration</a:t>
            </a:r>
          </a:p>
          <a:p>
            <a:pPr lvl="3"/>
            <a:r>
              <a:rPr lang="en-US" dirty="0"/>
              <a:t>Array</a:t>
            </a:r>
          </a:p>
          <a:p>
            <a:pPr lvl="3"/>
            <a:r>
              <a:rPr lang="en-US" dirty="0"/>
              <a:t>Variable length</a:t>
            </a:r>
          </a:p>
          <a:p>
            <a:pPr lvl="1"/>
            <a:r>
              <a:rPr lang="en-US" dirty="0"/>
              <a:t>Partial read/writes, </a:t>
            </a:r>
            <a:r>
              <a:rPr lang="en-US" dirty="0" err="1"/>
              <a:t>hyperslab</a:t>
            </a:r>
            <a:r>
              <a:rPr lang="en-US" dirty="0"/>
              <a:t>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1426" y="3216464"/>
            <a:ext cx="489781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Data layout &amp; type description part of</a:t>
            </a:r>
            <a:br>
              <a:rPr lang="en-US" sz="2400" dirty="0"/>
            </a:br>
            <a:r>
              <a:rPr lang="en-US" sz="2400" dirty="0"/>
              <a:t> HDF5 file: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self-documenting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discovery!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69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6639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Filtering</a:t>
            </a:r>
          </a:p>
          <a:p>
            <a:pPr lvl="1"/>
            <a:r>
              <a:rPr lang="en-US" dirty="0"/>
              <a:t>Compression</a:t>
            </a:r>
          </a:p>
          <a:p>
            <a:pPr lvl="1"/>
            <a:r>
              <a:rPr lang="en-US" dirty="0"/>
              <a:t>Error detection</a:t>
            </a:r>
          </a:p>
          <a:p>
            <a:r>
              <a:rPr lang="en-US" dirty="0"/>
              <a:t>Datasets can be extended</a:t>
            </a:r>
          </a:p>
          <a:p>
            <a:r>
              <a:rPr lang="en-US" dirty="0"/>
              <a:t>Storage drivers</a:t>
            </a:r>
          </a:p>
          <a:p>
            <a:pPr lvl="1"/>
            <a:r>
              <a:rPr lang="en-US" dirty="0"/>
              <a:t>Single file</a:t>
            </a:r>
          </a:p>
          <a:p>
            <a:pPr lvl="1"/>
            <a:r>
              <a:rPr lang="en-US" dirty="0"/>
              <a:t>Multiple files</a:t>
            </a:r>
          </a:p>
          <a:p>
            <a:pPr lvl="1"/>
            <a:r>
              <a:rPr lang="en-US" dirty="0"/>
              <a:t>Multiple files on parallel file system</a:t>
            </a:r>
          </a:p>
          <a:p>
            <a:pPr lvl="1"/>
            <a:r>
              <a:rPr lang="en-US" dirty="0"/>
              <a:t>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946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HDF5: how to use it?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C/C++</a:t>
            </a:r>
          </a:p>
          <a:p>
            <a:r>
              <a:rPr lang="en-US" dirty="0"/>
              <a:t>Fortran 90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Python</a:t>
            </a:r>
          </a:p>
          <a:p>
            <a:pPr lvl="1"/>
            <a:r>
              <a:rPr lang="en-US" dirty="0" err="1"/>
              <a:t>PyTables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h5py</a:t>
            </a:r>
            <a:endParaRPr lang="nl-BE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75166" y="4725144"/>
            <a:ext cx="739324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HDF5 file can be read by program in any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9576" y="5714092"/>
            <a:ext cx="767062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Not so easy in C/C++/Fortran, fairly trivial in Python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514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work with HDF5 files</a:t>
            </a:r>
          </a:p>
          <a:p>
            <a:pPr lvl="1"/>
            <a:r>
              <a:rPr lang="en-US" dirty="0"/>
              <a:t>import h5py</a:t>
            </a:r>
          </a:p>
          <a:p>
            <a:pPr lvl="1"/>
            <a:r>
              <a:rPr lang="en-US" dirty="0"/>
              <a:t>if necessary (almost certainly), import </a:t>
            </a:r>
            <a:r>
              <a:rPr lang="en-US" dirty="0" err="1"/>
              <a:t>numpy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3594260" y="4172887"/>
            <a:ext cx="266611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import h5py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as np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899598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&amp; close HDF5 file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new HDF5 file 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w</a:t>
            </a:r>
            <a:r>
              <a:rPr lang="en-US" dirty="0"/>
              <a:t> for write)</a:t>
            </a:r>
          </a:p>
          <a:p>
            <a:endParaRPr lang="en-US" dirty="0"/>
          </a:p>
          <a:p>
            <a:r>
              <a:rPr lang="en-US" dirty="0"/>
              <a:t>Open HDF5 file for modification 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dirty="0"/>
              <a:t> for append)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Open HDF5 file for reading (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</a:t>
            </a:r>
            <a:r>
              <a:rPr lang="en-US" dirty="0"/>
              <a:t> for read)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Close file</a:t>
            </a:r>
          </a:p>
          <a:p>
            <a:endParaRPr lang="en-US" dirty="0"/>
          </a:p>
          <a:p>
            <a:r>
              <a:rPr lang="en-US" dirty="0"/>
              <a:t>Preferred alternative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151711" y="2320080"/>
            <a:ext cx="67161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h5file = h5py.File('data.h5', mode='w')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5560" y="3276963"/>
            <a:ext cx="673658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h5file = h5py.File('data.h5', mode='a')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5984" y="4185660"/>
            <a:ext cx="67161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h5file = h5py.File('data.h5', mode='r')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5986" y="5084768"/>
            <a:ext cx="67161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h5file.close()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301" y="6030719"/>
            <a:ext cx="670385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with h5py.File('data.h5', 'w', '…') as h5file: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…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835904" y="1640959"/>
            <a:ext cx="2678696" cy="985109"/>
            <a:chOff x="4127541" y="1326896"/>
            <a:chExt cx="2678696" cy="985109"/>
          </a:xfrm>
        </p:grpSpPr>
        <p:sp>
          <p:nvSpPr>
            <p:cNvPr id="9" name="TextBox 8"/>
            <p:cNvSpPr txBox="1"/>
            <p:nvPr/>
          </p:nvSpPr>
          <p:spPr>
            <a:xfrm>
              <a:off x="5744728" y="1326896"/>
              <a:ext cx="10615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file name</a:t>
              </a:r>
              <a:endParaRPr lang="nl-BE" dirty="0">
                <a:solidFill>
                  <a:srgbClr val="FF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27541" y="2025238"/>
              <a:ext cx="1224136" cy="2867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2" name="Straight Arrow Connector 11"/>
            <p:cNvCxnSpPr>
              <a:stCxn id="9" idx="2"/>
              <a:endCxn id="10" idx="0"/>
            </p:cNvCxnSpPr>
            <p:nvPr/>
          </p:nvCxnSpPr>
          <p:spPr>
            <a:xfrm flipH="1">
              <a:off x="4739609" y="1696228"/>
              <a:ext cx="1535874" cy="32901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26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uiExpand="1" animBg="1"/>
      <p:bldP spid="7" grpId="0" uiExpand="1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group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Groups start in root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Creating a subgroup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2168300" y="2326301"/>
            <a:ext cx="720635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input_group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h5file.create_group('input')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8300" y="3371792"/>
            <a:ext cx="720635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field_group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input_group.create_group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('fields')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65840" y="3861209"/>
            <a:ext cx="7208819" cy="723003"/>
            <a:chOff x="641840" y="5445224"/>
            <a:chExt cx="7208819" cy="723003"/>
          </a:xfrm>
          <a:solidFill>
            <a:schemeClr val="bg1">
              <a:lumMod val="85000"/>
            </a:schemeClr>
          </a:solidFill>
        </p:grpSpPr>
        <p:sp>
          <p:nvSpPr>
            <p:cNvPr id="7" name="TextBox 6"/>
            <p:cNvSpPr txBox="1"/>
            <p:nvPr/>
          </p:nvSpPr>
          <p:spPr>
            <a:xfrm>
              <a:off x="641840" y="5798895"/>
              <a:ext cx="7208819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field_group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= h5file.create_group('/input/fields')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 rot="5400000">
              <a:off x="4497112" y="5408034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000" b="1" dirty="0">
                  <a:sym typeface="Symbol"/>
                </a:rPr>
                <a:t></a:t>
              </a:r>
              <a:endParaRPr lang="nl-BE" sz="20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93205" y="1632239"/>
            <a:ext cx="1544354" cy="1026726"/>
            <a:chOff x="4927351" y="1995984"/>
            <a:chExt cx="1544354" cy="1026726"/>
          </a:xfrm>
        </p:grpSpPr>
        <p:sp>
          <p:nvSpPr>
            <p:cNvPr id="22" name="TextBox 21"/>
            <p:cNvSpPr txBox="1"/>
            <p:nvPr/>
          </p:nvSpPr>
          <p:spPr>
            <a:xfrm>
              <a:off x="5151022" y="1995984"/>
              <a:ext cx="13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group name</a:t>
              </a:r>
              <a:endParaRPr lang="nl-BE" dirty="0">
                <a:solidFill>
                  <a:srgbClr val="0070C0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927351" y="2735943"/>
              <a:ext cx="953546" cy="28676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4" name="Straight Arrow Connector 23"/>
            <p:cNvCxnSpPr>
              <a:stCxn id="22" idx="2"/>
              <a:endCxn id="23" idx="0"/>
            </p:cNvCxnSpPr>
            <p:nvPr/>
          </p:nvCxnSpPr>
          <p:spPr>
            <a:xfrm flipH="1">
              <a:off x="5404124" y="2365316"/>
              <a:ext cx="407240" cy="370627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5525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dataset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dirty="0"/>
              <a:t> arrays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it to HDF5 file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775520" y="2276873"/>
            <a:ext cx="693972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magn_field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lambda x, y: x**2 + 2*x*y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X, Y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np.meshgrid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np.linspace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(-1.0, 1.0,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x_dim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np.linspace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(-1.0, 1.0,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y_dim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field_values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magn_field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(X, 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521" y="4665910"/>
            <a:ext cx="8594019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field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field_group.create_dataset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('magnetic',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field_values.shape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field_values.dtype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field[:, :]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field_values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[:, :]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h5file.flush()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893324" y="3840318"/>
            <a:ext cx="3627870" cy="1157011"/>
            <a:chOff x="2611539" y="1628800"/>
            <a:chExt cx="3627870" cy="1157011"/>
          </a:xfrm>
        </p:grpSpPr>
        <p:sp>
          <p:nvSpPr>
            <p:cNvPr id="7" name="TextBox 6"/>
            <p:cNvSpPr txBox="1"/>
            <p:nvPr/>
          </p:nvSpPr>
          <p:spPr>
            <a:xfrm>
              <a:off x="3619653" y="1628800"/>
              <a:ext cx="26197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array location in hierarchy</a:t>
              </a:r>
              <a:endParaRPr lang="nl-BE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11539" y="2499044"/>
              <a:ext cx="1632713" cy="28676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9" name="Straight Arrow Connector 8"/>
            <p:cNvCxnSpPr>
              <a:stCxn id="7" idx="2"/>
              <a:endCxn id="8" idx="0"/>
            </p:cNvCxnSpPr>
            <p:nvPr/>
          </p:nvCxnSpPr>
          <p:spPr>
            <a:xfrm flipH="1">
              <a:off x="3427896" y="1998132"/>
              <a:ext cx="1501635" cy="50091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6652740" y="4133801"/>
            <a:ext cx="3243627" cy="878271"/>
            <a:chOff x="2336262" y="2339588"/>
            <a:chExt cx="3243627" cy="878271"/>
          </a:xfrm>
        </p:grpSpPr>
        <p:sp>
          <p:nvSpPr>
            <p:cNvPr id="11" name="TextBox 10"/>
            <p:cNvSpPr txBox="1"/>
            <p:nvPr/>
          </p:nvSpPr>
          <p:spPr>
            <a:xfrm>
              <a:off x="4114167" y="2339588"/>
              <a:ext cx="14657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dataset name</a:t>
              </a:r>
              <a:endParaRPr lang="nl-BE" dirty="0">
                <a:solidFill>
                  <a:srgbClr val="0070C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36262" y="2931092"/>
              <a:ext cx="1368152" cy="28676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3" name="Straight Arrow Connector 12"/>
            <p:cNvCxnSpPr>
              <a:stCxn id="11" idx="1"/>
              <a:endCxn id="12" idx="0"/>
            </p:cNvCxnSpPr>
            <p:nvPr/>
          </p:nvCxnSpPr>
          <p:spPr>
            <a:xfrm flipH="1">
              <a:off x="3020338" y="2524254"/>
              <a:ext cx="1093829" cy="406838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75</a:t>
            </a:fld>
            <a:endParaRPr lang="nl-B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1024A1-11B8-4225-9759-5E4D7CC0846A}"/>
              </a:ext>
            </a:extLst>
          </p:cNvPr>
          <p:cNvGrpSpPr/>
          <p:nvPr/>
        </p:nvGrpSpPr>
        <p:grpSpPr>
          <a:xfrm>
            <a:off x="6652739" y="4997329"/>
            <a:ext cx="3347470" cy="1613701"/>
            <a:chOff x="2183861" y="3050716"/>
            <a:chExt cx="3347470" cy="161370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9463E5B-10E4-457C-B771-27D46257AC8C}"/>
                </a:ext>
              </a:extLst>
            </p:cNvPr>
            <p:cNvSpPr txBox="1"/>
            <p:nvPr/>
          </p:nvSpPr>
          <p:spPr>
            <a:xfrm>
              <a:off x="4396212" y="4295085"/>
              <a:ext cx="11351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dataspace</a:t>
              </a:r>
              <a:endParaRPr lang="nl-BE" dirty="0">
                <a:solidFill>
                  <a:srgbClr val="00B05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59DCA0-D392-4987-AEBA-C6EFED87EB0A}"/>
                </a:ext>
              </a:extLst>
            </p:cNvPr>
            <p:cNvSpPr/>
            <p:nvPr/>
          </p:nvSpPr>
          <p:spPr>
            <a:xfrm>
              <a:off x="2183861" y="3050716"/>
              <a:ext cx="2557163" cy="56924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FCE6BE2-CBD9-46AF-8143-EDD1E5C8F4C6}"/>
                </a:ext>
              </a:extLst>
            </p:cNvPr>
            <p:cNvCxnSpPr>
              <a:cxnSpLocks/>
              <a:stCxn id="24" idx="1"/>
              <a:endCxn id="25" idx="2"/>
            </p:cNvCxnSpPr>
            <p:nvPr/>
          </p:nvCxnSpPr>
          <p:spPr>
            <a:xfrm flipH="1" flipV="1">
              <a:off x="3462443" y="3619957"/>
              <a:ext cx="933769" cy="859794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420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another 2D array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729" y="1556793"/>
            <a:ext cx="8229600" cy="4525963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dirty="0"/>
              <a:t> array</a:t>
            </a:r>
          </a:p>
          <a:p>
            <a:endParaRPr lang="en-US" dirty="0"/>
          </a:p>
          <a:p>
            <a:r>
              <a:rPr lang="en-US" dirty="0"/>
              <a:t>Add array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775518" y="2021356"/>
            <a:ext cx="859402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position_values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rng.normal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(scale=10.0, size=(20, 2))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521" y="3101996"/>
            <a:ext cx="8594019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positions = h5file.create_dataset('/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coords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/positions'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position_values.shape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dtype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=np.float32)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Positions[:, :]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position_values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[:, :]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h5file.flush()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80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a unit annotation to array</a:t>
            </a:r>
          </a:p>
          <a:p>
            <a:endParaRPr lang="en-US" dirty="0"/>
          </a:p>
          <a:p>
            <a:r>
              <a:rPr lang="en-US" dirty="0"/>
              <a:t>Adding annotation to a group</a:t>
            </a:r>
          </a:p>
          <a:p>
            <a:endParaRPr lang="en-US" dirty="0"/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attrs</a:t>
            </a:r>
            <a:r>
              <a:rPr lang="en-US" dirty="0"/>
              <a:t> behave mostly like Python dictionaries, to set, get, remove an annotation</a:t>
            </a:r>
          </a:p>
          <a:p>
            <a:pPr lvl="1"/>
            <a:r>
              <a:rPr lang="en-US" dirty="0"/>
              <a:t>iterator over attribute names:</a:t>
            </a:r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2495600" y="2307315"/>
            <a:ext cx="671430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field_group.magnetic.attrs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['units'] = 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5600" y="3354185"/>
            <a:ext cx="671430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field_group.attrs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['warning'] = 'do not modify'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5600" y="5116923"/>
            <a:ext cx="671430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field_group.attrs.keys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342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uiExpand="1" animBg="1"/>
      <p:bldP spid="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 array 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entire dataset, i.e., array</a:t>
            </a:r>
          </a:p>
          <a:p>
            <a:endParaRPr lang="en-US" dirty="0"/>
          </a:p>
          <a:p>
            <a:r>
              <a:rPr lang="en-US" dirty="0"/>
              <a:t>Read slice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Read non-consecutive data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775521" y="2257549"/>
            <a:ext cx="657599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magn_field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h5file['input/fields/magnetic']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np.average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magn_field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521" y="3284984"/>
            <a:ext cx="657599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pos = h5file['/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coords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/positions'][3:7, :]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376408" y="3324254"/>
            <a:ext cx="3414820" cy="1256874"/>
            <a:chOff x="3704414" y="1421602"/>
            <a:chExt cx="3414820" cy="1256874"/>
          </a:xfrm>
        </p:grpSpPr>
        <p:sp>
          <p:nvSpPr>
            <p:cNvPr id="7" name="TextBox 6"/>
            <p:cNvSpPr txBox="1"/>
            <p:nvPr/>
          </p:nvSpPr>
          <p:spPr>
            <a:xfrm>
              <a:off x="4550774" y="2032145"/>
              <a:ext cx="25684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read x- and y-coordinates</a:t>
              </a:r>
              <a:br>
                <a:rPr lang="en-US" dirty="0">
                  <a:solidFill>
                    <a:srgbClr val="7030A0"/>
                  </a:solidFill>
                </a:rPr>
              </a:br>
              <a:r>
                <a:rPr lang="en-US" dirty="0">
                  <a:solidFill>
                    <a:srgbClr val="7030A0"/>
                  </a:solidFill>
                </a:rPr>
                <a:t>of 4 particles</a:t>
              </a:r>
              <a:endParaRPr lang="nl-BE" dirty="0">
                <a:solidFill>
                  <a:srgbClr val="7030A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704414" y="1421602"/>
              <a:ext cx="1071088" cy="28676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9" name="Straight Arrow Connector 8"/>
            <p:cNvCxnSpPr>
              <a:cxnSpLocks/>
            </p:cNvCxnSpPr>
            <p:nvPr/>
          </p:nvCxnSpPr>
          <p:spPr>
            <a:xfrm flipH="1" flipV="1">
              <a:off x="4567755" y="1708369"/>
              <a:ext cx="1595046" cy="32377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1775521" y="4866461"/>
            <a:ext cx="657599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indices = [2, 4, 6]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pos = h5file['/c0ords/positions'][indices, :]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389064" y="5193762"/>
            <a:ext cx="3414820" cy="1256874"/>
            <a:chOff x="3704414" y="1421602"/>
            <a:chExt cx="3414820" cy="1256874"/>
          </a:xfrm>
        </p:grpSpPr>
        <p:sp>
          <p:nvSpPr>
            <p:cNvPr id="13" name="TextBox 12"/>
            <p:cNvSpPr txBox="1"/>
            <p:nvPr/>
          </p:nvSpPr>
          <p:spPr>
            <a:xfrm>
              <a:off x="4550774" y="2032145"/>
              <a:ext cx="25684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read x- and y-coordinates</a:t>
              </a:r>
              <a:br>
                <a:rPr lang="en-US" dirty="0">
                  <a:solidFill>
                    <a:srgbClr val="7030A0"/>
                  </a:solidFill>
                </a:rPr>
              </a:br>
              <a:r>
                <a:rPr lang="en-US" dirty="0">
                  <a:solidFill>
                    <a:srgbClr val="7030A0"/>
                  </a:solidFill>
                </a:rPr>
                <a:t>of 3</a:t>
              </a:r>
              <a:r>
                <a:rPr lang="en-US" baseline="30000" dirty="0">
                  <a:solidFill>
                    <a:srgbClr val="7030A0"/>
                  </a:solidFill>
                </a:rPr>
                <a:t>rd</a:t>
              </a:r>
              <a:r>
                <a:rPr lang="en-US" dirty="0">
                  <a:solidFill>
                    <a:srgbClr val="7030A0"/>
                  </a:solidFill>
                </a:rPr>
                <a:t>, 5</a:t>
              </a:r>
              <a:r>
                <a:rPr lang="en-US" baseline="30000" dirty="0">
                  <a:solidFill>
                    <a:srgbClr val="7030A0"/>
                  </a:solidFill>
                </a:rPr>
                <a:t>th</a:t>
              </a:r>
              <a:r>
                <a:rPr lang="en-US" dirty="0">
                  <a:solidFill>
                    <a:srgbClr val="7030A0"/>
                  </a:solidFill>
                </a:rPr>
                <a:t>, and 7</a:t>
              </a:r>
              <a:r>
                <a:rPr lang="en-US" baseline="30000" dirty="0">
                  <a:solidFill>
                    <a:srgbClr val="7030A0"/>
                  </a:solidFill>
                </a:rPr>
                <a:t>th</a:t>
              </a:r>
              <a:r>
                <a:rPr lang="en-US" dirty="0">
                  <a:solidFill>
                    <a:srgbClr val="7030A0"/>
                  </a:solidFill>
                </a:rPr>
                <a:t> particle</a:t>
              </a:r>
              <a:endParaRPr lang="nl-BE" dirty="0">
                <a:solidFill>
                  <a:srgbClr val="7030A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04414" y="1421602"/>
              <a:ext cx="1584176" cy="28676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5" name="Straight Arrow Connector 14"/>
            <p:cNvCxnSpPr>
              <a:stCxn id="13" idx="0"/>
              <a:endCxn id="14" idx="2"/>
            </p:cNvCxnSpPr>
            <p:nvPr/>
          </p:nvCxnSpPr>
          <p:spPr>
            <a:xfrm flipH="1" flipV="1">
              <a:off x="4496502" y="1708369"/>
              <a:ext cx="1338502" cy="32377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119080" y="5999424"/>
            <a:ext cx="189680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err="1"/>
              <a:t>Hyperslabs</a:t>
            </a:r>
            <a:r>
              <a:rPr lang="en-US" sz="2800" dirty="0"/>
              <a:t>!</a:t>
            </a:r>
            <a:endParaRPr lang="nl-BE" sz="28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285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1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HDF5 command line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h5dump</a:t>
            </a:r>
          </a:p>
          <a:p>
            <a:pPr lvl="1"/>
            <a:r>
              <a:rPr lang="en-US" dirty="0"/>
              <a:t>Print a textual representation of HDF5 file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h5ls</a:t>
            </a:r>
          </a:p>
          <a:p>
            <a:pPr lvl="1"/>
            <a:r>
              <a:rPr lang="en-US" dirty="0"/>
              <a:t>Explore structure of HDF5 file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h5copy</a:t>
            </a:r>
          </a:p>
          <a:p>
            <a:pPr lvl="1"/>
            <a:r>
              <a:rPr lang="en-US" dirty="0"/>
              <a:t>Copy data set from one HDF5 file to another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h5mkgrp</a:t>
            </a:r>
          </a:p>
          <a:p>
            <a:pPr lvl="1"/>
            <a:r>
              <a:rPr lang="en-US" dirty="0"/>
              <a:t>Create a group in an HDF5 file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h5cc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h5c++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h5fc</a:t>
            </a:r>
          </a:p>
          <a:p>
            <a:pPr lvl="1"/>
            <a:r>
              <a:rPr lang="en-US" dirty="0"/>
              <a:t>Compile wrappers</a:t>
            </a:r>
          </a:p>
          <a:p>
            <a:pPr lvl="1"/>
            <a:r>
              <a:rPr lang="en-US" dirty="0"/>
              <a:t>With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showconfig</a:t>
            </a:r>
            <a:r>
              <a:rPr lang="en-US" dirty="0"/>
              <a:t> shows library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70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Bokeh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https://github.com/gjbex/Scientific-Python/tree/master/source-code/bokeh</a:t>
            </a:r>
            <a:r>
              <a:rPr lang="en-US" sz="1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702672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Plot library</a:t>
            </a:r>
          </a:p>
          <a:p>
            <a:pPr lvl="1"/>
            <a:r>
              <a:rPr lang="en-US" dirty="0"/>
              <a:t>Easy to use</a:t>
            </a:r>
          </a:p>
          <a:p>
            <a:pPr lvl="1"/>
            <a:r>
              <a:rPr lang="en-US" dirty="0"/>
              <a:t>Integrates with Pandas</a:t>
            </a:r>
          </a:p>
          <a:p>
            <a:pPr lvl="1"/>
            <a:r>
              <a:rPr lang="en-US" dirty="0"/>
              <a:t>Interactive demos in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Export to HTML pages, interactive plots using </a:t>
            </a:r>
            <a:r>
              <a:rPr lang="en-US" dirty="0" err="1"/>
              <a:t>Javascript</a:t>
            </a:r>
            <a:endParaRPr lang="en-US" dirty="0"/>
          </a:p>
          <a:p>
            <a:pPr lvl="1"/>
            <a:r>
              <a:rPr lang="en-US" dirty="0"/>
              <a:t>Reasonable support LaTeX labels</a:t>
            </a:r>
          </a:p>
          <a:p>
            <a:r>
              <a:rPr lang="en-US" dirty="0"/>
              <a:t>More oriented towards information visualization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41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plot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82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1775521" y="1556793"/>
            <a:ext cx="7992888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bokeh.plotting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figure,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output_file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show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x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np.linspace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(0.0, 20.0, 500)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y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np.exp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(-mu*x)*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np.cos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(2.0*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np.pi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*x)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y_plus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np.exp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(-mu*x)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y_min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-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np.exp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(-mu*x)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output_file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('plot.html', title='damped pendulum')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fig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figure(title='damped pendulum',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x_axis_label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='t',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y_axis_label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='theta')</a:t>
            </a:r>
          </a:p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fig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(x, y)</a:t>
            </a:r>
          </a:p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fig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y_min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line_color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='red',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line_width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=0.6,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line_dash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=(2, 2))</a:t>
            </a:r>
          </a:p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fig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(x,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y_plus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line_color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='red',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line_width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=0.6,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line_dash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=(2, 2))</a:t>
            </a:r>
          </a:p>
          <a:p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show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fig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900785" y="260648"/>
            <a:ext cx="3563723" cy="1368152"/>
            <a:chOff x="2092096" y="3045668"/>
            <a:chExt cx="3563723" cy="1368152"/>
          </a:xfrm>
        </p:grpSpPr>
        <p:cxnSp>
          <p:nvCxnSpPr>
            <p:cNvPr id="6" name="Straight Arrow Connector 5"/>
            <p:cNvCxnSpPr>
              <a:stCxn id="7" idx="1"/>
            </p:cNvCxnSpPr>
            <p:nvPr/>
          </p:nvCxnSpPr>
          <p:spPr>
            <a:xfrm flipH="1">
              <a:off x="2092096" y="3368834"/>
              <a:ext cx="1884674" cy="104498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3976770" y="3045668"/>
              <a:ext cx="1679049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import required</a:t>
              </a:r>
              <a:br>
                <a:rPr lang="en-US" dirty="0"/>
              </a:br>
              <a:r>
                <a:rPr lang="en-US" dirty="0"/>
                <a:t>functions</a:t>
              </a:r>
              <a:endParaRPr lang="nl-BE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068080" y="2132856"/>
            <a:ext cx="3388997" cy="1368152"/>
            <a:chOff x="2092096" y="3045668"/>
            <a:chExt cx="3388997" cy="1368152"/>
          </a:xfrm>
        </p:grpSpPr>
        <p:cxnSp>
          <p:nvCxnSpPr>
            <p:cNvPr id="9" name="Straight Arrow Connector 8"/>
            <p:cNvCxnSpPr>
              <a:stCxn id="10" idx="1"/>
            </p:cNvCxnSpPr>
            <p:nvPr/>
          </p:nvCxnSpPr>
          <p:spPr>
            <a:xfrm flipH="1">
              <a:off x="2092096" y="3230334"/>
              <a:ext cx="1884674" cy="1183486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976770" y="3045668"/>
              <a:ext cx="150432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set output file</a:t>
              </a:r>
              <a:endParaRPr lang="nl-BE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430901" y="3424570"/>
            <a:ext cx="2033606" cy="508486"/>
            <a:chOff x="3316232" y="3045668"/>
            <a:chExt cx="2033606" cy="508486"/>
          </a:xfrm>
        </p:grpSpPr>
        <p:cxnSp>
          <p:nvCxnSpPr>
            <p:cNvPr id="12" name="Straight Arrow Connector 11"/>
            <p:cNvCxnSpPr>
              <a:stCxn id="13" idx="1"/>
            </p:cNvCxnSpPr>
            <p:nvPr/>
          </p:nvCxnSpPr>
          <p:spPr>
            <a:xfrm flipH="1">
              <a:off x="3316232" y="3230334"/>
              <a:ext cx="660538" cy="32382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976770" y="3045668"/>
              <a:ext cx="13730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create figure</a:t>
              </a:r>
              <a:endParaRPr lang="nl-BE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900785" y="4596696"/>
            <a:ext cx="3563723" cy="1231421"/>
            <a:chOff x="5376784" y="4596695"/>
            <a:chExt cx="3563723" cy="1231421"/>
          </a:xfrm>
        </p:grpSpPr>
        <p:cxnSp>
          <p:nvCxnSpPr>
            <p:cNvPr id="16" name="Straight Arrow Connector 15"/>
            <p:cNvCxnSpPr>
              <a:stCxn id="17" idx="1"/>
            </p:cNvCxnSpPr>
            <p:nvPr/>
          </p:nvCxnSpPr>
          <p:spPr>
            <a:xfrm flipH="1" flipV="1">
              <a:off x="5376784" y="4596695"/>
              <a:ext cx="2537608" cy="533509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914392" y="4945538"/>
              <a:ext cx="102611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plot data</a:t>
              </a:r>
              <a:endParaRPr lang="nl-BE" dirty="0">
                <a:solidFill>
                  <a:srgbClr val="C00000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17" idx="1"/>
            </p:cNvCxnSpPr>
            <p:nvPr/>
          </p:nvCxnSpPr>
          <p:spPr>
            <a:xfrm flipH="1" flipV="1">
              <a:off x="5376784" y="5084692"/>
              <a:ext cx="2537608" cy="45512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7" idx="1"/>
            </p:cNvCxnSpPr>
            <p:nvPr/>
          </p:nvCxnSpPr>
          <p:spPr>
            <a:xfrm flipH="1">
              <a:off x="5376784" y="5130204"/>
              <a:ext cx="2537608" cy="697912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159896" y="5777569"/>
            <a:ext cx="5295076" cy="697912"/>
            <a:chOff x="-200308" y="3045668"/>
            <a:chExt cx="5295076" cy="697912"/>
          </a:xfrm>
        </p:grpSpPr>
        <p:cxnSp>
          <p:nvCxnSpPr>
            <p:cNvPr id="26" name="Straight Arrow Connector 25"/>
            <p:cNvCxnSpPr>
              <a:stCxn id="27" idx="1"/>
            </p:cNvCxnSpPr>
            <p:nvPr/>
          </p:nvCxnSpPr>
          <p:spPr>
            <a:xfrm flipH="1">
              <a:off x="-200308" y="3230334"/>
              <a:ext cx="4177078" cy="513246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976770" y="3045668"/>
              <a:ext cx="111799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create file</a:t>
              </a:r>
              <a:endParaRPr lang="nl-BE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028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83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775446"/>
            <a:ext cx="5167339" cy="500821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6888091" y="1546482"/>
            <a:ext cx="2037849" cy="766829"/>
            <a:chOff x="3261463" y="3045668"/>
            <a:chExt cx="2037849" cy="766829"/>
          </a:xfrm>
        </p:grpSpPr>
        <p:cxnSp>
          <p:nvCxnSpPr>
            <p:cNvPr id="6" name="Straight Arrow Connector 5"/>
            <p:cNvCxnSpPr>
              <a:stCxn id="7" idx="1"/>
            </p:cNvCxnSpPr>
            <p:nvPr/>
          </p:nvCxnSpPr>
          <p:spPr>
            <a:xfrm flipH="1">
              <a:off x="3261463" y="3230334"/>
              <a:ext cx="715306" cy="58216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3976769" y="3045668"/>
              <a:ext cx="132254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pan tool</a:t>
              </a:r>
              <a:endParaRPr lang="nl-BE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888089" y="2020178"/>
            <a:ext cx="2037850" cy="544726"/>
            <a:chOff x="3316233" y="3046469"/>
            <a:chExt cx="2037850" cy="544726"/>
          </a:xfrm>
        </p:grpSpPr>
        <p:cxnSp>
          <p:nvCxnSpPr>
            <p:cNvPr id="9" name="Straight Arrow Connector 8"/>
            <p:cNvCxnSpPr>
              <a:stCxn id="10" idx="1"/>
            </p:cNvCxnSpPr>
            <p:nvPr/>
          </p:nvCxnSpPr>
          <p:spPr>
            <a:xfrm flipH="1">
              <a:off x="3316233" y="3231135"/>
              <a:ext cx="715308" cy="36006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031541" y="3046469"/>
              <a:ext cx="132254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box zoom</a:t>
              </a:r>
              <a:endParaRPr lang="nl-BE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888091" y="2491927"/>
            <a:ext cx="2037849" cy="369332"/>
            <a:chOff x="3261463" y="3045668"/>
            <a:chExt cx="2037849" cy="369332"/>
          </a:xfrm>
        </p:grpSpPr>
        <p:cxnSp>
          <p:nvCxnSpPr>
            <p:cNvPr id="12" name="Straight Arrow Connector 11"/>
            <p:cNvCxnSpPr>
              <a:stCxn id="13" idx="1"/>
            </p:cNvCxnSpPr>
            <p:nvPr/>
          </p:nvCxnSpPr>
          <p:spPr>
            <a:xfrm flipH="1">
              <a:off x="3261463" y="3230334"/>
              <a:ext cx="715307" cy="10433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976770" y="3045668"/>
              <a:ext cx="132254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wheel zoom</a:t>
              </a:r>
              <a:endParaRPr lang="nl-BE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888089" y="2969643"/>
            <a:ext cx="2037850" cy="369332"/>
            <a:chOff x="3261462" y="3045668"/>
            <a:chExt cx="2037850" cy="369332"/>
          </a:xfrm>
        </p:grpSpPr>
        <p:cxnSp>
          <p:nvCxnSpPr>
            <p:cNvPr id="15" name="Straight Arrow Connector 14"/>
            <p:cNvCxnSpPr>
              <a:stCxn id="16" idx="1"/>
            </p:cNvCxnSpPr>
            <p:nvPr/>
          </p:nvCxnSpPr>
          <p:spPr>
            <a:xfrm flipH="1" flipV="1">
              <a:off x="3261462" y="3124678"/>
              <a:ext cx="715308" cy="10565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976770" y="3045668"/>
              <a:ext cx="132254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save image</a:t>
              </a:r>
              <a:endParaRPr lang="nl-BE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888091" y="3338976"/>
            <a:ext cx="2037849" cy="484128"/>
            <a:chOff x="3260260" y="2930872"/>
            <a:chExt cx="2037849" cy="484128"/>
          </a:xfrm>
        </p:grpSpPr>
        <p:cxnSp>
          <p:nvCxnSpPr>
            <p:cNvPr id="18" name="Straight Arrow Connector 17"/>
            <p:cNvCxnSpPr>
              <a:stCxn id="19" idx="1"/>
            </p:cNvCxnSpPr>
            <p:nvPr/>
          </p:nvCxnSpPr>
          <p:spPr>
            <a:xfrm flipH="1" flipV="1">
              <a:off x="3260260" y="2930872"/>
              <a:ext cx="716510" cy="29946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976770" y="3045668"/>
              <a:ext cx="132133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reset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340517" y="5037122"/>
            <a:ext cx="36120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Interactive in web browser!</a:t>
            </a:r>
          </a:p>
        </p:txBody>
      </p:sp>
    </p:spTree>
    <p:extLst>
      <p:ext uri="{BB962C8B-B14F-4D97-AF65-F5344CB8AC3E}">
        <p14:creationId xmlns:p14="http://schemas.microsoft.com/office/powerpoint/2010/main" val="343120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file with widget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84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1" y="1340768"/>
            <a:ext cx="4547213" cy="4928592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279576" y="5764176"/>
            <a:ext cx="7013054" cy="617153"/>
            <a:chOff x="755576" y="5764175"/>
            <a:chExt cx="7013054" cy="617153"/>
          </a:xfrm>
        </p:grpSpPr>
        <p:grpSp>
          <p:nvGrpSpPr>
            <p:cNvPr id="5" name="Group 4"/>
            <p:cNvGrpSpPr/>
            <p:nvPr/>
          </p:nvGrpSpPr>
          <p:grpSpPr>
            <a:xfrm>
              <a:off x="4932040" y="5764175"/>
              <a:ext cx="2836590" cy="369332"/>
              <a:chOff x="2884184" y="3045668"/>
              <a:chExt cx="2836590" cy="369332"/>
            </a:xfrm>
          </p:grpSpPr>
          <p:cxnSp>
            <p:nvCxnSpPr>
              <p:cNvPr id="6" name="Straight Arrow Connector 5"/>
              <p:cNvCxnSpPr>
                <a:stCxn id="7" idx="1"/>
                <a:endCxn id="9" idx="3"/>
              </p:cNvCxnSpPr>
              <p:nvPr/>
            </p:nvCxnSpPr>
            <p:spPr>
              <a:xfrm flipH="1">
                <a:off x="2884184" y="3230334"/>
                <a:ext cx="1092586" cy="123911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3976770" y="3045668"/>
                <a:ext cx="1744004" cy="36933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interactive slider</a:t>
                </a:r>
                <a:endParaRPr lang="nl-BE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755576" y="5764175"/>
              <a:ext cx="4176464" cy="617153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080548" y="2868965"/>
            <a:ext cx="304775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Required: callback function</a:t>
            </a:r>
          </a:p>
          <a:p>
            <a:r>
              <a:rPr lang="en-US" dirty="0"/>
              <a:t>  </a:t>
            </a:r>
            <a:r>
              <a:rPr lang="en-US" dirty="0">
                <a:sym typeface="Symbol" panose="05050102010706020507" pitchFamily="18" charset="2"/>
              </a:rPr>
              <a:t></a:t>
            </a:r>
            <a:r>
              <a:rPr lang="en-US" dirty="0"/>
              <a:t> modifies data</a:t>
            </a:r>
          </a:p>
          <a:p>
            <a:r>
              <a:rPr lang="en-US" dirty="0"/>
              <a:t>  </a:t>
            </a:r>
            <a:r>
              <a:rPr lang="en-US" dirty="0">
                <a:sym typeface="Symbol" panose="05050102010706020507" pitchFamily="18" charset="2"/>
              </a:rPr>
              <a:t></a:t>
            </a:r>
            <a:r>
              <a:rPr lang="en-US" dirty="0"/>
              <a:t> triggers update</a:t>
            </a:r>
          </a:p>
          <a:p>
            <a:r>
              <a:rPr lang="en-US" dirty="0"/>
              <a:t>  </a:t>
            </a:r>
            <a:r>
              <a:rPr lang="en-US" dirty="0">
                <a:sym typeface="Symbol" panose="05050102010706020507" pitchFamily="18" charset="2"/>
              </a:rPr>
              <a:t> involves </a:t>
            </a:r>
            <a:r>
              <a:rPr lang="en-US" dirty="0" err="1">
                <a:sym typeface="Symbol" panose="05050102010706020507" pitchFamily="18" charset="2"/>
              </a:rPr>
              <a:t>Javascript</a:t>
            </a:r>
            <a:r>
              <a:rPr lang="en-US" dirty="0">
                <a:sym typeface="Symbol" panose="05050102010706020507" pitchFamily="18" charset="2"/>
              </a:rPr>
              <a:t> tinkering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0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figures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85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774"/>
          <a:stretch/>
        </p:blipFill>
        <p:spPr>
          <a:xfrm>
            <a:off x="1919537" y="1340769"/>
            <a:ext cx="7418611" cy="4824536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007768" y="2112471"/>
            <a:ext cx="6509336" cy="1436575"/>
            <a:chOff x="3628678" y="4432293"/>
            <a:chExt cx="6509336" cy="1436575"/>
          </a:xfrm>
        </p:grpSpPr>
        <p:cxnSp>
          <p:nvCxnSpPr>
            <p:cNvPr id="6" name="Straight Arrow Connector 5"/>
            <p:cNvCxnSpPr>
              <a:stCxn id="7" idx="1"/>
            </p:cNvCxnSpPr>
            <p:nvPr/>
          </p:nvCxnSpPr>
          <p:spPr>
            <a:xfrm flipH="1" flipV="1">
              <a:off x="3628678" y="4432293"/>
              <a:ext cx="4285714" cy="974910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7914392" y="4945538"/>
              <a:ext cx="2223622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linked figures for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  </a:t>
              </a:r>
              <a:r>
                <a:rPr lang="en-US" dirty="0">
                  <a:solidFill>
                    <a:srgbClr val="C00000"/>
                  </a:solidFill>
                  <a:sym typeface="Symbol" panose="05050102010706020507" pitchFamily="18" charset="2"/>
                </a:rPr>
                <a:t> </a:t>
              </a:r>
              <a:r>
                <a:rPr lang="en-US" dirty="0">
                  <a:solidFill>
                    <a:srgbClr val="C00000"/>
                  </a:solidFill>
                </a:rPr>
                <a:t>panning, zooming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  </a:t>
              </a:r>
              <a:r>
                <a:rPr lang="en-US" dirty="0">
                  <a:solidFill>
                    <a:srgbClr val="C00000"/>
                  </a:solidFill>
                  <a:sym typeface="Symbol" panose="05050102010706020507" pitchFamily="18" charset="2"/>
                </a:rPr>
                <a:t> </a:t>
              </a:r>
              <a:r>
                <a:rPr lang="en-US" dirty="0">
                  <a:solidFill>
                    <a:srgbClr val="C00000"/>
                  </a:solidFill>
                </a:rPr>
                <a:t>interactive settings</a:t>
              </a:r>
              <a:endParaRPr lang="nl-BE" dirty="0">
                <a:solidFill>
                  <a:srgbClr val="C00000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7" idx="1"/>
            </p:cNvCxnSpPr>
            <p:nvPr/>
          </p:nvCxnSpPr>
          <p:spPr>
            <a:xfrm flipH="1" flipV="1">
              <a:off x="5376784" y="5084693"/>
              <a:ext cx="2537608" cy="322510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1"/>
            </p:cNvCxnSpPr>
            <p:nvPr/>
          </p:nvCxnSpPr>
          <p:spPr>
            <a:xfrm flipH="1">
              <a:off x="5376784" y="5407203"/>
              <a:ext cx="2537608" cy="420913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ounded Rectangle 10"/>
          <p:cNvSpPr/>
          <p:nvPr/>
        </p:nvSpPr>
        <p:spPr>
          <a:xfrm>
            <a:off x="5087889" y="1628800"/>
            <a:ext cx="1062737" cy="36004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495600" y="5013177"/>
            <a:ext cx="2088232" cy="115715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brushing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86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340769"/>
            <a:ext cx="5555930" cy="4843437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2927648" y="1340768"/>
            <a:ext cx="7113316" cy="3401580"/>
            <a:chOff x="1403648" y="1340768"/>
            <a:chExt cx="7113316" cy="3401580"/>
          </a:xfrm>
        </p:grpSpPr>
        <p:sp>
          <p:nvSpPr>
            <p:cNvPr id="5" name="Rounded Rectangle 4"/>
            <p:cNvSpPr/>
            <p:nvPr/>
          </p:nvSpPr>
          <p:spPr>
            <a:xfrm>
              <a:off x="4716016" y="1340768"/>
              <a:ext cx="360040" cy="36004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1403648" y="2178967"/>
              <a:ext cx="7113316" cy="2563381"/>
              <a:chOff x="2839326" y="4562610"/>
              <a:chExt cx="7113316" cy="2563381"/>
            </a:xfrm>
          </p:grpSpPr>
          <p:cxnSp>
            <p:nvCxnSpPr>
              <p:cNvPr id="7" name="Straight Arrow Connector 6"/>
              <p:cNvCxnSpPr>
                <a:stCxn id="8" idx="1"/>
              </p:cNvCxnSpPr>
              <p:nvPr/>
            </p:nvCxnSpPr>
            <p:spPr>
              <a:xfrm flipH="1" flipV="1">
                <a:off x="2839326" y="4562610"/>
                <a:ext cx="5075066" cy="993359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7914392" y="5371303"/>
                <a:ext cx="203825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consistent selection</a:t>
                </a:r>
                <a:endParaRPr lang="nl-BE" dirty="0"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9" name="Straight Arrow Connector 8"/>
              <p:cNvCxnSpPr>
                <a:stCxn id="8" idx="1"/>
              </p:cNvCxnSpPr>
              <p:nvPr/>
            </p:nvCxnSpPr>
            <p:spPr>
              <a:xfrm flipH="1" flipV="1">
                <a:off x="5647638" y="5371303"/>
                <a:ext cx="2266754" cy="184666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>
                <a:stCxn id="8" idx="1"/>
              </p:cNvCxnSpPr>
              <p:nvPr/>
            </p:nvCxnSpPr>
            <p:spPr>
              <a:xfrm flipH="1">
                <a:off x="6331714" y="5555969"/>
                <a:ext cx="1582678" cy="1570022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4247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Hover tool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87</a:t>
            </a:fld>
            <a:endParaRPr lang="nl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952" y="1628801"/>
            <a:ext cx="5773275" cy="3428231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834016" y="2276873"/>
            <a:ext cx="7006401" cy="2158499"/>
            <a:chOff x="755576" y="2276872"/>
            <a:chExt cx="7006401" cy="2158499"/>
          </a:xfrm>
        </p:grpSpPr>
        <p:cxnSp>
          <p:nvCxnSpPr>
            <p:cNvPr id="6" name="Straight Arrow Connector 5"/>
            <p:cNvCxnSpPr>
              <a:stCxn id="7" idx="1"/>
              <a:endCxn id="9" idx="3"/>
            </p:cNvCxnSpPr>
            <p:nvPr/>
          </p:nvCxnSpPr>
          <p:spPr>
            <a:xfrm flipH="1" flipV="1">
              <a:off x="3779912" y="2564904"/>
              <a:ext cx="2659522" cy="1547302"/>
            </a:xfrm>
            <a:prstGeom prst="straightConnector1">
              <a:avLst/>
            </a:prstGeom>
            <a:ln w="25400">
              <a:solidFill>
                <a:srgbClr val="C0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439434" y="3789040"/>
              <a:ext cx="1322543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hover for details</a:t>
              </a:r>
              <a:endParaRPr lang="nl-BE" dirty="0">
                <a:solidFill>
                  <a:srgbClr val="C00000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5576" y="2276872"/>
              <a:ext cx="3024336" cy="57606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69549" y="5601806"/>
            <a:ext cx="39483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Any information can be added</a:t>
            </a:r>
          </a:p>
        </p:txBody>
      </p:sp>
    </p:spTree>
    <p:extLst>
      <p:ext uri="{BB962C8B-B14F-4D97-AF65-F5344CB8AC3E}">
        <p14:creationId xmlns:p14="http://schemas.microsoft.com/office/powerpoint/2010/main" val="166099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&amp; video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https://github.com/gjbex/Scientific-Python/tree/master/source-code/image-processing</a:t>
            </a:r>
            <a:r>
              <a:rPr lang="en-US" sz="18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728845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&amp; video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dedicated software, e.g., GIMP, </a:t>
            </a:r>
            <a:r>
              <a:rPr lang="en-US" dirty="0" err="1"/>
              <a:t>OpenShot</a:t>
            </a:r>
            <a:endParaRPr lang="en-US" dirty="0"/>
          </a:p>
          <a:p>
            <a:pPr lvl="1"/>
            <a:r>
              <a:rPr lang="en-US" dirty="0"/>
              <a:t>use Python for plugins</a:t>
            </a:r>
          </a:p>
          <a:p>
            <a:pPr lvl="1"/>
            <a:r>
              <a:rPr lang="en-US" dirty="0"/>
              <a:t>use Python for scripting</a:t>
            </a:r>
          </a:p>
          <a:p>
            <a:r>
              <a:rPr lang="en-US" dirty="0"/>
              <a:t>Image processing</a:t>
            </a:r>
          </a:p>
          <a:p>
            <a:pPr lvl="1"/>
            <a:r>
              <a:rPr lang="en-US" dirty="0"/>
              <a:t>pillow: basic image processing (successor to PIL)</a:t>
            </a:r>
          </a:p>
          <a:p>
            <a:pPr lvl="1"/>
            <a:r>
              <a:rPr lang="en-US" dirty="0" err="1"/>
              <a:t>scikit</a:t>
            </a:r>
            <a:r>
              <a:rPr lang="en-US" dirty="0"/>
              <a:t>-image: more sophisticated algorithms</a:t>
            </a:r>
          </a:p>
          <a:p>
            <a:pPr lvl="1"/>
            <a:r>
              <a:rPr lang="en-US" dirty="0" err="1"/>
              <a:t>OpenCV</a:t>
            </a:r>
            <a:r>
              <a:rPr lang="en-US" dirty="0"/>
              <a:t>: comparable to </a:t>
            </a:r>
            <a:r>
              <a:rPr lang="en-US" dirty="0" err="1"/>
              <a:t>scikit</a:t>
            </a:r>
            <a:r>
              <a:rPr lang="en-US" dirty="0"/>
              <a:t>-image</a:t>
            </a:r>
          </a:p>
          <a:p>
            <a:r>
              <a:rPr lang="en-US" dirty="0"/>
              <a:t>Video processing</a:t>
            </a:r>
          </a:p>
          <a:p>
            <a:pPr lvl="1"/>
            <a:r>
              <a:rPr lang="en-US" dirty="0" err="1"/>
              <a:t>OpenCV</a:t>
            </a:r>
            <a:r>
              <a:rPr lang="en-US" dirty="0"/>
              <a:t>: many useful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89</a:t>
            </a:fld>
            <a:endParaRPr lang="nl-BE"/>
          </a:p>
        </p:txBody>
      </p:sp>
      <p:sp>
        <p:nvSpPr>
          <p:cNvPr id="5" name="Rectangle 4"/>
          <p:cNvSpPr/>
          <p:nvPr/>
        </p:nvSpPr>
        <p:spPr>
          <a:xfrm>
            <a:off x="1559496" y="4016035"/>
            <a:ext cx="1574402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59496" y="5314920"/>
            <a:ext cx="1133828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9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restoration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point spread function</a:t>
            </a:r>
          </a:p>
          <a:p>
            <a:endParaRPr lang="en-US" dirty="0"/>
          </a:p>
          <a:p>
            <a:r>
              <a:rPr lang="en-US" dirty="0"/>
              <a:t>Perform deconvolution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90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276872"/>
            <a:ext cx="75711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point_spread_f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((5, 5))/25.0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411759"/>
            <a:ext cx="7571184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skimage.restoration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unsupervised_wiener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denoised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_ =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unsupervised_wiener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point_spread_f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4" t="9051" r="48738" b="13775"/>
          <a:stretch/>
        </p:blipFill>
        <p:spPr>
          <a:xfrm>
            <a:off x="2204011" y="4361834"/>
            <a:ext cx="2091790" cy="221463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672064" y="3994187"/>
            <a:ext cx="3519770" cy="974645"/>
            <a:chOff x="2211763" y="2967703"/>
            <a:chExt cx="3519770" cy="974645"/>
          </a:xfrm>
        </p:grpSpPr>
        <p:sp>
          <p:nvSpPr>
            <p:cNvPr id="9" name="Rectangle 8"/>
            <p:cNvSpPr/>
            <p:nvPr/>
          </p:nvSpPr>
          <p:spPr>
            <a:xfrm>
              <a:off x="2211763" y="2967703"/>
              <a:ext cx="533661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3888" y="3573016"/>
              <a:ext cx="216764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3D </a:t>
              </a:r>
              <a:r>
                <a:rPr lang="en-US" dirty="0" err="1"/>
                <a:t>numpy</a:t>
              </a:r>
              <a:r>
                <a:rPr lang="en-US" dirty="0"/>
                <a:t> array, RGB</a:t>
              </a:r>
            </a:p>
          </p:txBody>
        </p:sp>
        <p:cxnSp>
          <p:nvCxnSpPr>
            <p:cNvPr id="11" name="Straight Arrow Connector 10"/>
            <p:cNvCxnSpPr>
              <a:stCxn id="10" idx="1"/>
              <a:endCxn id="9" idx="3"/>
            </p:cNvCxnSpPr>
            <p:nvPr/>
          </p:nvCxnSpPr>
          <p:spPr>
            <a:xfrm flipH="1" flipV="1">
              <a:off x="2745424" y="3111719"/>
              <a:ext cx="818464" cy="64596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7104113" y="5301208"/>
            <a:ext cx="172354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For image I/O:</a:t>
            </a:r>
            <a:br>
              <a:rPr lang="en-US" sz="20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skimage.io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3" t="9051" r="1766" b="13775"/>
          <a:stretch/>
        </p:blipFill>
        <p:spPr>
          <a:xfrm>
            <a:off x="4482609" y="4361834"/>
            <a:ext cx="2088233" cy="221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7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1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initial contour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Compute snake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91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214855"/>
            <a:ext cx="757118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theta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np.linspace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(0, 2*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np.pi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n)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x = x0 + radius*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np.cos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(theta)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y = y0 + radius*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np.sin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(theta)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initial_snake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([x, y]).T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797788"/>
            <a:ext cx="757118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skimage.segmentation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active_contour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snake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active_contour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smoothed_image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initial_snake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alpha=alpha, beta=beta,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gamma=gamma)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6" t="11751" r="10625" b="11751"/>
          <a:stretch/>
        </p:blipFill>
        <p:spPr>
          <a:xfrm>
            <a:off x="8040216" y="1269862"/>
            <a:ext cx="2304256" cy="23042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6" t="11751" r="10625" b="11751"/>
          <a:stretch/>
        </p:blipFill>
        <p:spPr>
          <a:xfrm>
            <a:off x="2279576" y="4422888"/>
            <a:ext cx="2386608" cy="2386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82716" y="5584795"/>
            <a:ext cx="51949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skimage.filters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import Gaussian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smoothed_image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gaussian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(image, 3)</a:t>
            </a:r>
          </a:p>
        </p:txBody>
      </p:sp>
    </p:spTree>
    <p:extLst>
      <p:ext uri="{BB962C8B-B14F-4D97-AF65-F5344CB8AC3E}">
        <p14:creationId xmlns:p14="http://schemas.microsoft.com/office/powerpoint/2010/main" val="274871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Capturing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 from camera, show in window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92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16936"/>
            <a:ext cx="7571184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import cv2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capture = cv2.VideoCapture(0)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while True: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status, frame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capture.read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if not status: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# oops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cv2.imshow('frame', frame)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if cv2.waitKey(1) &amp; 0xFF ==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ord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('q'):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break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cv2.destroyAllWindows()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capture.release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693361" y="3157225"/>
            <a:ext cx="3564289" cy="945396"/>
            <a:chOff x="2169360" y="2996952"/>
            <a:chExt cx="3564289" cy="945396"/>
          </a:xfrm>
        </p:grpSpPr>
        <p:sp>
          <p:nvSpPr>
            <p:cNvPr id="6" name="Rectangle 5"/>
            <p:cNvSpPr/>
            <p:nvPr/>
          </p:nvSpPr>
          <p:spPr>
            <a:xfrm>
              <a:off x="2169360" y="299695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63888" y="3573016"/>
              <a:ext cx="216976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3D </a:t>
              </a:r>
              <a:r>
                <a:rPr lang="en-US" dirty="0" err="1"/>
                <a:t>numpy</a:t>
              </a:r>
              <a:r>
                <a:rPr lang="en-US" dirty="0"/>
                <a:t> array, BGR</a:t>
              </a:r>
            </a:p>
          </p:txBody>
        </p:sp>
        <p:cxnSp>
          <p:nvCxnSpPr>
            <p:cNvPr id="9" name="Straight Arrow Connector 8"/>
            <p:cNvCxnSpPr>
              <a:stCxn id="7" idx="1"/>
              <a:endCxn id="6" idx="3"/>
            </p:cNvCxnSpPr>
            <p:nvPr/>
          </p:nvCxnSpPr>
          <p:spPr>
            <a:xfrm flipH="1" flipV="1">
              <a:off x="2889440" y="3140968"/>
              <a:ext cx="674448" cy="61671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7333489" y="4835875"/>
            <a:ext cx="1995644" cy="801380"/>
            <a:chOff x="2889440" y="3140968"/>
            <a:chExt cx="1995644" cy="801380"/>
          </a:xfrm>
        </p:grpSpPr>
        <p:sp>
          <p:nvSpPr>
            <p:cNvPr id="14" name="TextBox 13"/>
            <p:cNvSpPr txBox="1"/>
            <p:nvPr/>
          </p:nvSpPr>
          <p:spPr>
            <a:xfrm>
              <a:off x="3563888" y="3573016"/>
              <a:ext cx="132119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quit on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'q'</a:t>
              </a:r>
            </a:p>
          </p:txBody>
        </p:sp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 flipV="1">
              <a:off x="2889440" y="3140968"/>
              <a:ext cx="674448" cy="61671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6023992" y="2869194"/>
            <a:ext cx="3085482" cy="478169"/>
            <a:chOff x="2067752" y="3464179"/>
            <a:chExt cx="3085482" cy="478169"/>
          </a:xfrm>
        </p:grpSpPr>
        <p:sp>
          <p:nvSpPr>
            <p:cNvPr id="17" name="TextBox 16"/>
            <p:cNvSpPr txBox="1"/>
            <p:nvPr/>
          </p:nvSpPr>
          <p:spPr>
            <a:xfrm>
              <a:off x="3563888" y="3573016"/>
              <a:ext cx="158934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device number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2067752" y="3464179"/>
              <a:ext cx="1496136" cy="29350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459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Reading/writing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my_video.avi</a:t>
            </a:r>
          </a:p>
          <a:p>
            <a:endParaRPr lang="en-US" dirty="0"/>
          </a:p>
          <a:p>
            <a:r>
              <a:rPr lang="en-US" dirty="0"/>
              <a:t>Writing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my_video.avi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93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342961"/>
            <a:ext cx="757118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capture = cv2.VideoCapture('my_video.avi')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462075"/>
            <a:ext cx="7571184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fourcc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cv2.VideoWriter_fourcc(*'XVID')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writer = cv2.VideoWriter('my_video.avi',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fourcc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frames_per_second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(width, height))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for frame in frames: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writer.write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(frame)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writer.release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48128" y="2770654"/>
            <a:ext cx="2342454" cy="719026"/>
            <a:chOff x="2835658" y="3573016"/>
            <a:chExt cx="2342454" cy="719026"/>
          </a:xfrm>
        </p:grpSpPr>
        <p:sp>
          <p:nvSpPr>
            <p:cNvPr id="8" name="TextBox 7"/>
            <p:cNvSpPr txBox="1"/>
            <p:nvPr/>
          </p:nvSpPr>
          <p:spPr>
            <a:xfrm>
              <a:off x="3563888" y="3573016"/>
              <a:ext cx="16142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video encoding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/>
            <p:cNvCxnSpPr>
              <a:stCxn id="8" idx="1"/>
            </p:cNvCxnSpPr>
            <p:nvPr/>
          </p:nvCxnSpPr>
          <p:spPr>
            <a:xfrm flipH="1">
              <a:off x="2835658" y="3757682"/>
              <a:ext cx="728230" cy="53436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541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the ball: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Hue histogram of ROI (region of interest)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981200" y="2296304"/>
            <a:ext cx="757118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status, frame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capture.read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track_window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(x, y, width, height)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hsv_frame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cv2.cvtColor(frame, cv2.COLOR_BGR2HSV)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mask = cv2.inRange(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hsv_frame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min_hue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 50,  50)),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max_hue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255, 255)))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roi_hist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cv2.calcHist([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hsv_frame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], [0],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mask, 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max_hue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], [0,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max_hue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cv2.normalize(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roi_hist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roi_hist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0, 255,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cv2.NORM_MINMAX)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7528" y="5210186"/>
            <a:ext cx="3766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HSV = Hue, Saturation, Value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143672" y="5631829"/>
            <a:ext cx="2533268" cy="788474"/>
            <a:chOff x="3339714" y="3246207"/>
            <a:chExt cx="2533268" cy="788474"/>
          </a:xfrm>
        </p:grpSpPr>
        <p:sp>
          <p:nvSpPr>
            <p:cNvPr id="9" name="TextBox 8"/>
            <p:cNvSpPr txBox="1"/>
            <p:nvPr/>
          </p:nvSpPr>
          <p:spPr>
            <a:xfrm>
              <a:off x="3563888" y="3573016"/>
              <a:ext cx="230909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determines color</a:t>
              </a:r>
              <a:endParaRPr lang="en-US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flipH="1" flipV="1">
              <a:off x="3339714" y="3246207"/>
              <a:ext cx="224174" cy="55764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7666428" y="3520440"/>
            <a:ext cx="2873581" cy="707886"/>
            <a:chOff x="2420845" y="3573016"/>
            <a:chExt cx="2873581" cy="707886"/>
          </a:xfrm>
        </p:grpSpPr>
        <p:sp>
          <p:nvSpPr>
            <p:cNvPr id="13" name="TextBox 12"/>
            <p:cNvSpPr txBox="1"/>
            <p:nvPr/>
          </p:nvSpPr>
          <p:spPr>
            <a:xfrm>
              <a:off x="3563888" y="3573016"/>
              <a:ext cx="1730538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only histogram</a:t>
              </a:r>
              <a:br>
                <a:rPr lang="en-US" sz="2000" dirty="0"/>
              </a:br>
              <a:r>
                <a:rPr lang="en-US" sz="2000" dirty="0"/>
                <a:t>for hue on ROI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Straight Arrow Connector 13"/>
            <p:cNvCxnSpPr>
              <a:stCxn id="13" idx="1"/>
            </p:cNvCxnSpPr>
            <p:nvPr/>
          </p:nvCxnSpPr>
          <p:spPr>
            <a:xfrm flipH="1">
              <a:off x="2420845" y="3926959"/>
              <a:ext cx="1143043" cy="25272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511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the ball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frames and update track window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95</a:t>
            </a:fld>
            <a:endParaRPr lang="nl-BE"/>
          </a:p>
        </p:txBody>
      </p:sp>
      <p:sp>
        <p:nvSpPr>
          <p:cNvPr id="6" name="TextBox 5"/>
          <p:cNvSpPr txBox="1"/>
          <p:nvPr/>
        </p:nvSpPr>
        <p:spPr>
          <a:xfrm>
            <a:off x="1756757" y="2289386"/>
            <a:ext cx="8435280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termin_cond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(cv2.TERM_CRITERIA_EPS |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cv2.TERM_CRITERIA_COUNT,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iterations, pixels)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while True: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status, frame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capture.read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hsv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cv2.cvtColor(frame, cv2.COLOR_BGR2HSV)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back_proj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cv2.calcBackProject([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hsv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], [0],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roi_hist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  [0,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max_hue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], 1)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status,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track_window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cv2.meanShift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back_proj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track_window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termin_cond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  <a:endParaRPr lang="en-US" dirty="0"/>
          </a:p>
        </p:txBody>
      </p:sp>
      <p:pic>
        <p:nvPicPr>
          <p:cNvPr id="7" name="bal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15173" y="4928031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7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 depends on</a:t>
            </a:r>
            <a:br>
              <a:rPr lang="en-US" dirty="0"/>
            </a:br>
            <a:r>
              <a:rPr lang="en-US" dirty="0"/>
              <a:t>           </a:t>
            </a:r>
            <a:r>
              <a:rPr lang="en-US" i="1" dirty="0">
                <a:solidFill>
                  <a:srgbClr val="C00000"/>
                </a:solidFill>
              </a:rPr>
              <a:t>understanding algorithms!</a:t>
            </a:r>
          </a:p>
          <a:p>
            <a:r>
              <a:rPr lang="en-US" dirty="0"/>
              <a:t>Many things to explore</a:t>
            </a:r>
          </a:p>
          <a:p>
            <a:r>
              <a:rPr lang="en-US" dirty="0"/>
              <a:t>Check out</a:t>
            </a:r>
          </a:p>
          <a:p>
            <a:pPr lvl="1"/>
            <a:r>
              <a:rPr lang="en-US" dirty="0">
                <a:hlinkClick r:id="rId2"/>
              </a:rPr>
              <a:t>https://scikit-image.org/docs/stable/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https://docs.opencv.org/4.x/d6/d00/tutorial_py_root.html</a:t>
            </a:r>
            <a:r>
              <a:rPr lang="en-US" sz="20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96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3933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2809</TotalTime>
  <Words>7260</Words>
  <Application>Microsoft Office PowerPoint</Application>
  <PresentationFormat>Widescreen</PresentationFormat>
  <Paragraphs>1226</Paragraphs>
  <Slides>96</Slides>
  <Notes>1</Notes>
  <HiddenSlides>0</HiddenSlides>
  <MMClips>3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96</vt:i4>
      </vt:variant>
    </vt:vector>
  </HeadingPairs>
  <TitlesOfParts>
    <vt:vector size="105" baseType="lpstr">
      <vt:lpstr>Arial</vt:lpstr>
      <vt:lpstr>Calibri</vt:lpstr>
      <vt:lpstr>Calibri Light</vt:lpstr>
      <vt:lpstr>Cambria Math</vt:lpstr>
      <vt:lpstr>Courier New</vt:lpstr>
      <vt:lpstr>Symbol</vt:lpstr>
      <vt:lpstr>Office Theme</vt:lpstr>
      <vt:lpstr>Equation</vt:lpstr>
      <vt:lpstr>Vergelijking</vt:lpstr>
      <vt:lpstr>Scientific Python</vt:lpstr>
      <vt:lpstr>PowerPoint Presentation</vt:lpstr>
      <vt:lpstr>PowerPoint Presentation</vt:lpstr>
      <vt:lpstr>Typographical conventions</vt:lpstr>
      <vt:lpstr>numpy</vt:lpstr>
      <vt:lpstr>Out of the box</vt:lpstr>
      <vt:lpstr>Python performance</vt:lpstr>
      <vt:lpstr>Libraries for numeric computation</vt:lpstr>
      <vt:lpstr>Python using numpy</vt:lpstr>
      <vt:lpstr>Creating array I</vt:lpstr>
      <vt:lpstr>Creating arrays II</vt:lpstr>
      <vt:lpstr>Creating arrays III</vt:lpstr>
      <vt:lpstr>Random numbers</vt:lpstr>
      <vt:lpstr>Numpy data types</vt:lpstr>
      <vt:lpstr>Accessing array elements</vt:lpstr>
      <vt:lpstr>Memory layout</vt:lpstr>
      <vt:lpstr>Accessing subarrays: slicing</vt:lpstr>
      <vt:lpstr>Views versus copies</vt:lpstr>
      <vt:lpstr>Fancy indexing</vt:lpstr>
      <vt:lpstr>Operations on arrays</vt:lpstr>
      <vt:lpstr>Functions operating on arrays</vt:lpstr>
      <vt:lpstr>Aggregation functions</vt:lpstr>
      <vt:lpstr>Some linear algebra</vt:lpstr>
      <vt:lpstr>numpy data I/O revisited</vt:lpstr>
      <vt:lpstr>Matrices</vt:lpstr>
      <vt:lpstr>References</vt:lpstr>
      <vt:lpstr>scipy</vt:lpstr>
      <vt:lpstr>Libraries for numeric computation</vt:lpstr>
      <vt:lpstr>Singular Value Decomposition</vt:lpstr>
      <vt:lpstr>Linear regression</vt:lpstr>
      <vt:lpstr>Optimization: function definitions</vt:lpstr>
      <vt:lpstr>Optimization</vt:lpstr>
      <vt:lpstr>Ordinary differential equations</vt:lpstr>
      <vt:lpstr>Jacobian for equations</vt:lpstr>
      <vt:lpstr>Integrate ODEs</vt:lpstr>
      <vt:lpstr>Signal processing</vt:lpstr>
      <vt:lpstr>Original signal</vt:lpstr>
      <vt:lpstr>Create highpass filter</vt:lpstr>
      <vt:lpstr>Filter signal</vt:lpstr>
      <vt:lpstr>Filtered signal</vt:lpstr>
      <vt:lpstr>Matplotlib</vt:lpstr>
      <vt:lpstr>And some matplotlib…</vt:lpstr>
      <vt:lpstr>Simple line plot</vt:lpstr>
      <vt:lpstr>Axis labels, annotation</vt:lpstr>
      <vt:lpstr>Multiple functions on line plot</vt:lpstr>
      <vt:lpstr>Complete line plot</vt:lpstr>
      <vt:lpstr>Histogram</vt:lpstr>
      <vt:lpstr>Line plot on histogram</vt:lpstr>
      <vt:lpstr>Heat map data</vt:lpstr>
      <vt:lpstr>Heat map plot</vt:lpstr>
      <vt:lpstr>3D surface plot</vt:lpstr>
      <vt:lpstr>Multiple plots data</vt:lpstr>
      <vt:lpstr>Multiple plots</vt:lpstr>
      <vt:lpstr>References</vt:lpstr>
      <vt:lpstr>Sympy</vt:lpstr>
      <vt:lpstr>Introduction</vt:lpstr>
      <vt:lpstr>Defining symbols</vt:lpstr>
      <vt:lpstr>Solving equations</vt:lpstr>
      <vt:lpstr>Eigenvalues, eigenvectors</vt:lpstr>
      <vt:lpstr>Derivatives</vt:lpstr>
      <vt:lpstr>Integration</vt:lpstr>
      <vt:lpstr>Limits and series expansion</vt:lpstr>
      <vt:lpstr>Expression representation</vt:lpstr>
      <vt:lpstr>Parts of expressions</vt:lpstr>
      <vt:lpstr>Expression manipulation</vt:lpstr>
      <vt:lpstr>Further reading</vt:lpstr>
      <vt:lpstr>HDF5: h5py</vt:lpstr>
      <vt:lpstr>HDF5: what is it?</vt:lpstr>
      <vt:lpstr>HDF5 data</vt:lpstr>
      <vt:lpstr>HDF5 storage</vt:lpstr>
      <vt:lpstr>HDF5: how to use it?</vt:lpstr>
      <vt:lpstr>Importing modules</vt:lpstr>
      <vt:lpstr>Open &amp; close HDF5 file</vt:lpstr>
      <vt:lpstr>Creating a group</vt:lpstr>
      <vt:lpstr>Adding a dataset</vt:lpstr>
      <vt:lpstr>Adding another 2D array</vt:lpstr>
      <vt:lpstr>Annotations</vt:lpstr>
      <vt:lpstr>Reading an array </vt:lpstr>
      <vt:lpstr>HDF5 command line utilities</vt:lpstr>
      <vt:lpstr>Bokeh</vt:lpstr>
      <vt:lpstr>What is it?</vt:lpstr>
      <vt:lpstr>Simple plot</vt:lpstr>
      <vt:lpstr>HTML file</vt:lpstr>
      <vt:lpstr>HTML file with widget</vt:lpstr>
      <vt:lpstr>Linked figures</vt:lpstr>
      <vt:lpstr>Linked brushing</vt:lpstr>
      <vt:lpstr>Hover tool</vt:lpstr>
      <vt:lpstr>Image &amp; video processing</vt:lpstr>
      <vt:lpstr>Image &amp; video processing</vt:lpstr>
      <vt:lpstr>Image restoration</vt:lpstr>
      <vt:lpstr>Segmentation</vt:lpstr>
      <vt:lpstr>Capturing video</vt:lpstr>
      <vt:lpstr>Reading/writing video</vt:lpstr>
      <vt:lpstr>Follow the ball: setup</vt:lpstr>
      <vt:lpstr>Follow the ball</vt:lpstr>
      <vt:lpstr>Further reading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Python</dc:title>
  <dc:creator>Geert Jan Bex</dc:creator>
  <cp:lastModifiedBy>Geert Jan Bex</cp:lastModifiedBy>
  <cp:revision>87</cp:revision>
  <dcterms:created xsi:type="dcterms:W3CDTF">2019-11-07T15:31:23Z</dcterms:created>
  <dcterms:modified xsi:type="dcterms:W3CDTF">2026-10-23T12:05:12Z</dcterms:modified>
</cp:coreProperties>
</file>