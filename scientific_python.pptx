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6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61" r:id="rId14"/>
    <p:sldId id="265" r:id="rId15"/>
    <p:sldId id="266" r:id="rId16"/>
    <p:sldId id="359" r:id="rId17"/>
    <p:sldId id="267" r:id="rId18"/>
    <p:sldId id="272" r:id="rId19"/>
    <p:sldId id="268" r:id="rId20"/>
    <p:sldId id="269" r:id="rId21"/>
    <p:sldId id="270" r:id="rId22"/>
    <p:sldId id="360" r:id="rId23"/>
    <p:sldId id="271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58" r:id="rId71"/>
    <p:sldId id="352" r:id="rId72"/>
    <p:sldId id="353" r:id="rId73"/>
    <p:sldId id="354" r:id="rId74"/>
    <p:sldId id="357" r:id="rId75"/>
    <p:sldId id="355" r:id="rId76"/>
    <p:sldId id="356" r:id="rId77"/>
    <p:sldId id="330" r:id="rId78"/>
    <p:sldId id="320" r:id="rId79"/>
    <p:sldId id="321" r:id="rId80"/>
    <p:sldId id="322" r:id="rId81"/>
    <p:sldId id="323" r:id="rId82"/>
    <p:sldId id="324" r:id="rId83"/>
    <p:sldId id="328" r:id="rId84"/>
    <p:sldId id="325" r:id="rId85"/>
    <p:sldId id="326" r:id="rId86"/>
    <p:sldId id="327" r:id="rId87"/>
    <p:sldId id="329" r:id="rId88"/>
    <p:sldId id="331" r:id="rId89"/>
    <p:sldId id="332" r:id="rId90"/>
    <p:sldId id="333" r:id="rId91"/>
    <p:sldId id="334" r:id="rId92"/>
    <p:sldId id="335" r:id="rId93"/>
    <p:sldId id="336" r:id="rId94"/>
    <p:sldId id="337" r:id="rId95"/>
    <p:sldId id="338" r:id="rId96"/>
    <p:sldId id="339" r:id="rId97"/>
    <p:sldId id="340" r:id="rId98"/>
    <p:sldId id="341" r:id="rId99"/>
    <p:sldId id="342" r:id="rId100"/>
    <p:sldId id="343" r:id="rId101"/>
    <p:sldId id="344" r:id="rId102"/>
    <p:sldId id="345" r:id="rId103"/>
    <p:sldId id="346" r:id="rId104"/>
    <p:sldId id="347" r:id="rId10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361"/>
            <p14:sldId id="265"/>
            <p14:sldId id="266"/>
            <p14:sldId id="359"/>
            <p14:sldId id="267"/>
            <p14:sldId id="272"/>
            <p14:sldId id="268"/>
            <p14:sldId id="269"/>
            <p14:sldId id="270"/>
            <p14:sldId id="360"/>
            <p14:sldId id="271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76" d="100"/>
          <a:sy n="76" d="100"/>
        </p:scale>
        <p:origin x="58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652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presProps" Target="pres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heme" Target="theme/theme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views.ipynb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broadcast.ipynb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wmf"/><Relationship Id="rId4" Type="http://schemas.openxmlformats.org/officeDocument/2006/relationships/oleObject" Target="../embeddings/oleObject5.bin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1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569899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def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20" name="Group 19"/>
          <p:cNvGrpSpPr/>
          <p:nvPr/>
        </p:nvGrpSpPr>
        <p:grpSpPr>
          <a:xfrm>
            <a:off x="2063552" y="3491717"/>
            <a:ext cx="7200800" cy="1460485"/>
            <a:chOff x="539552" y="3491716"/>
            <a:chExt cx="720080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g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np.zeros_like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(f)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009053" y="3861048"/>
              <a:ext cx="3451992" cy="1091153"/>
              <a:chOff x="3506349" y="4271030"/>
              <a:chExt cx="3451992" cy="1091153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28931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with shape</a:t>
                </a:r>
                <a:br>
                  <a:rPr lang="en-US" dirty="0"/>
                </a:br>
                <a:r>
                  <a:rPr lang="en-US" dirty="0"/>
                  <a:t>and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dtype</a:t>
                </a:r>
                <a:r>
                  <a:rPr lang="en-US" dirty="0"/>
                  <a:t> of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</a:p>
            </p:txBody>
          </p:sp>
          <p:cxnSp>
            <p:nvCxnSpPr>
              <p:cNvPr id="12" name="Straight Arrow Connector 11"/>
              <p:cNvCxnSpPr>
                <a:cxnSpLocks/>
                <a:stCxn id="11" idx="1"/>
              </p:cNvCxnSpPr>
              <p:nvPr/>
            </p:nvCxnSpPr>
            <p:spPr>
              <a:xfrm flipH="1" flipV="1">
                <a:off x="3506349" y="4271030"/>
                <a:ext cx="558892" cy="76798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22CEB75-555E-7F0E-47BB-4F3CA92AD989}"/>
              </a:ext>
            </a:extLst>
          </p:cNvPr>
          <p:cNvGrpSpPr/>
          <p:nvPr/>
        </p:nvGrpSpPr>
        <p:grpSpPr>
          <a:xfrm>
            <a:off x="2063552" y="1774560"/>
            <a:ext cx="7229654" cy="1460485"/>
            <a:chOff x="539552" y="3491716"/>
            <a:chExt cx="7229654" cy="146048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E6AFB6-4ADE-5C9D-BED2-2B89E443A089}"/>
                </a:ext>
              </a:extLst>
            </p:cNvPr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B7DDDB1-F414-5FFD-1907-BABC7640D731}"/>
                </a:ext>
              </a:extLst>
            </p:cNvPr>
            <p:cNvGrpSpPr/>
            <p:nvPr/>
          </p:nvGrpSpPr>
          <p:grpSpPr>
            <a:xfrm>
              <a:off x="4139952" y="3861048"/>
              <a:ext cx="3629254" cy="1091153"/>
              <a:chOff x="3637248" y="4271030"/>
              <a:chExt cx="3629254" cy="1091153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4618593-6854-0357-AAF3-383AC58D3DD7}"/>
                  </a:ext>
                </a:extLst>
              </p:cNvPr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67B0C852-806A-C70D-901E-7ACE7E4CACCF}"/>
                  </a:ext>
                </a:extLst>
              </p:cNvPr>
              <p:cNvCxnSpPr>
                <a:cxnSpLocks/>
                <a:stCxn id="23" idx="1"/>
                <a:endCxn id="14" idx="2"/>
              </p:cNvCxnSpPr>
              <p:nvPr/>
            </p:nvCxnSpPr>
            <p:spPr>
              <a:xfrm flipH="1" flipV="1">
                <a:off x="3637248" y="4271030"/>
                <a:ext cx="427993" cy="76798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D9454-011C-BA61-DF06-8E7742A49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A0853-C3DD-6893-0BFD-0E2A7CE7F0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random number generator (RNG)</a:t>
            </a:r>
          </a:p>
          <a:p>
            <a:endParaRPr lang="en-US" dirty="0"/>
          </a:p>
          <a:p>
            <a:r>
              <a:rPr lang="en-US" dirty="0"/>
              <a:t>Reproducibility: seed RNG</a:t>
            </a:r>
          </a:p>
          <a:p>
            <a:endParaRPr lang="en-US" dirty="0"/>
          </a:p>
          <a:p>
            <a:r>
              <a:rPr lang="en-US" dirty="0"/>
              <a:t>Create arrays</a:t>
            </a:r>
            <a:endParaRPr lang="LID4096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E0CA0A-BA1C-2135-7CF4-13D703974884}"/>
              </a:ext>
            </a:extLst>
          </p:cNvPr>
          <p:cNvGrpSpPr/>
          <p:nvPr/>
        </p:nvGrpSpPr>
        <p:grpSpPr>
          <a:xfrm>
            <a:off x="1745089" y="3347059"/>
            <a:ext cx="9923439" cy="1400898"/>
            <a:chOff x="1745090" y="2812228"/>
            <a:chExt cx="9923439" cy="1400898"/>
          </a:xfrm>
        </p:grpSpPr>
        <p:sp>
          <p:nvSpPr>
            <p:cNvPr id="4" name="TextBox 3"/>
            <p:cNvSpPr txBox="1"/>
            <p:nvPr/>
          </p:nvSpPr>
          <p:spPr>
            <a:xfrm>
              <a:off x="1745090" y="3843794"/>
              <a:ext cx="6111287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800734" y="2812228"/>
              <a:ext cx="6867795" cy="1031566"/>
              <a:chOff x="2769975" y="3150202"/>
              <a:chExt cx="6867795" cy="1031566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6113920" y="3150202"/>
                <a:ext cx="352385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[-1.0, 1.0[</a:t>
                </a:r>
              </a:p>
            </p:txBody>
          </p:sp>
          <p:cxnSp>
            <p:nvCxnSpPr>
              <p:cNvPr id="7" name="Straight Arrow Connector 6"/>
              <p:cNvCxnSpPr>
                <a:cxnSpLocks/>
                <a:stCxn id="5" idx="1"/>
                <a:endCxn id="4" idx="0"/>
              </p:cNvCxnSpPr>
              <p:nvPr/>
            </p:nvCxnSpPr>
            <p:spPr>
              <a:xfrm flipH="1">
                <a:off x="2769975" y="3611867"/>
                <a:ext cx="3343945" cy="56990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2FA142D-2A44-E8DC-ABEE-B186D6A48F09}"/>
              </a:ext>
            </a:extLst>
          </p:cNvPr>
          <p:cNvSpPr txBox="1"/>
          <p:nvPr/>
        </p:nvSpPr>
        <p:spPr>
          <a:xfrm>
            <a:off x="1745089" y="2321708"/>
            <a:ext cx="61112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default_rng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880447-0CD9-28A8-7D51-E23DDB90253D}"/>
              </a:ext>
            </a:extLst>
          </p:cNvPr>
          <p:cNvSpPr txBox="1"/>
          <p:nvPr/>
        </p:nvSpPr>
        <p:spPr>
          <a:xfrm>
            <a:off x="1745089" y="3317457"/>
            <a:ext cx="61112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default_rng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(seed=1234)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54BFC3D-0F4F-7B6D-8523-3C6D4CE8590A}"/>
              </a:ext>
            </a:extLst>
          </p:cNvPr>
          <p:cNvGrpSpPr/>
          <p:nvPr/>
        </p:nvGrpSpPr>
        <p:grpSpPr>
          <a:xfrm>
            <a:off x="1745089" y="4563291"/>
            <a:ext cx="9608711" cy="1254242"/>
            <a:chOff x="1745090" y="2958884"/>
            <a:chExt cx="9608711" cy="125424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6C47E28-C768-8BA6-0FAB-6E550070405E}"/>
                </a:ext>
              </a:extLst>
            </p:cNvPr>
            <p:cNvSpPr txBox="1"/>
            <p:nvPr/>
          </p:nvSpPr>
          <p:spPr>
            <a:xfrm>
              <a:off x="1745090" y="3843794"/>
              <a:ext cx="6111287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rng.normal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(loc=1.0, scale=0.1, (5, 4))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A609370-B3C8-A298-7B4D-EA408816DD88}"/>
                </a:ext>
              </a:extLst>
            </p:cNvPr>
            <p:cNvGrpSpPr/>
            <p:nvPr/>
          </p:nvGrpSpPr>
          <p:grpSpPr>
            <a:xfrm>
              <a:off x="4800734" y="2958884"/>
              <a:ext cx="6553067" cy="1200329"/>
              <a:chOff x="2769975" y="3296858"/>
              <a:chExt cx="6553067" cy="1200329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AE5220E-5AFC-5838-4084-D98C06ABFD4E}"/>
                  </a:ext>
                </a:extLst>
              </p:cNvPr>
              <p:cNvSpPr txBox="1"/>
              <p:nvPr/>
            </p:nvSpPr>
            <p:spPr>
              <a:xfrm>
                <a:off x="6242712" y="3296858"/>
                <a:ext cx="308033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5 × 4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normal</a:t>
                </a:r>
                <a:br>
                  <a:rPr lang="en-US" dirty="0"/>
                </a:br>
                <a:r>
                  <a:rPr lang="en-US" dirty="0"/>
                  <a:t>distribution with mean 1.0 and</a:t>
                </a:r>
                <a:br>
                  <a:rPr lang="en-US" dirty="0"/>
                </a:br>
                <a:r>
                  <a:rPr lang="en-US" dirty="0"/>
                  <a:t>standard deviation 0.1</a:t>
                </a:r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2D00016C-8A10-64CF-6225-E2EA64184EA0}"/>
                  </a:ext>
                </a:extLst>
              </p:cNvPr>
              <p:cNvCxnSpPr>
                <a:cxnSpLocks/>
                <a:stCxn id="21" idx="1"/>
                <a:endCxn id="18" idx="0"/>
              </p:cNvCxnSpPr>
              <p:nvPr/>
            </p:nvCxnSpPr>
            <p:spPr>
              <a:xfrm flipH="1">
                <a:off x="2769975" y="3897023"/>
                <a:ext cx="3472737" cy="28474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11257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73031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07E8568-F819-8670-89EE-62BC9DECFF85}"/>
              </a:ext>
            </a:extLst>
          </p:cNvPr>
          <p:cNvGrpSpPr/>
          <p:nvPr/>
        </p:nvGrpSpPr>
        <p:grpSpPr>
          <a:xfrm>
            <a:off x="251333" y="3961547"/>
            <a:ext cx="2286000" cy="1142298"/>
            <a:chOff x="0" y="3961547"/>
            <a:chExt cx="2286000" cy="114229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CC1E90-816F-1B42-4266-531CB54DD481}"/>
                </a:ext>
              </a:extLst>
            </p:cNvPr>
            <p:cNvSpPr txBox="1"/>
            <p:nvPr/>
          </p:nvSpPr>
          <p:spPr>
            <a:xfrm>
              <a:off x="0" y="3961547"/>
              <a:ext cx="2041136" cy="646331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quad-precision,</a:t>
              </a:r>
              <a:br>
                <a:rPr lang="en-US" dirty="0"/>
              </a:br>
              <a:r>
                <a:rPr lang="en-US" dirty="0"/>
                <a:t>not portable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33DA0B7-4AED-C8CB-F11A-F3DB5F8F6DB2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 flipV="1">
              <a:off x="2041136" y="4086808"/>
              <a:ext cx="244864" cy="197905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C9AB5A-22B3-0704-562A-A8C6459282C5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2041136" y="4284713"/>
              <a:ext cx="244864" cy="819132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428890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copies;</a:t>
            </a:r>
            <a:br>
              <a:rPr lang="en-US" dirty="0"/>
            </a:br>
            <a:r>
              <a:rPr lang="en-US" dirty="0"/>
              <a:t>check documentation carefully;</a:t>
            </a:r>
            <a:br>
              <a:rPr lang="en-US" dirty="0"/>
            </a:br>
            <a:r>
              <a:rPr lang="en-US" dirty="0"/>
              <a:t>also see</a:t>
            </a:r>
            <a:br>
              <a:rPr lang="en-US" dirty="0"/>
            </a:br>
            <a:r>
              <a:rPr lang="en-US" sz="2200" dirty="0">
                <a:hlinkClick r:id="rId2"/>
              </a:rPr>
              <a:t>https://github.com/gjbex/Scientific-Python/blob/master/source-code/numpy/views.ipynb</a:t>
            </a:r>
            <a:r>
              <a:rPr lang="en-US" sz="2200" dirty="0"/>
              <a:t> </a:t>
            </a:r>
            <a:endParaRPr lang="nl-BE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r>
              <a:rPr lang="en-US" dirty="0"/>
              <a:t>Broadcasting, see</a:t>
            </a:r>
            <a:br>
              <a:rPr lang="en-US" dirty="0"/>
            </a:br>
            <a:r>
              <a:rPr lang="en-US" sz="2400" dirty="0">
                <a:hlinkClick r:id="rId2"/>
              </a:rPr>
              <a:t>https://github.com/gjbex/Scientific-Python/blob/master/source-code/numpy/broadcast.ipynb</a:t>
            </a:r>
            <a:r>
              <a:rPr lang="en-US" dirty="0"/>
              <a:t> 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440589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7DEF166-5E80-901E-315D-7A0A70C938F7}"/>
              </a:ext>
            </a:extLst>
          </p:cNvPr>
          <p:cNvGrpSpPr/>
          <p:nvPr/>
        </p:nvGrpSpPr>
        <p:grpSpPr>
          <a:xfrm>
            <a:off x="2279576" y="4781913"/>
            <a:ext cx="8868530" cy="646331"/>
            <a:chOff x="2279576" y="5040706"/>
            <a:chExt cx="886853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8627826" y="5040706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79576" y="5149133"/>
              <a:ext cx="577462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 @ 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C5F7B-EC7F-CD86-5861-CE0ABE520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functions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B79AF-912B-0534-F1DA-B6021771B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02424"/>
            <a:ext cx="10515600" cy="2747963"/>
          </a:xfrm>
        </p:spPr>
        <p:txBody>
          <a:bodyPr/>
          <a:lstStyle/>
          <a:p>
            <a:r>
              <a:rPr lang="en-US" dirty="0"/>
              <a:t>Sum of columns</a:t>
            </a:r>
          </a:p>
          <a:p>
            <a:endParaRPr lang="en-US" dirty="0"/>
          </a:p>
          <a:p>
            <a:r>
              <a:rPr lang="en-US" dirty="0"/>
              <a:t>Sum of rows</a:t>
            </a:r>
          </a:p>
          <a:p>
            <a:endParaRPr lang="en-US" dirty="0"/>
          </a:p>
          <a:p>
            <a:r>
              <a:rPr lang="en-US" dirty="0"/>
              <a:t>Sum of all elements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14C7E-39D9-A7FB-CBAF-A6A49F96213E}"/>
              </a:ext>
            </a:extLst>
          </p:cNvPr>
          <p:cNvSpPr txBox="1"/>
          <p:nvPr/>
        </p:nvSpPr>
        <p:spPr>
          <a:xfrm>
            <a:off x="1458481" y="1773826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(24).reshape(4, -1)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31128-47FB-7EDD-0367-BCD622C9630F}"/>
              </a:ext>
            </a:extLst>
          </p:cNvPr>
          <p:cNvSpPr txBox="1"/>
          <p:nvPr/>
        </p:nvSpPr>
        <p:spPr>
          <a:xfrm>
            <a:off x="7987004" y="1387022"/>
            <a:ext cx="3601616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1  2  3  4  5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6  7  8  9 10 11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12 13 14 15 16 17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18 19 20 21 22 23 ]]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EF19DD-8A27-75A9-2F6E-5FB4219E8974}"/>
              </a:ext>
            </a:extLst>
          </p:cNvPr>
          <p:cNvSpPr txBox="1"/>
          <p:nvPr/>
        </p:nvSpPr>
        <p:spPr>
          <a:xfrm>
            <a:off x="1458481" y="3629385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102A7C-36E1-C848-96D0-54A2D7881E08}"/>
              </a:ext>
            </a:extLst>
          </p:cNvPr>
          <p:cNvSpPr txBox="1"/>
          <p:nvPr/>
        </p:nvSpPr>
        <p:spPr>
          <a:xfrm>
            <a:off x="7987004" y="3674719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36 40 44 48 52 56 ]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D95DBD-9719-0135-EDDD-D8FAF5293743}"/>
              </a:ext>
            </a:extLst>
          </p:cNvPr>
          <p:cNvSpPr txBox="1"/>
          <p:nvPr/>
        </p:nvSpPr>
        <p:spPr>
          <a:xfrm>
            <a:off x="1458481" y="4555220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E78634-7FF0-FA3C-654F-D36A67A0CAD0}"/>
              </a:ext>
            </a:extLst>
          </p:cNvPr>
          <p:cNvSpPr txBox="1"/>
          <p:nvPr/>
        </p:nvSpPr>
        <p:spPr>
          <a:xfrm>
            <a:off x="7987004" y="4555220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15 51 87 123 ]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89245E-A2AA-6FF6-DFB7-47175E8586F6}"/>
              </a:ext>
            </a:extLst>
          </p:cNvPr>
          <p:cNvSpPr txBox="1"/>
          <p:nvPr/>
        </p:nvSpPr>
        <p:spPr>
          <a:xfrm>
            <a:off x="1458481" y="5615993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19FB1-BFA2-BD93-5B4C-7A1804659CE7}"/>
              </a:ext>
            </a:extLst>
          </p:cNvPr>
          <p:cNvSpPr txBox="1"/>
          <p:nvPr/>
        </p:nvSpPr>
        <p:spPr>
          <a:xfrm>
            <a:off x="7987004" y="5615993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276</a:t>
            </a:r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CB6841B4-072C-73DD-8859-BCF45A57C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638025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eigenvalues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502701"/>
            <a:ext cx="758468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solution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t_span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y0=(theta0, omega0),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t_eval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method="RK45",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not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solution.success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85184" y="4984478"/>
            <a:ext cx="3195102" cy="646331"/>
            <a:chOff x="5688563" y="2422629"/>
            <a:chExt cx="3195102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 flipV="1">
              <a:off x="5688563" y="2422629"/>
              <a:ext cx="1187693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47970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514756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density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=True,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917889" y="3162891"/>
            <a:ext cx="3064311" cy="31037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1612868" y="2431633"/>
            <a:ext cx="8456161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subplot_kw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={'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'3d'})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A949217-192E-FD38-D73F-EB1AA5DF4B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5539" y="3396366"/>
            <a:ext cx="3887378" cy="2915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sX0" fmla="*/ 0 w 6872074"/>
              <a:gd name="csY0" fmla="*/ 0 h 707886"/>
              <a:gd name="csX1" fmla="*/ 618487 w 6872074"/>
              <a:gd name="csY1" fmla="*/ 0 h 707886"/>
              <a:gd name="csX2" fmla="*/ 1305694 w 6872074"/>
              <a:gd name="csY2" fmla="*/ 0 h 707886"/>
              <a:gd name="csX3" fmla="*/ 1924181 w 6872074"/>
              <a:gd name="csY3" fmla="*/ 0 h 707886"/>
              <a:gd name="csX4" fmla="*/ 2542667 w 6872074"/>
              <a:gd name="csY4" fmla="*/ 0 h 707886"/>
              <a:gd name="csX5" fmla="*/ 3229875 w 6872074"/>
              <a:gd name="csY5" fmla="*/ 0 h 707886"/>
              <a:gd name="csX6" fmla="*/ 4054524 w 6872074"/>
              <a:gd name="csY6" fmla="*/ 0 h 707886"/>
              <a:gd name="csX7" fmla="*/ 4741731 w 6872074"/>
              <a:gd name="csY7" fmla="*/ 0 h 707886"/>
              <a:gd name="csX8" fmla="*/ 5428938 w 6872074"/>
              <a:gd name="csY8" fmla="*/ 0 h 707886"/>
              <a:gd name="csX9" fmla="*/ 6253587 w 6872074"/>
              <a:gd name="csY9" fmla="*/ 0 h 707886"/>
              <a:gd name="csX10" fmla="*/ 6872074 w 6872074"/>
              <a:gd name="csY10" fmla="*/ 0 h 707886"/>
              <a:gd name="csX11" fmla="*/ 6872074 w 6872074"/>
              <a:gd name="csY11" fmla="*/ 361022 h 707886"/>
              <a:gd name="csX12" fmla="*/ 6872074 w 6872074"/>
              <a:gd name="csY12" fmla="*/ 707886 h 707886"/>
              <a:gd name="csX13" fmla="*/ 6047425 w 6872074"/>
              <a:gd name="csY13" fmla="*/ 707886 h 707886"/>
              <a:gd name="csX14" fmla="*/ 5360218 w 6872074"/>
              <a:gd name="csY14" fmla="*/ 707886 h 707886"/>
              <a:gd name="csX15" fmla="*/ 4879173 w 6872074"/>
              <a:gd name="csY15" fmla="*/ 707886 h 707886"/>
              <a:gd name="csX16" fmla="*/ 4260686 w 6872074"/>
              <a:gd name="csY16" fmla="*/ 707886 h 707886"/>
              <a:gd name="csX17" fmla="*/ 3642199 w 6872074"/>
              <a:gd name="csY17" fmla="*/ 707886 h 707886"/>
              <a:gd name="csX18" fmla="*/ 2817550 w 6872074"/>
              <a:gd name="csY18" fmla="*/ 707886 h 707886"/>
              <a:gd name="csX19" fmla="*/ 2267784 w 6872074"/>
              <a:gd name="csY19" fmla="*/ 707886 h 707886"/>
              <a:gd name="csX20" fmla="*/ 1786739 w 6872074"/>
              <a:gd name="csY20" fmla="*/ 707886 h 707886"/>
              <a:gd name="csX21" fmla="*/ 1168253 w 6872074"/>
              <a:gd name="csY21" fmla="*/ 707886 h 707886"/>
              <a:gd name="csX22" fmla="*/ 687207 w 6872074"/>
              <a:gd name="csY22" fmla="*/ 707886 h 707886"/>
              <a:gd name="csX23" fmla="*/ 0 w 6872074"/>
              <a:gd name="csY23" fmla="*/ 707886 h 707886"/>
              <a:gd name="csX24" fmla="*/ 0 w 6872074"/>
              <a:gd name="csY24" fmla="*/ 375180 h 707886"/>
              <a:gd name="csX25" fmla="*/ 0 w 6872074"/>
              <a:gd name="csY25" fmla="*/ 0 h 7078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1513</TotalTime>
  <Words>7947</Words>
  <Application>Microsoft Office PowerPoint</Application>
  <PresentationFormat>Widescreen</PresentationFormat>
  <Paragraphs>1342</Paragraphs>
  <Slides>104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104</vt:i4>
      </vt:variant>
    </vt:vector>
  </HeadingPairs>
  <TitlesOfParts>
    <vt:vector size="113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Random numbers</vt:lpstr>
      <vt:lpstr>Numpy data types</vt:lpstr>
      <vt:lpstr>Accessing array elements</vt:lpstr>
      <vt:lpstr>Memory layout</vt:lpstr>
      <vt:lpstr>Accessing subarrays: slicing</vt:lpstr>
      <vt:lpstr>Views versus copies</vt:lpstr>
      <vt:lpstr>Fancy indexing</vt:lpstr>
      <vt:lpstr>Operations on arrays</vt:lpstr>
      <vt:lpstr>Functions operating on arrays</vt:lpstr>
      <vt:lpstr>Aggregation functions</vt:lpstr>
      <vt:lpstr>Some linear algebra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77</cp:revision>
  <dcterms:created xsi:type="dcterms:W3CDTF">2019-11-07T15:31:23Z</dcterms:created>
  <dcterms:modified xsi:type="dcterms:W3CDTF">2026-10-07T09:44:21Z</dcterms:modified>
</cp:coreProperties>
</file>