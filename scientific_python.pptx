
<file path=[Content_Types].xml><?xml version="1.0" encoding="utf-8"?>
<Types xmlns="http://schemas.openxmlformats.org/package/2006/content-types">
  <Default Extension="bin" ContentType="application/vnd.openxmlformats-officedocument.oleObject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av" ContentType="audio/x-wav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8"/>
  </p:notesMasterIdLst>
  <p:sldIdLst>
    <p:sldId id="256" r:id="rId2"/>
    <p:sldId id="350" r:id="rId3"/>
    <p:sldId id="351" r:id="rId4"/>
    <p:sldId id="349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361" r:id="rId14"/>
    <p:sldId id="265" r:id="rId15"/>
    <p:sldId id="266" r:id="rId16"/>
    <p:sldId id="359" r:id="rId17"/>
    <p:sldId id="267" r:id="rId18"/>
    <p:sldId id="272" r:id="rId19"/>
    <p:sldId id="268" r:id="rId20"/>
    <p:sldId id="269" r:id="rId21"/>
    <p:sldId id="270" r:id="rId22"/>
    <p:sldId id="360" r:id="rId23"/>
    <p:sldId id="271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62" r:id="rId53"/>
    <p:sldId id="363" r:id="rId54"/>
    <p:sldId id="302" r:id="rId55"/>
    <p:sldId id="303" r:id="rId56"/>
    <p:sldId id="304" r:id="rId57"/>
    <p:sldId id="305" r:id="rId58"/>
    <p:sldId id="306" r:id="rId59"/>
    <p:sldId id="307" r:id="rId60"/>
    <p:sldId id="308" r:id="rId61"/>
    <p:sldId id="309" r:id="rId62"/>
    <p:sldId id="310" r:id="rId63"/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58" r:id="rId73"/>
    <p:sldId id="352" r:id="rId74"/>
    <p:sldId id="353" r:id="rId75"/>
    <p:sldId id="354" r:id="rId76"/>
    <p:sldId id="357" r:id="rId77"/>
    <p:sldId id="355" r:id="rId78"/>
    <p:sldId id="356" r:id="rId79"/>
    <p:sldId id="330" r:id="rId80"/>
    <p:sldId id="331" r:id="rId81"/>
    <p:sldId id="332" r:id="rId82"/>
    <p:sldId id="333" r:id="rId83"/>
    <p:sldId id="334" r:id="rId84"/>
    <p:sldId id="335" r:id="rId85"/>
    <p:sldId id="336" r:id="rId86"/>
    <p:sldId id="337" r:id="rId87"/>
    <p:sldId id="338" r:id="rId88"/>
    <p:sldId id="339" r:id="rId89"/>
    <p:sldId id="340" r:id="rId90"/>
    <p:sldId id="341" r:id="rId91"/>
    <p:sldId id="342" r:id="rId92"/>
    <p:sldId id="343" r:id="rId93"/>
    <p:sldId id="344" r:id="rId94"/>
    <p:sldId id="345" r:id="rId95"/>
    <p:sldId id="346" r:id="rId96"/>
    <p:sldId id="347" r:id="rId9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D46DF48-D749-4A85-82E4-376E648194FB}">
          <p14:sldIdLst>
            <p14:sldId id="256"/>
            <p14:sldId id="350"/>
            <p14:sldId id="351"/>
            <p14:sldId id="349"/>
          </p14:sldIdLst>
        </p14:section>
        <p14:section name="numpy" id="{0ABF6D5A-1E58-4600-AE45-538E8F3A850B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361"/>
            <p14:sldId id="265"/>
            <p14:sldId id="266"/>
            <p14:sldId id="359"/>
            <p14:sldId id="267"/>
            <p14:sldId id="272"/>
            <p14:sldId id="268"/>
            <p14:sldId id="269"/>
            <p14:sldId id="270"/>
            <p14:sldId id="360"/>
            <p14:sldId id="271"/>
            <p14:sldId id="273"/>
            <p14:sldId id="274"/>
            <p14:sldId id="275"/>
          </p14:sldIdLst>
        </p14:section>
        <p14:section name="scipy" id="{2BFE4CBE-B0F9-4FF9-B06C-4190F5D0A8AE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matplotlib" id="{F403613D-8C13-4CDF-B6A0-431E438689C2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62"/>
            <p14:sldId id="363"/>
            <p14:sldId id="302"/>
          </p14:sldIdLst>
        </p14:section>
        <p14:section name="sympy" id="{891A720C-B16A-48AD-AF97-823F2A124362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</p14:sldIdLst>
        </p14:section>
        <p14:section name="HDF5" id="{DED9C11B-28E7-49E5-B16A-009E9F2C22D8}">
          <p14:sldIdLst>
            <p14:sldId id="315"/>
            <p14:sldId id="316"/>
            <p14:sldId id="317"/>
            <p14:sldId id="318"/>
            <p14:sldId id="319"/>
            <p14:sldId id="358"/>
            <p14:sldId id="352"/>
            <p14:sldId id="353"/>
            <p14:sldId id="354"/>
            <p14:sldId id="357"/>
            <p14:sldId id="355"/>
            <p14:sldId id="356"/>
            <p14:sldId id="330"/>
          </p14:sldIdLst>
        </p14:section>
        <p14:section name="Bokeh" id="{22F7CFE4-471A-46E1-B56F-941AA410093A}">
          <p14:sldIdLst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</p14:sldIdLst>
        </p14:section>
        <p14:section name="scikit-image &amp; OpenCV" id="{9AE95759-AB76-41D4-AD63-776D3CBA133E}">
          <p14:sldIdLst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82" d="100"/>
          <a:sy n="82" d="100"/>
        </p:scale>
        <p:origin x="49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25733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presProps" Target="presProps.xml"/><Relationship Id="rId10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notesMaster" Target="notesMasters/notesMaster1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CA79FE-F917-4C87-AD83-0AC7A6FA25F7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2E54D0-57AA-4B0A-9870-489EE29BC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767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8" Type="http://schemas.openxmlformats.org/officeDocument/2006/relationships/hyperlink" Target="http://en.wikipedia.org/wiki/Impulse_response" TargetMode="External"/><Relationship Id="rId3" Type="http://schemas.openxmlformats.org/officeDocument/2006/relationships/hyperlink" Target="http://en.wikipedia.org/wiki/Sampling_rate" TargetMode="External"/><Relationship Id="rId7" Type="http://schemas.openxmlformats.org/officeDocument/2006/relationships/hyperlink" Target="http://en.wikipedia.org/wiki/Digital_filter" TargetMode="External"/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://en.wikipedia.org/wiki/Electronic_filter" TargetMode="External"/><Relationship Id="rId5" Type="http://schemas.openxmlformats.org/officeDocument/2006/relationships/hyperlink" Target="http://en.wikipedia.org/wiki/Linear_time-invariant_system" TargetMode="External"/><Relationship Id="rId4" Type="http://schemas.openxmlformats.org/officeDocument/2006/relationships/hyperlink" Target="http://en.wikipedia.org/wiki/Discrete_signal" TargetMode="External"/><Relationship Id="rId9" Type="http://schemas.openxmlformats.org/officeDocument/2006/relationships/hyperlink" Target="http://en.wikipedia.org/wiki/Finite_impulse_response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Nyquist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frequency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half of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Sampling rate"/>
              </a:rPr>
              <a:t>sampling rate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Discrete signal"/>
              </a:rPr>
              <a:t>discrete signal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processing system.</a:t>
            </a: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Infinite impulse response (IIR)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property applying to many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Linear time-invariant system"/>
              </a:rPr>
              <a:t>linear time-invariant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Common examples of linear time-invariant systems are most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Electronic filter"/>
              </a:rPr>
              <a:t>electronic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Digital filter"/>
              </a:rPr>
              <a:t>digital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Systems with this property are known as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are distinguished by having an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Impulse response"/>
              </a:rPr>
              <a:t>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which does not become exactly zero past a certain point, but continues indefinitely. This is in contrast to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Finite impulse response"/>
              </a:rPr>
              <a:t>finite 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which the impulse response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become exactly zero at times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&gt;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some finite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thus being of finite duration.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2719F6-2AB7-47DE-AD4D-74548843A436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150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958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21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602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51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05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483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016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281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464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882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320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775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bit.ly/2qouLp2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Python/tree/master/source-code/numpy" TargetMode="External"/><Relationship Id="rId2" Type="http://schemas.openxmlformats.org/officeDocument/2006/relationships/hyperlink" Target="https://github.com/gjbex/Scientific-Python/tree/master/source-code/matrices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2.png"/><Relationship Id="rId3" Type="http://schemas.openxmlformats.org/officeDocument/2006/relationships/image" Target="../media/image6.png"/><Relationship Id="rId21" Type="http://schemas.openxmlformats.org/officeDocument/2006/relationships/image" Target="../media/image25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1.png"/><Relationship Id="rId2" Type="http://schemas.openxmlformats.org/officeDocument/2006/relationships/image" Target="../media/image4.jpg"/><Relationship Id="rId16" Type="http://schemas.openxmlformats.org/officeDocument/2006/relationships/image" Target="../media/image19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23" Type="http://schemas.openxmlformats.org/officeDocument/2006/relationships/image" Target="../media/image27.png"/><Relationship Id="rId10" Type="http://schemas.openxmlformats.org/officeDocument/2006/relationships/image" Target="../media/image13.png"/><Relationship Id="rId19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Relationship Id="rId22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blob/master/source-code/numpy/views.ipynb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blob/master/source-code/numpy/broadcast.ipynb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://mathesaurus.sourceforge.net/matlab-numpy.html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/Birdsong" TargetMode="External"/><Relationship Id="rId2" Type="http://schemas.openxmlformats.org/officeDocument/2006/relationships/hyperlink" Target="https://github.com/gjbex/Scientific-Python/tree/master/source-code/numpy" TargetMode="Externa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2.bin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5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matplotlib" TargetMode="Externa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-blindness.com/coblis-color-blindness-simulator/" TargetMode="External"/><Relationship Id="rId2" Type="http://schemas.openxmlformats.org/officeDocument/2006/relationships/hyperlink" Target="http://colorbrewer2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-graph-gallery.com/" TargetMode="Externa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sympy" TargetMode="Externa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wmf"/><Relationship Id="rId4" Type="http://schemas.openxmlformats.org/officeDocument/2006/relationships/oleObject" Target="../embeddings/oleObject5.bin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hyperlink" Target="https://peerj.com/articles/cs-103/" TargetMode="Externa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hdf5" TargetMode="External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bokeh" TargetMode="External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Python/image-processing" TargetMode="External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52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cv.org/4.x/d6/d00/tutorial_py_root.html" TargetMode="External"/><Relationship Id="rId2" Type="http://schemas.openxmlformats.org/officeDocument/2006/relationships/hyperlink" Target="https://scikit-image.org/docs/stable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Scientific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8E3B7DE8-2E50-3C99-916F-8A449D75486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697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48717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http://bit.ly/36VXTEZ </a:t>
            </a:r>
            <a:r>
              <a:rPr lang="en-US" sz="4000" dirty="0"/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9477" y="980729"/>
            <a:ext cx="4093046" cy="409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487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B1808814-F2CD-4104-8853-6F6E9C2B92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182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#!/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/bin/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python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__name__ == '__main__':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2173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https://github.com/gjbex/Scientific-Python/tree/master/source-code/matrices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1793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the box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is interpreted</a:t>
            </a:r>
          </a:p>
          <a:p>
            <a:pPr lvl="1"/>
            <a:r>
              <a:rPr lang="en-US" dirty="0"/>
              <a:t>Python is slow</a:t>
            </a:r>
          </a:p>
          <a:p>
            <a:pPr lvl="1"/>
            <a:r>
              <a:rPr lang="en-US" dirty="0"/>
              <a:t>Python is really slow</a:t>
            </a:r>
          </a:p>
          <a:p>
            <a:r>
              <a:rPr lang="en-US" dirty="0"/>
              <a:t>Okay for one-offs, prototypes, short runtimes</a:t>
            </a:r>
          </a:p>
          <a:p>
            <a:r>
              <a:rPr lang="en-US" b="1" i="1" dirty="0">
                <a:solidFill>
                  <a:srgbClr val="FF0000"/>
                </a:solidFill>
              </a:rPr>
              <a:t>Not okay</a:t>
            </a:r>
            <a:r>
              <a:rPr lang="en-US" dirty="0"/>
              <a:t> for computationally intensive tasks!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7168" y="4705980"/>
            <a:ext cx="664919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Don't use vanilla Python for computations!!!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9804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performance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937712" y="2134012"/>
            <a:ext cx="5974713" cy="424731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m = []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m.append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([])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 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m[i].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random.random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())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m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n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c[i][j] = 0.0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k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c[i][j] += a[i][k]*b[k][j]</a:t>
            </a:r>
          </a:p>
        </p:txBody>
      </p:sp>
      <p:sp>
        <p:nvSpPr>
          <p:cNvPr id="6" name="TextBox 5"/>
          <p:cNvSpPr txBox="1"/>
          <p:nvPr/>
        </p:nvSpPr>
        <p:spPr>
          <a:xfrm rot="-1800000">
            <a:off x="4997500" y="3207550"/>
            <a:ext cx="2604174" cy="1200329"/>
          </a:xfrm>
          <a:prstGeom prst="rect">
            <a:avLst/>
          </a:prstGeom>
          <a:solidFill>
            <a:srgbClr val="FF0000">
              <a:alpha val="20000"/>
            </a:srgbClr>
          </a:solidFill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</a:rPr>
              <a:t>Naïve!</a:t>
            </a:r>
            <a:endParaRPr lang="nl-BE" sz="72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/>
                        </a:rPr>
                        <m:t>𝐶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𝐵</m:t>
                      </m:r>
                    </m:oMath>
                  </m:oMathPara>
                </a14:m>
                <a:endParaRPr lang="en-US" dirty="0"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  <m:r>
                            <a:rPr lang="en-US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⋯+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𝑖𝑁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𝑁𝑗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blipFill>
                <a:blip r:embed="rId2"/>
                <a:stretch>
                  <a:fillRect b="-357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7318066" y="2411596"/>
            <a:ext cx="302640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Represent matrix as list of lists</a:t>
            </a:r>
            <a:endParaRPr lang="nl-BE" dirty="0"/>
          </a:p>
        </p:txBody>
      </p:sp>
      <p:grpSp>
        <p:nvGrpSpPr>
          <p:cNvPr id="16" name="Group 15"/>
          <p:cNvGrpSpPr/>
          <p:nvPr/>
        </p:nvGrpSpPr>
        <p:grpSpPr>
          <a:xfrm>
            <a:off x="1873549" y="2299094"/>
            <a:ext cx="2019592" cy="3227431"/>
            <a:chOff x="349549" y="2299093"/>
            <a:chExt cx="2019592" cy="3227431"/>
          </a:xfrm>
        </p:grpSpPr>
        <p:sp>
          <p:nvSpPr>
            <p:cNvPr id="9" name="TextBox 8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9714" y="2852936"/>
              <a:ext cx="1519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0.09 s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9714" y="5157192"/>
              <a:ext cx="13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32 s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123714" y="3244334"/>
            <a:ext cx="1091966" cy="2637584"/>
            <a:chOff x="599714" y="3244334"/>
            <a:chExt cx="1091966" cy="2637584"/>
          </a:xfrm>
        </p:grpSpPr>
        <p:sp>
          <p:nvSpPr>
            <p:cNvPr id="12" name="TextBox 11"/>
            <p:cNvSpPr txBox="1"/>
            <p:nvPr/>
          </p:nvSpPr>
          <p:spPr>
            <a:xfrm>
              <a:off x="599714" y="3244334"/>
              <a:ext cx="1091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0.014 s</a:t>
              </a:r>
              <a:endParaRPr lang="nl-BE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9714" y="5512586"/>
              <a:ext cx="974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0.49 s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23714" y="3635732"/>
            <a:ext cx="1657954" cy="2601580"/>
            <a:chOff x="599714" y="3635732"/>
            <a:chExt cx="1657954" cy="2601580"/>
          </a:xfrm>
        </p:grpSpPr>
        <p:sp>
          <p:nvSpPr>
            <p:cNvPr id="14" name="TextBox 13"/>
            <p:cNvSpPr txBox="1"/>
            <p:nvPr/>
          </p:nvSpPr>
          <p:spPr>
            <a:xfrm>
              <a:off x="599714" y="3635732"/>
              <a:ext cx="16579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0.012 s</a:t>
              </a:r>
              <a:endParaRPr lang="nl-BE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99714" y="5867980"/>
              <a:ext cx="15409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0.11 s</a:t>
              </a:r>
              <a:endParaRPr lang="nl-BE" dirty="0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47262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Fast arrays</a:t>
            </a:r>
          </a:p>
          <a:p>
            <a:pPr lvl="1"/>
            <a:r>
              <a:rPr lang="en-US" dirty="0"/>
              <a:t>Matrix operations (BLAS-like)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Fast Fourier Transform</a:t>
            </a:r>
          </a:p>
          <a:p>
            <a:pPr lvl="1"/>
            <a:r>
              <a:rPr lang="en-US" dirty="0"/>
              <a:t>Mathematical functions defined on arrays</a:t>
            </a:r>
          </a:p>
          <a:p>
            <a:pPr lvl="1"/>
            <a:r>
              <a:rPr lang="en-US" dirty="0"/>
              <a:t>Pseudo-random number generation to initialize arrays</a:t>
            </a:r>
          </a:p>
          <a:p>
            <a:pPr lvl="1"/>
            <a:r>
              <a:rPr lang="en-US" dirty="0"/>
              <a:t>Simple statistics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061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using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4087885" y="1685708"/>
            <a:ext cx="5698996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def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(n, n))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a @ b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873549" y="1723030"/>
            <a:ext cx="2019592" cy="1787271"/>
            <a:chOff x="349549" y="2299093"/>
            <a:chExt cx="2019592" cy="1787271"/>
          </a:xfrm>
        </p:grpSpPr>
        <p:sp>
          <p:nvSpPr>
            <p:cNvPr id="5" name="TextBox 4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714" y="2852936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0.011 s</a:t>
              </a:r>
              <a:endParaRPr lang="nl-BE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99714" y="3717032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0.077 s</a:t>
              </a:r>
              <a:endParaRPr lang="nl-BE" dirty="0"/>
            </a:p>
          </p:txBody>
        </p:sp>
      </p:grp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83632" y="3861048"/>
          <a:ext cx="60960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Language/library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Execution time matrix multiplication (s)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0.49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0.11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Python/</a:t>
                      </a:r>
                      <a:r>
                        <a:rPr lang="en-US" dirty="0" err="1"/>
                        <a:t>numpy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0.077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Fortran/BLAS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0.060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9048328" y="4622351"/>
            <a:ext cx="1468036" cy="1152128"/>
            <a:chOff x="7524328" y="4622351"/>
            <a:chExt cx="1468036" cy="1152128"/>
          </a:xfrm>
        </p:grpSpPr>
        <p:sp>
          <p:nvSpPr>
            <p:cNvPr id="9" name="Curved Left Arrow 8"/>
            <p:cNvSpPr/>
            <p:nvPr/>
          </p:nvSpPr>
          <p:spPr>
            <a:xfrm>
              <a:off x="7524328" y="4622351"/>
              <a:ext cx="288032" cy="1152128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84368" y="4869160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415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67626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 I</a:t>
            </a:r>
            <a:endParaRPr lang="nl-BE" dirty="0"/>
          </a:p>
        </p:txBody>
      </p:sp>
      <p:grpSp>
        <p:nvGrpSpPr>
          <p:cNvPr id="47" name="Group 46"/>
          <p:cNvGrpSpPr/>
          <p:nvPr/>
        </p:nvGrpSpPr>
        <p:grpSpPr>
          <a:xfrm>
            <a:off x="2071661" y="4240629"/>
            <a:ext cx="6909352" cy="1633707"/>
            <a:chOff x="547661" y="4395677"/>
            <a:chExt cx="6909352" cy="16337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547661" y="4615968"/>
              <a:ext cx="2914551" cy="1200329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np.eye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(2)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</p:txBody>
        </p:sp>
        <p:grpSp>
          <p:nvGrpSpPr>
            <p:cNvPr id="4" name="Group 3"/>
            <p:cNvGrpSpPr/>
            <p:nvPr/>
          </p:nvGrpSpPr>
          <p:grpSpPr>
            <a:xfrm>
              <a:off x="3347864" y="4395677"/>
              <a:ext cx="4109149" cy="574323"/>
              <a:chOff x="1475656" y="4170361"/>
              <a:chExt cx="4109149" cy="574323"/>
            </a:xfrm>
            <a:grpFill/>
          </p:grpSpPr>
          <p:sp>
            <p:nvSpPr>
              <p:cNvPr id="5" name="TextBox 4"/>
              <p:cNvSpPr txBox="1"/>
              <p:nvPr/>
            </p:nvSpPr>
            <p:spPr>
              <a:xfrm>
                <a:off x="2195736" y="4170361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0.0</a:t>
                </a:r>
              </a:p>
            </p:txBody>
          </p:sp>
          <p:cxnSp>
            <p:nvCxnSpPr>
              <p:cNvPr id="6" name="Straight Arrow Connector 5"/>
              <p:cNvCxnSpPr>
                <a:stCxn id="5" idx="1"/>
              </p:cNvCxnSpPr>
              <p:nvPr/>
            </p:nvCxnSpPr>
            <p:spPr>
              <a:xfrm flipH="1">
                <a:off x="1475656" y="4355027"/>
                <a:ext cx="720080" cy="38965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/>
            <p:cNvGrpSpPr/>
            <p:nvPr/>
          </p:nvGrpSpPr>
          <p:grpSpPr>
            <a:xfrm>
              <a:off x="3345161" y="4724802"/>
              <a:ext cx="4109149" cy="369332"/>
              <a:chOff x="1475656" y="3716690"/>
              <a:chExt cx="4109149" cy="369332"/>
            </a:xfrm>
            <a:grpFill/>
          </p:grpSpPr>
          <p:sp>
            <p:nvSpPr>
              <p:cNvPr id="12" name="TextBox 11"/>
              <p:cNvSpPr txBox="1"/>
              <p:nvPr/>
            </p:nvSpPr>
            <p:spPr>
              <a:xfrm>
                <a:off x="2195736" y="3716690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1.0</a:t>
                </a:r>
              </a:p>
            </p:txBody>
          </p:sp>
          <p:cxnSp>
            <p:nvCxnSpPr>
              <p:cNvPr id="13" name="Straight Arrow Connector 12"/>
              <p:cNvCxnSpPr>
                <a:stCxn id="12" idx="1"/>
              </p:cNvCxnSpPr>
              <p:nvPr/>
            </p:nvCxnSpPr>
            <p:spPr>
              <a:xfrm flipH="1" flipV="1">
                <a:off x="1475656" y="3831325"/>
                <a:ext cx="720080" cy="70031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2483768" y="5009196"/>
              <a:ext cx="4168986" cy="414063"/>
              <a:chOff x="611560" y="3497028"/>
              <a:chExt cx="4168986" cy="414063"/>
            </a:xfrm>
            <a:grpFill/>
          </p:grpSpPr>
          <p:sp>
            <p:nvSpPr>
              <p:cNvPr id="16" name="TextBox 15"/>
              <p:cNvSpPr txBox="1"/>
              <p:nvPr/>
            </p:nvSpPr>
            <p:spPr>
              <a:xfrm>
                <a:off x="2195736" y="3541759"/>
                <a:ext cx="2584810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2 identity array</a:t>
                </a:r>
              </a:p>
            </p:txBody>
          </p:sp>
          <p:cxnSp>
            <p:nvCxnSpPr>
              <p:cNvPr id="17" name="Straight Arrow Connector 16"/>
              <p:cNvCxnSpPr>
                <a:stCxn id="16" idx="1"/>
              </p:cNvCxnSpPr>
              <p:nvPr/>
            </p:nvCxnSpPr>
            <p:spPr>
              <a:xfrm flipH="1" flipV="1">
                <a:off x="611560" y="3497028"/>
                <a:ext cx="1584176" cy="22939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/>
            <p:cNvGrpSpPr/>
            <p:nvPr/>
          </p:nvGrpSpPr>
          <p:grpSpPr>
            <a:xfrm>
              <a:off x="3275856" y="5320337"/>
              <a:ext cx="3443711" cy="709047"/>
              <a:chOff x="1403648" y="3376121"/>
              <a:chExt cx="3443711" cy="709047"/>
            </a:xfrm>
            <a:grpFill/>
          </p:grpSpPr>
          <p:sp>
            <p:nvSpPr>
              <p:cNvPr id="20" name="TextBox 19"/>
              <p:cNvSpPr txBox="1"/>
              <p:nvPr/>
            </p:nvSpPr>
            <p:spPr>
              <a:xfrm>
                <a:off x="2195736" y="3438837"/>
                <a:ext cx="2651623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21" name="Straight Arrow Connector 20"/>
              <p:cNvCxnSpPr>
                <a:stCxn id="20" idx="1"/>
              </p:cNvCxnSpPr>
              <p:nvPr/>
            </p:nvCxnSpPr>
            <p:spPr>
              <a:xfrm flipH="1" flipV="1">
                <a:off x="1403648" y="3376121"/>
                <a:ext cx="792088" cy="3858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" name="TextBox 22"/>
          <p:cNvSpPr txBox="1"/>
          <p:nvPr/>
        </p:nvSpPr>
        <p:spPr>
          <a:xfrm>
            <a:off x="2112960" y="1556792"/>
            <a:ext cx="29005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2084334" y="2285400"/>
            <a:ext cx="6684355" cy="1354970"/>
            <a:chOff x="560333" y="2285399"/>
            <a:chExt cx="6684355" cy="1354970"/>
          </a:xfrm>
          <a:solidFill>
            <a:schemeClr val="bg1">
              <a:lumMod val="85000"/>
            </a:schemeClr>
          </a:solidFill>
        </p:grpSpPr>
        <p:sp>
          <p:nvSpPr>
            <p:cNvPr id="24" name="TextBox 23"/>
            <p:cNvSpPr txBox="1"/>
            <p:nvPr/>
          </p:nvSpPr>
          <p:spPr>
            <a:xfrm>
              <a:off x="560333" y="2563879"/>
              <a:ext cx="2901879" cy="92333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v1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v2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v3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</p:txBody>
        </p:sp>
        <p:grpSp>
          <p:nvGrpSpPr>
            <p:cNvPr id="25" name="Group 24"/>
            <p:cNvGrpSpPr/>
            <p:nvPr/>
          </p:nvGrpSpPr>
          <p:grpSpPr>
            <a:xfrm>
              <a:off x="2893687" y="2285399"/>
              <a:ext cx="4165631" cy="648072"/>
              <a:chOff x="1008806" y="4303364"/>
              <a:chExt cx="4165631" cy="648072"/>
            </a:xfrm>
            <a:grpFill/>
          </p:grpSpPr>
          <p:sp>
            <p:nvSpPr>
              <p:cNvPr id="26" name="TextBox 25"/>
              <p:cNvSpPr txBox="1"/>
              <p:nvPr/>
            </p:nvSpPr>
            <p:spPr>
              <a:xfrm>
                <a:off x="2195736" y="4303364"/>
                <a:ext cx="2978701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0.0</a:t>
                </a:r>
              </a:p>
            </p:txBody>
          </p:sp>
          <p:cxnSp>
            <p:nvCxnSpPr>
              <p:cNvPr id="27" name="Straight Arrow Connector 26"/>
              <p:cNvCxnSpPr>
                <a:stCxn id="26" idx="1"/>
              </p:cNvCxnSpPr>
              <p:nvPr/>
            </p:nvCxnSpPr>
            <p:spPr>
              <a:xfrm flipH="1">
                <a:off x="1008806" y="4488030"/>
                <a:ext cx="1186930" cy="463406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699793" y="2639719"/>
              <a:ext cx="4359525" cy="369332"/>
              <a:chOff x="1475657" y="3874888"/>
              <a:chExt cx="3775164" cy="369332"/>
            </a:xfrm>
            <a:grpFill/>
          </p:grpSpPr>
          <p:sp>
            <p:nvSpPr>
              <p:cNvPr id="29" name="TextBox 28"/>
              <p:cNvSpPr txBox="1"/>
              <p:nvPr/>
            </p:nvSpPr>
            <p:spPr>
              <a:xfrm>
                <a:off x="2671392" y="3874888"/>
                <a:ext cx="257942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1.0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>
                <a:off x="1475657" y="4059554"/>
                <a:ext cx="1195735" cy="996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oup 33"/>
            <p:cNvGrpSpPr/>
            <p:nvPr/>
          </p:nvGrpSpPr>
          <p:grpSpPr>
            <a:xfrm>
              <a:off x="2843809" y="2850022"/>
              <a:ext cx="4400879" cy="790347"/>
              <a:chOff x="958928" y="3149087"/>
              <a:chExt cx="4400879" cy="790347"/>
            </a:xfrm>
            <a:grpFill/>
          </p:grpSpPr>
          <p:sp>
            <p:nvSpPr>
              <p:cNvPr id="35" name="TextBox 34"/>
              <p:cNvSpPr txBox="1"/>
              <p:nvPr/>
            </p:nvSpPr>
            <p:spPr>
              <a:xfrm>
                <a:off x="2195736" y="3293103"/>
                <a:ext cx="3164071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36" name="Straight Arrow Connector 35"/>
              <p:cNvCxnSpPr>
                <a:stCxn id="35" idx="1"/>
              </p:cNvCxnSpPr>
              <p:nvPr/>
            </p:nvCxnSpPr>
            <p:spPr>
              <a:xfrm flipH="1" flipV="1">
                <a:off x="958928" y="3149087"/>
                <a:ext cx="1236808" cy="4671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9" name="Group 38"/>
          <p:cNvGrpSpPr/>
          <p:nvPr/>
        </p:nvGrpSpPr>
        <p:grpSpPr>
          <a:xfrm>
            <a:off x="4799857" y="1198494"/>
            <a:ext cx="2047928" cy="542965"/>
            <a:chOff x="1378722" y="3862789"/>
            <a:chExt cx="2047928" cy="542965"/>
          </a:xfrm>
        </p:grpSpPr>
        <p:sp>
          <p:nvSpPr>
            <p:cNvPr id="40" name="TextBox 39"/>
            <p:cNvSpPr txBox="1"/>
            <p:nvPr/>
          </p:nvSpPr>
          <p:spPr>
            <a:xfrm>
              <a:off x="2195736" y="3862789"/>
              <a:ext cx="123091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convention</a:t>
              </a:r>
            </a:p>
          </p:txBody>
        </p:sp>
        <p:cxnSp>
          <p:nvCxnSpPr>
            <p:cNvPr id="41" name="Straight Arrow Connector 40"/>
            <p:cNvCxnSpPr>
              <a:stCxn id="40" idx="1"/>
            </p:cNvCxnSpPr>
            <p:nvPr/>
          </p:nvCxnSpPr>
          <p:spPr>
            <a:xfrm flipH="1">
              <a:off x="1378722" y="4047455"/>
              <a:ext cx="817014" cy="35829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775520" y="6143153"/>
            <a:ext cx="609820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Default type: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</a:t>
            </a:r>
            <a:r>
              <a:rPr lang="en-US" sz="2400" dirty="0"/>
              <a:t> double precision</a:t>
            </a:r>
            <a:endParaRPr lang="nl-BE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9371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</a:t>
            </a:r>
            <a:endParaRPr lang="nl-BE" dirty="0"/>
          </a:p>
        </p:txBody>
      </p:sp>
      <p:grpSp>
        <p:nvGrpSpPr>
          <p:cNvPr id="20" name="Group 19"/>
          <p:cNvGrpSpPr/>
          <p:nvPr/>
        </p:nvGrpSpPr>
        <p:grpSpPr>
          <a:xfrm>
            <a:off x="2063552" y="3491717"/>
            <a:ext cx="7200800" cy="1460485"/>
            <a:chOff x="539552" y="3491716"/>
            <a:chExt cx="720080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g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np.zeros_like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(f)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009053" y="3861048"/>
              <a:ext cx="3451992" cy="1091153"/>
              <a:chOff x="3506349" y="4271030"/>
              <a:chExt cx="3451992" cy="1091153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289310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with shape</a:t>
                </a:r>
                <a:br>
                  <a:rPr lang="en-US" dirty="0"/>
                </a:br>
                <a:r>
                  <a:rPr lang="en-US" dirty="0"/>
                  <a:t>and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dtype</a:t>
                </a:r>
                <a:r>
                  <a:rPr lang="en-US" dirty="0"/>
                  <a:t> of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</a:p>
            </p:txBody>
          </p:sp>
          <p:cxnSp>
            <p:nvCxnSpPr>
              <p:cNvPr id="12" name="Straight Arrow Connector 11"/>
              <p:cNvCxnSpPr>
                <a:cxnSpLocks/>
                <a:stCxn id="11" idx="1"/>
              </p:cNvCxnSpPr>
              <p:nvPr/>
            </p:nvCxnSpPr>
            <p:spPr>
              <a:xfrm flipH="1" flipV="1">
                <a:off x="3506349" y="4271030"/>
                <a:ext cx="558892" cy="76798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1" name="Group 20"/>
          <p:cNvGrpSpPr/>
          <p:nvPr/>
        </p:nvGrpSpPr>
        <p:grpSpPr>
          <a:xfrm>
            <a:off x="2063552" y="5075893"/>
            <a:ext cx="7200800" cy="1305436"/>
            <a:chOff x="539552" y="5075892"/>
            <a:chExt cx="7200800" cy="1305436"/>
          </a:xfrm>
        </p:grpSpPr>
        <p:sp>
          <p:nvSpPr>
            <p:cNvPr id="15" name="TextBox 14"/>
            <p:cNvSpPr txBox="1"/>
            <p:nvPr/>
          </p:nvSpPr>
          <p:spPr>
            <a:xfrm>
              <a:off x="539552" y="5075892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np.genfromtxt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('matrix.txt')</a:t>
              </a:r>
            </a:p>
          </p:txBody>
        </p:sp>
        <p:grpSp>
          <p:nvGrpSpPr>
            <p:cNvPr id="16" name="Group 15"/>
            <p:cNvGrpSpPr/>
            <p:nvPr/>
          </p:nvGrpSpPr>
          <p:grpSpPr>
            <a:xfrm>
              <a:off x="4139952" y="5456263"/>
              <a:ext cx="2239065" cy="925065"/>
              <a:chOff x="3637249" y="4437118"/>
              <a:chExt cx="2239065" cy="92506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4065241" y="4715852"/>
                <a:ext cx="181107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</a:t>
                </a:r>
                <a:br>
                  <a:rPr lang="en-US" dirty="0"/>
                </a:br>
                <a:r>
                  <a:rPr lang="en-US" dirty="0"/>
                  <a:t>from text file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</p:cNvCxnSpPr>
              <p:nvPr/>
            </p:nvCxnSpPr>
            <p:spPr>
              <a:xfrm flipH="1" flipV="1">
                <a:off x="3637249" y="4437118"/>
                <a:ext cx="427992" cy="6019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ADA65B-614A-0475-423D-11F88B4F5445}"/>
              </a:ext>
            </a:extLst>
          </p:cNvPr>
          <p:cNvSpPr txBox="1"/>
          <p:nvPr/>
        </p:nvSpPr>
        <p:spPr>
          <a:xfrm>
            <a:off x="8173373" y="5662078"/>
            <a:ext cx="1808827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1.2 2.3 3.4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4.5 5.6 6.7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22CEB75-555E-7F0E-47BB-4F3CA92AD989}"/>
              </a:ext>
            </a:extLst>
          </p:cNvPr>
          <p:cNvGrpSpPr/>
          <p:nvPr/>
        </p:nvGrpSpPr>
        <p:grpSpPr>
          <a:xfrm>
            <a:off x="2063552" y="1774560"/>
            <a:ext cx="7229654" cy="1460485"/>
            <a:chOff x="539552" y="3491716"/>
            <a:chExt cx="7229654" cy="1460485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3E6AFB6-4ADE-5C9D-BED2-2B89E443A089}"/>
                </a:ext>
              </a:extLst>
            </p:cNvPr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([[3.1, 4.2, -1.1], [-0.3, 1.3, 13.1]])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B7DDDB1-F414-5FFD-1907-BABC7640D731}"/>
                </a:ext>
              </a:extLst>
            </p:cNvPr>
            <p:cNvGrpSpPr/>
            <p:nvPr/>
          </p:nvGrpSpPr>
          <p:grpSpPr>
            <a:xfrm>
              <a:off x="4139952" y="3861048"/>
              <a:ext cx="3629254" cy="1091153"/>
              <a:chOff x="3637248" y="4271030"/>
              <a:chExt cx="3629254" cy="1091153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4618593-6854-0357-AAF3-383AC58D3DD7}"/>
                  </a:ext>
                </a:extLst>
              </p:cNvPr>
              <p:cNvSpPr txBox="1"/>
              <p:nvPr/>
            </p:nvSpPr>
            <p:spPr>
              <a:xfrm>
                <a:off x="4065241" y="4715852"/>
                <a:ext cx="32012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from a Python</a:t>
                </a:r>
                <a:br>
                  <a:rPr lang="en-US" dirty="0"/>
                </a:br>
                <a:r>
                  <a:rPr lang="en-US" dirty="0"/>
                  <a:t>list of lists</a:t>
                </a:r>
              </a:p>
            </p:txBody>
          </p: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67B0C852-806A-C70D-901E-7ACE7E4CACCF}"/>
                  </a:ext>
                </a:extLst>
              </p:cNvPr>
              <p:cNvCxnSpPr>
                <a:cxnSpLocks/>
                <a:stCxn id="23" idx="1"/>
                <a:endCxn id="14" idx="2"/>
              </p:cNvCxnSpPr>
              <p:nvPr/>
            </p:nvCxnSpPr>
            <p:spPr>
              <a:xfrm flipH="1" flipV="1">
                <a:off x="3637248" y="4271030"/>
                <a:ext cx="427993" cy="76798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76615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1" y="1556793"/>
            <a:ext cx="8111676" cy="1294403"/>
            <a:chOff x="547661" y="1556792"/>
            <a:chExt cx="8111676" cy="1294403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np.arange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0.25)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4515330" cy="925071"/>
              <a:chOff x="3637248" y="4437112"/>
              <a:chExt cx="4515330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8-element array, first element -1.0,</a:t>
                </a:r>
              </a:p>
              <a:p>
                <a:r>
                  <a:rPr lang="en-US" dirty="0"/>
                  <a:t>last element less than 1.0, step 0.25  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601906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4027133"/>
            <a:ext cx="8115730" cy="1460485"/>
            <a:chOff x="539552" y="3491716"/>
            <a:chExt cx="811573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np.linspace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9)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4515329" cy="925069"/>
              <a:chOff x="3637249" y="4437114"/>
              <a:chExt cx="4515329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9-element array, first element -1.0,</a:t>
                </a:r>
              </a:p>
              <a:p>
                <a:r>
                  <a:rPr lang="en-US" dirty="0"/>
                  <a:t>last element 1.0, determine step  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2" name="TextBox 21"/>
          <p:cNvSpPr txBox="1"/>
          <p:nvPr/>
        </p:nvSpPr>
        <p:spPr>
          <a:xfrm>
            <a:off x="1933078" y="3307050"/>
            <a:ext cx="7691314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9536" y="5733256"/>
            <a:ext cx="770485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 1. 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8538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D9454-011C-BA61-DF06-8E7742A49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A0853-C3DD-6893-0BFD-0E2A7CE7F0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random number generator (RNG)</a:t>
            </a:r>
          </a:p>
          <a:p>
            <a:endParaRPr lang="en-US" dirty="0"/>
          </a:p>
          <a:p>
            <a:r>
              <a:rPr lang="en-US" dirty="0"/>
              <a:t>Reproducibility: seed RNG</a:t>
            </a:r>
          </a:p>
          <a:p>
            <a:endParaRPr lang="en-US" dirty="0"/>
          </a:p>
          <a:p>
            <a:r>
              <a:rPr lang="en-US" dirty="0"/>
              <a:t>Create arrays</a:t>
            </a:r>
            <a:endParaRPr lang="LID4096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7E0CA0A-BA1C-2135-7CF4-13D703974884}"/>
              </a:ext>
            </a:extLst>
          </p:cNvPr>
          <p:cNvGrpSpPr/>
          <p:nvPr/>
        </p:nvGrpSpPr>
        <p:grpSpPr>
          <a:xfrm>
            <a:off x="1745089" y="3347059"/>
            <a:ext cx="9923439" cy="1400898"/>
            <a:chOff x="1745090" y="2812228"/>
            <a:chExt cx="9923439" cy="1400898"/>
          </a:xfrm>
        </p:grpSpPr>
        <p:sp>
          <p:nvSpPr>
            <p:cNvPr id="4" name="TextBox 3"/>
            <p:cNvSpPr txBox="1"/>
            <p:nvPr/>
          </p:nvSpPr>
          <p:spPr>
            <a:xfrm>
              <a:off x="1745090" y="3843794"/>
              <a:ext cx="6111287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rng.uniform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(2, 3))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800734" y="2812228"/>
              <a:ext cx="6867795" cy="1031566"/>
              <a:chOff x="2769975" y="3150202"/>
              <a:chExt cx="6867795" cy="1031566"/>
            </a:xfrm>
          </p:grpSpPr>
          <p:sp>
            <p:nvSpPr>
              <p:cNvPr id="5" name="TextBox 4"/>
              <p:cNvSpPr txBox="1"/>
              <p:nvPr/>
            </p:nvSpPr>
            <p:spPr>
              <a:xfrm>
                <a:off x="6113920" y="3150202"/>
                <a:ext cx="3523850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uniform</a:t>
                </a:r>
                <a:br>
                  <a:rPr lang="en-US" dirty="0"/>
                </a:br>
                <a:r>
                  <a:rPr lang="en-US" dirty="0"/>
                  <a:t>distribution such that </a:t>
                </a:r>
                <a:r>
                  <a:rPr lang="en-US" i="1" dirty="0"/>
                  <a:t>x</a:t>
                </a:r>
                <a:r>
                  <a:rPr lang="en-US" dirty="0"/>
                  <a:t> </a:t>
                </a:r>
                <a:r>
                  <a:rPr lang="en-US" dirty="0">
                    <a:sym typeface="Symbol"/>
                  </a:rPr>
                  <a:t></a:t>
                </a:r>
                <a:r>
                  <a:rPr lang="en-US" dirty="0"/>
                  <a:t> [-1.0, 1.0[</a:t>
                </a:r>
              </a:p>
            </p:txBody>
          </p:sp>
          <p:cxnSp>
            <p:nvCxnSpPr>
              <p:cNvPr id="7" name="Straight Arrow Connector 6"/>
              <p:cNvCxnSpPr>
                <a:cxnSpLocks/>
                <a:stCxn id="5" idx="1"/>
                <a:endCxn id="4" idx="0"/>
              </p:cNvCxnSpPr>
              <p:nvPr/>
            </p:nvCxnSpPr>
            <p:spPr>
              <a:xfrm flipH="1">
                <a:off x="2769975" y="3611867"/>
                <a:ext cx="3343945" cy="56990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92FA142D-2A44-E8DC-ABEE-B186D6A48F09}"/>
              </a:ext>
            </a:extLst>
          </p:cNvPr>
          <p:cNvSpPr txBox="1"/>
          <p:nvPr/>
        </p:nvSpPr>
        <p:spPr>
          <a:xfrm>
            <a:off x="1745089" y="2321708"/>
            <a:ext cx="611128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.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default_rng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880447-0CD9-28A8-7D51-E23DDB90253D}"/>
              </a:ext>
            </a:extLst>
          </p:cNvPr>
          <p:cNvSpPr txBox="1"/>
          <p:nvPr/>
        </p:nvSpPr>
        <p:spPr>
          <a:xfrm>
            <a:off x="1745089" y="3317457"/>
            <a:ext cx="611128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.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default_rng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(seed=1234)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54BFC3D-0F4F-7B6D-8523-3C6D4CE8590A}"/>
              </a:ext>
            </a:extLst>
          </p:cNvPr>
          <p:cNvGrpSpPr/>
          <p:nvPr/>
        </p:nvGrpSpPr>
        <p:grpSpPr>
          <a:xfrm>
            <a:off x="1745089" y="4563291"/>
            <a:ext cx="9608711" cy="1254242"/>
            <a:chOff x="1745090" y="2958884"/>
            <a:chExt cx="9608711" cy="125424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6C47E28-C768-8BA6-0FAB-6E550070405E}"/>
                </a:ext>
              </a:extLst>
            </p:cNvPr>
            <p:cNvSpPr txBox="1"/>
            <p:nvPr/>
          </p:nvSpPr>
          <p:spPr>
            <a:xfrm>
              <a:off x="1745090" y="3843794"/>
              <a:ext cx="6111287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rng.normal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(loc=1.0, scale=0.1, (5, 4))</a:t>
              </a:r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A609370-B3C8-A298-7B4D-EA408816DD88}"/>
                </a:ext>
              </a:extLst>
            </p:cNvPr>
            <p:cNvGrpSpPr/>
            <p:nvPr/>
          </p:nvGrpSpPr>
          <p:grpSpPr>
            <a:xfrm>
              <a:off x="4800734" y="2958884"/>
              <a:ext cx="6553067" cy="1200329"/>
              <a:chOff x="2769975" y="3296858"/>
              <a:chExt cx="6553067" cy="1200329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AE5220E-5AFC-5838-4084-D98C06ABFD4E}"/>
                  </a:ext>
                </a:extLst>
              </p:cNvPr>
              <p:cNvSpPr txBox="1"/>
              <p:nvPr/>
            </p:nvSpPr>
            <p:spPr>
              <a:xfrm>
                <a:off x="6242712" y="3296858"/>
                <a:ext cx="3080330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5 × 4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normal</a:t>
                </a:r>
                <a:br>
                  <a:rPr lang="en-US" dirty="0"/>
                </a:br>
                <a:r>
                  <a:rPr lang="en-US" dirty="0"/>
                  <a:t>distribution with mean 1.0 and</a:t>
                </a:r>
                <a:br>
                  <a:rPr lang="en-US" dirty="0"/>
                </a:br>
                <a:r>
                  <a:rPr lang="en-US" dirty="0"/>
                  <a:t>standard deviation 0.1</a:t>
                </a:r>
              </a:p>
            </p:txBody>
          </p: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2D00016C-8A10-64CF-6225-E2EA64184EA0}"/>
                  </a:ext>
                </a:extLst>
              </p:cNvPr>
              <p:cNvCxnSpPr>
                <a:cxnSpLocks/>
                <a:stCxn id="21" idx="1"/>
                <a:endCxn id="18" idx="0"/>
              </p:cNvCxnSpPr>
              <p:nvPr/>
            </p:nvCxnSpPr>
            <p:spPr>
              <a:xfrm flipH="1">
                <a:off x="2769975" y="3897023"/>
                <a:ext cx="3472737" cy="284745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11257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73031" y="1600200"/>
            <a:ext cx="8229600" cy="5141168"/>
          </a:xfrm>
        </p:spPr>
        <p:txBody>
          <a:bodyPr>
            <a:normAutofit/>
          </a:bodyPr>
          <a:lstStyle/>
          <a:p>
            <a:r>
              <a:rPr lang="en-US" dirty="0"/>
              <a:t>Integers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np.int8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np.int16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np.uint</a:t>
            </a:r>
            <a:r>
              <a:rPr lang="en-US" i="1" dirty="0"/>
              <a:t>&lt;n&gt;</a:t>
            </a:r>
            <a:r>
              <a:rPr lang="en-US" dirty="0"/>
              <a:t> for unsigned integers</a:t>
            </a:r>
          </a:p>
          <a:p>
            <a:r>
              <a:rPr lang="en-US" dirty="0"/>
              <a:t>Floating point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np.float16, np.float32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np.float128</a:t>
            </a:r>
            <a:endParaRPr lang="en-US" dirty="0"/>
          </a:p>
          <a:p>
            <a:r>
              <a:rPr lang="en-US" dirty="0"/>
              <a:t>Complex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np.complex64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np.complex256</a:t>
            </a:r>
            <a:endParaRPr lang="en-US" dirty="0"/>
          </a:p>
          <a:p>
            <a:r>
              <a:rPr lang="en-US" dirty="0"/>
              <a:t>Boolean values: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</a:p>
          <a:p>
            <a:r>
              <a:rPr lang="en-US" dirty="0"/>
              <a:t>Characters/strings: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np.character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pPr lvl="2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446220" y="5549936"/>
            <a:ext cx="437170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(3,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=np.int8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07E8568-F819-8670-89EE-62BC9DECFF85}"/>
              </a:ext>
            </a:extLst>
          </p:cNvPr>
          <p:cNvGrpSpPr/>
          <p:nvPr/>
        </p:nvGrpSpPr>
        <p:grpSpPr>
          <a:xfrm>
            <a:off x="251333" y="3961547"/>
            <a:ext cx="2286000" cy="1142298"/>
            <a:chOff x="0" y="3961547"/>
            <a:chExt cx="2286000" cy="114229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6CC1E90-816F-1B42-4266-531CB54DD481}"/>
                </a:ext>
              </a:extLst>
            </p:cNvPr>
            <p:cNvSpPr txBox="1"/>
            <p:nvPr/>
          </p:nvSpPr>
          <p:spPr>
            <a:xfrm>
              <a:off x="0" y="3961547"/>
              <a:ext cx="2041136" cy="646331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Not quad-precision,</a:t>
              </a:r>
              <a:br>
                <a:rPr lang="en-US" dirty="0"/>
              </a:br>
              <a:r>
                <a:rPr lang="en-US" dirty="0"/>
                <a:t>not portable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33DA0B7-4AED-C8CB-F11A-F3DB5F8F6DB2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 flipV="1">
              <a:off x="2041136" y="4086808"/>
              <a:ext cx="244864" cy="197905"/>
            </a:xfrm>
            <a:prstGeom prst="straightConnector1">
              <a:avLst/>
            </a:prstGeom>
            <a:ln w="19050">
              <a:solidFill>
                <a:schemeClr val="accent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7C9AB5A-22B3-0704-562A-A8C6459282C5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2041136" y="4284713"/>
              <a:ext cx="244864" cy="819132"/>
            </a:xfrm>
            <a:prstGeom prst="straightConnector1">
              <a:avLst/>
            </a:prstGeom>
            <a:ln w="19050">
              <a:solidFill>
                <a:schemeClr val="accent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897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array elements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Array dimensions, strides</a:t>
            </a:r>
          </a:p>
          <a:p>
            <a:endParaRPr lang="en-US" dirty="0"/>
          </a:p>
          <a:p>
            <a:r>
              <a:rPr lang="en-US" dirty="0"/>
              <a:t>Assigning to a specific element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an element's value</a:t>
            </a:r>
            <a:endParaRPr lang="nl-BE" dirty="0"/>
          </a:p>
        </p:txBody>
      </p:sp>
      <p:grpSp>
        <p:nvGrpSpPr>
          <p:cNvPr id="13" name="Group 12"/>
          <p:cNvGrpSpPr/>
          <p:nvPr/>
        </p:nvGrpSpPr>
        <p:grpSpPr>
          <a:xfrm>
            <a:off x="2245346" y="3498093"/>
            <a:ext cx="5232741" cy="554254"/>
            <a:chOff x="721345" y="3789040"/>
            <a:chExt cx="5232741" cy="55425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721345" y="3789040"/>
              <a:ext cx="3202583" cy="36933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a[1, 0] = 5.0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4114800" y="3789040"/>
              <a:ext cx="1839286" cy="554254"/>
              <a:chOff x="4114800" y="3789040"/>
              <a:chExt cx="1839286" cy="554254"/>
            </a:xfrm>
            <a:grpFill/>
          </p:grpSpPr>
          <p:sp>
            <p:nvSpPr>
              <p:cNvPr id="7" name="Rectangle 6"/>
              <p:cNvSpPr/>
              <p:nvPr/>
            </p:nvSpPr>
            <p:spPr>
              <a:xfrm>
                <a:off x="4262456" y="4056804"/>
                <a:ext cx="485212" cy="27712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nl-BE" dirty="0">
                    <a:solidFill>
                      <a:srgbClr val="C00000"/>
                    </a:solidFill>
                  </a:rPr>
                  <a:t>5.0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/>
                  <p:cNvSpPr txBox="1"/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d>
                            <m:d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nl-BE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/>
                                      </a:rPr>
                                      <m:t>0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5.0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nl-BE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blipFill rotWithShape="1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nl-B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8" name="TextBox 7"/>
          <p:cNvSpPr txBox="1"/>
          <p:nvPr/>
        </p:nvSpPr>
        <p:spPr>
          <a:xfrm>
            <a:off x="2245346" y="4555975"/>
            <a:ext cx="320258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q = a[1, 0] + a[1,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6041" y="4869160"/>
            <a:ext cx="3596497" cy="18158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Implicit conversion of</a:t>
            </a:r>
            <a:br>
              <a:rPr lang="en-US" sz="2800" dirty="0"/>
            </a:br>
            <a:r>
              <a:rPr lang="en-US" sz="2800" dirty="0"/>
              <a:t>tuple for indexing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0-based indexing</a:t>
            </a:r>
            <a:endParaRPr lang="nl-BE" sz="2800" dirty="0"/>
          </a:p>
        </p:txBody>
      </p:sp>
      <p:sp>
        <p:nvSpPr>
          <p:cNvPr id="10" name="TextBox 9"/>
          <p:cNvSpPr txBox="1"/>
          <p:nvPr/>
        </p:nvSpPr>
        <p:spPr>
          <a:xfrm>
            <a:off x="2279577" y="1556792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((2, 3))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9577" y="2487281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(2, 3)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15</a:t>
            </a:fld>
            <a:endParaRPr lang="nl-BE"/>
          </a:p>
        </p:txBody>
      </p:sp>
      <p:sp>
        <p:nvSpPr>
          <p:cNvPr id="15" name="TextBox 14"/>
          <p:cNvSpPr txBox="1"/>
          <p:nvPr/>
        </p:nvSpPr>
        <p:spPr>
          <a:xfrm>
            <a:off x="6344406" y="2483445"/>
            <a:ext cx="299195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a.strides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(24, 8)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8754736" y="2846794"/>
            <a:ext cx="1346972" cy="934296"/>
            <a:chOff x="7230736" y="2996425"/>
            <a:chExt cx="1346972" cy="934296"/>
          </a:xfrm>
        </p:grpSpPr>
        <p:sp>
          <p:nvSpPr>
            <p:cNvPr id="16" name="TextBox 15"/>
            <p:cNvSpPr txBox="1"/>
            <p:nvPr/>
          </p:nvSpPr>
          <p:spPr>
            <a:xfrm>
              <a:off x="7230736" y="3284390"/>
              <a:ext cx="134697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column</a:t>
              </a:r>
            </a:p>
          </p:txBody>
        </p:sp>
        <p:cxnSp>
          <p:nvCxnSpPr>
            <p:cNvPr id="18" name="Straight Arrow Connector 17"/>
            <p:cNvCxnSpPr>
              <a:stCxn id="16" idx="0"/>
            </p:cNvCxnSpPr>
            <p:nvPr/>
          </p:nvCxnSpPr>
          <p:spPr>
            <a:xfrm flipH="1" flipV="1">
              <a:off x="7524328" y="2996425"/>
              <a:ext cx="379894" cy="2879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>
            <a:off x="7238624" y="1551513"/>
            <a:ext cx="1260281" cy="935768"/>
            <a:chOff x="5714623" y="1701144"/>
            <a:chExt cx="1260281" cy="935768"/>
          </a:xfrm>
        </p:grpSpPr>
        <p:sp>
          <p:nvSpPr>
            <p:cNvPr id="5" name="TextBox 4"/>
            <p:cNvSpPr txBox="1"/>
            <p:nvPr/>
          </p:nvSpPr>
          <p:spPr>
            <a:xfrm>
              <a:off x="5714623" y="1701144"/>
              <a:ext cx="1260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row</a:t>
              </a:r>
            </a:p>
          </p:txBody>
        </p:sp>
        <p:cxnSp>
          <p:nvCxnSpPr>
            <p:cNvPr id="20" name="Straight Arrow Connector 19"/>
            <p:cNvCxnSpPr>
              <a:stCxn id="5" idx="2"/>
            </p:cNvCxnSpPr>
            <p:nvPr/>
          </p:nvCxnSpPr>
          <p:spPr>
            <a:xfrm>
              <a:off x="6344764" y="2347475"/>
              <a:ext cx="459484" cy="2894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6394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85C9E-934B-FA15-A42E-CCE09DB85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  <a:endParaRPr lang="LID4096" dirty="0"/>
          </a:p>
        </p:txBody>
      </p:sp>
      <p:pic>
        <p:nvPicPr>
          <p:cNvPr id="5" name="Content Placeholder 4" descr="A diagram of folded clothes&#10;&#10;AI-generated content may be incorrect.">
            <a:extLst>
              <a:ext uri="{FF2B5EF4-FFF2-40B4-BE49-F238E27FC236}">
                <a16:creationId xmlns:a16="http://schemas.microsoft.com/office/drawing/2014/main" id="{EE596465-0D37-1FD8-CA72-2C6B9EAED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18565"/>
            <a:ext cx="3288511" cy="4351338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/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`</a:t>
                </a:r>
                <a:endParaRPr lang="LID4096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blipFill>
                <a:blip r:embed="rId3"/>
                <a:stretch>
                  <a:fillRect r="-816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4B8BB4C-F53E-9CBE-6C43-0EB553ABD61A}"/>
              </a:ext>
            </a:extLst>
          </p:cNvPr>
          <p:cNvGrpSpPr/>
          <p:nvPr/>
        </p:nvGrpSpPr>
        <p:grpSpPr>
          <a:xfrm>
            <a:off x="4996788" y="2693709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7813" r="-4688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7692" r="-6154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D12D225-B475-3D44-ADBC-475603676773}"/>
              </a:ext>
            </a:extLst>
          </p:cNvPr>
          <p:cNvGrpSpPr/>
          <p:nvPr/>
        </p:nvGrpSpPr>
        <p:grpSpPr>
          <a:xfrm>
            <a:off x="4996788" y="3016251"/>
            <a:ext cx="1513800" cy="646334"/>
            <a:chOff x="5637068" y="2989562"/>
            <a:chExt cx="1513800" cy="646334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95304727-59A8-69E9-C11F-5D75937CE0B4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86E50D7-8F30-DDC1-13A2-8C6DAC66B70D}"/>
                </a:ext>
              </a:extLst>
            </p:cNvPr>
            <p:cNvSpPr txBox="1"/>
            <p:nvPr/>
          </p:nvSpPr>
          <p:spPr>
            <a:xfrm>
              <a:off x="6038788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1</a:t>
              </a:r>
              <a:endParaRPr lang="LID4096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FC95A7-A942-D2D6-F8C8-917C2E9D3634}"/>
              </a:ext>
            </a:extLst>
          </p:cNvPr>
          <p:cNvGrpSpPr/>
          <p:nvPr/>
        </p:nvGrpSpPr>
        <p:grpSpPr>
          <a:xfrm>
            <a:off x="6613752" y="3016251"/>
            <a:ext cx="1513800" cy="646334"/>
            <a:chOff x="7254032" y="2989562"/>
            <a:chExt cx="1513800" cy="646334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C0687C83-55A7-DA52-DD6E-5C0B7D4E8AFC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517656A-D511-2D7E-A37D-5CF9B7575668}"/>
                </a:ext>
              </a:extLst>
            </p:cNvPr>
            <p:cNvSpPr txBox="1"/>
            <p:nvPr/>
          </p:nvSpPr>
          <p:spPr>
            <a:xfrm>
              <a:off x="7670291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2</a:t>
              </a:r>
              <a:endParaRPr lang="LID4096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8C1C6BB-950E-5F8C-E042-3A1168AE06A3}"/>
              </a:ext>
            </a:extLst>
          </p:cNvPr>
          <p:cNvGrpSpPr/>
          <p:nvPr/>
        </p:nvGrpSpPr>
        <p:grpSpPr>
          <a:xfrm>
            <a:off x="9261807" y="3016251"/>
            <a:ext cx="1513800" cy="646334"/>
            <a:chOff x="9902087" y="2989562"/>
            <a:chExt cx="1513800" cy="646334"/>
          </a:xfrm>
        </p:grpSpPr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E18C1673-9135-1767-235B-D9F0CDD2EC72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5CFA9B-60FC-B130-198A-C033A52DC697}"/>
                </a:ext>
              </a:extLst>
            </p:cNvPr>
            <p:cNvSpPr txBox="1"/>
            <p:nvPr/>
          </p:nvSpPr>
          <p:spPr>
            <a:xfrm>
              <a:off x="10324278" y="3266564"/>
              <a:ext cx="784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</a:t>
              </a:r>
              <a:r>
                <a:rPr lang="en-US" i="1" dirty="0"/>
                <a:t>m</a:t>
              </a:r>
              <a:endParaRPr lang="LID4096" i="1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7C6FF0-D8A2-C75F-16EE-88EC3299E226}"/>
              </a:ext>
            </a:extLst>
          </p:cNvPr>
          <p:cNvGrpSpPr/>
          <p:nvPr/>
        </p:nvGrpSpPr>
        <p:grpSpPr>
          <a:xfrm>
            <a:off x="4876723" y="4570998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blipFill>
                  <a:blip r:embed="rId18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1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9EB38DF-ED01-58D5-CC6E-912C0386E13F}"/>
              </a:ext>
            </a:extLst>
          </p:cNvPr>
          <p:cNvGrpSpPr/>
          <p:nvPr/>
        </p:nvGrpSpPr>
        <p:grpSpPr>
          <a:xfrm>
            <a:off x="4876723" y="4893540"/>
            <a:ext cx="1513800" cy="646334"/>
            <a:chOff x="5637068" y="2989562"/>
            <a:chExt cx="1513800" cy="646334"/>
          </a:xfrm>
        </p:grpSpPr>
        <p:sp>
          <p:nvSpPr>
            <p:cNvPr id="40" name="Right Brace 39">
              <a:extLst>
                <a:ext uri="{FF2B5EF4-FFF2-40B4-BE49-F238E27FC236}">
                  <a16:creationId xmlns:a16="http://schemas.microsoft.com/office/drawing/2014/main" id="{7913803E-5224-4174-423A-97F86829707F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B72782D-B567-C4AE-8B62-E95094447E9C}"/>
                </a:ext>
              </a:extLst>
            </p:cNvPr>
            <p:cNvSpPr txBox="1"/>
            <p:nvPr/>
          </p:nvSpPr>
          <p:spPr>
            <a:xfrm>
              <a:off x="5810186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1</a:t>
              </a:r>
              <a:endParaRPr lang="LID4096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7155F48-4727-80A3-5D8D-F57C005C213B}"/>
              </a:ext>
            </a:extLst>
          </p:cNvPr>
          <p:cNvGrpSpPr/>
          <p:nvPr/>
        </p:nvGrpSpPr>
        <p:grpSpPr>
          <a:xfrm>
            <a:off x="6493687" y="4893540"/>
            <a:ext cx="1513800" cy="646334"/>
            <a:chOff x="7254032" y="2989562"/>
            <a:chExt cx="1513800" cy="646334"/>
          </a:xfrm>
        </p:grpSpPr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D8C5E83E-1EC9-D6E9-20D8-EDD83A616BBB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0ED9C9D-D02C-0AFF-CF8C-0A81A4A17B4C}"/>
                </a:ext>
              </a:extLst>
            </p:cNvPr>
            <p:cNvSpPr txBox="1"/>
            <p:nvPr/>
          </p:nvSpPr>
          <p:spPr>
            <a:xfrm>
              <a:off x="7493644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2</a:t>
              </a:r>
              <a:endParaRPr lang="LID4096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F57DA74-C7B6-E2CB-5ADB-5EADE1BB88DE}"/>
              </a:ext>
            </a:extLst>
          </p:cNvPr>
          <p:cNvGrpSpPr/>
          <p:nvPr/>
        </p:nvGrpSpPr>
        <p:grpSpPr>
          <a:xfrm>
            <a:off x="9141742" y="4893540"/>
            <a:ext cx="1513800" cy="646334"/>
            <a:chOff x="9902087" y="2989562"/>
            <a:chExt cx="1513800" cy="646334"/>
          </a:xfrm>
        </p:grpSpPr>
        <p:sp>
          <p:nvSpPr>
            <p:cNvPr id="46" name="Right Brace 45">
              <a:extLst>
                <a:ext uri="{FF2B5EF4-FFF2-40B4-BE49-F238E27FC236}">
                  <a16:creationId xmlns:a16="http://schemas.microsoft.com/office/drawing/2014/main" id="{8D66C0FF-0B9C-B38A-45BF-9865E768DE7D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BD9E4E3-B092-2A37-2A6E-CDA4F96F529E}"/>
                </a:ext>
              </a:extLst>
            </p:cNvPr>
            <p:cNvSpPr txBox="1"/>
            <p:nvPr/>
          </p:nvSpPr>
          <p:spPr>
            <a:xfrm>
              <a:off x="10137240" y="3266564"/>
              <a:ext cx="10547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</a:t>
              </a:r>
              <a:r>
                <a:rPr lang="en-US" i="1" dirty="0"/>
                <a:t>n</a:t>
              </a:r>
              <a:endParaRPr lang="LID4096" i="1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35B9B50F-42E8-2993-2CA6-3D0C2D95B594}"/>
              </a:ext>
            </a:extLst>
          </p:cNvPr>
          <p:cNvSpPr txBox="1"/>
          <p:nvPr/>
        </p:nvSpPr>
        <p:spPr>
          <a:xfrm>
            <a:off x="6003344" y="5869903"/>
            <a:ext cx="399628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Access elements contiguously!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620645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919536" y="5661248"/>
            <a:ext cx="4641376" cy="1008112"/>
            <a:chOff x="395536" y="5661248"/>
            <a:chExt cx="4641376" cy="1008112"/>
          </a:xfrm>
        </p:grpSpPr>
        <p:sp>
          <p:nvSpPr>
            <p:cNvPr id="7" name="Rectangle 6"/>
            <p:cNvSpPr/>
            <p:nvPr/>
          </p:nvSpPr>
          <p:spPr>
            <a:xfrm>
              <a:off x="395536" y="5661248"/>
              <a:ext cx="4641376" cy="1008112"/>
            </a:xfrm>
            <a:prstGeom prst="rect">
              <a:avLst/>
            </a:prstGeom>
            <a:solidFill>
              <a:srgbClr val="C00000">
                <a:alpha val="25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95536" y="5661248"/>
              <a:ext cx="305481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 err="1"/>
                <a:t>cfr</a:t>
              </a:r>
              <a:r>
                <a:rPr lang="en-US" sz="2800" dirty="0"/>
                <a:t>. list slicing, but…</a:t>
              </a:r>
              <a:endParaRPr lang="nl-BE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subarrays: slicing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Second column</a:t>
            </a:r>
          </a:p>
          <a:p>
            <a:endParaRPr lang="en-US" dirty="0"/>
          </a:p>
          <a:p>
            <a:r>
              <a:rPr lang="en-US" dirty="0"/>
              <a:t>Third row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2D subarray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813298" y="3514719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a[2, :]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3298" y="4747169"/>
            <a:ext cx="449872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a[1:3, 1:3]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np.eye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9" y="1556792"/>
            <a:ext cx="497897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21).reshape(4, 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437408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a[:, 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8088" y="2636912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[ 2  7  12  17 ]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8088" y="3851756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[ 11  12  13  14  15 ]</a:t>
            </a:r>
          </a:p>
        </p:txBody>
      </p:sp>
      <p:grpSp>
        <p:nvGrpSpPr>
          <p:cNvPr id="27" name="Group 26"/>
          <p:cNvGrpSpPr/>
          <p:nvPr/>
        </p:nvGrpSpPr>
        <p:grpSpPr>
          <a:xfrm>
            <a:off x="4727848" y="3068960"/>
            <a:ext cx="3168352" cy="720080"/>
            <a:chOff x="3203848" y="3068960"/>
            <a:chExt cx="3168352" cy="720080"/>
          </a:xfrm>
        </p:grpSpPr>
        <p:sp>
          <p:nvSpPr>
            <p:cNvPr id="16" name="TextBox 15"/>
            <p:cNvSpPr txBox="1"/>
            <p:nvPr/>
          </p:nvSpPr>
          <p:spPr>
            <a:xfrm>
              <a:off x="3203848" y="3183359"/>
              <a:ext cx="20986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result: 1D array</a:t>
              </a:r>
              <a:endParaRPr lang="nl-BE" sz="2400" dirty="0"/>
            </a:p>
          </p:txBody>
        </p:sp>
        <p:cxnSp>
          <p:nvCxnSpPr>
            <p:cNvPr id="18" name="Straight Arrow Connector 17"/>
            <p:cNvCxnSpPr>
              <a:stCxn id="16" idx="3"/>
            </p:cNvCxnSpPr>
            <p:nvPr/>
          </p:nvCxnSpPr>
          <p:spPr>
            <a:xfrm flipV="1">
              <a:off x="5302499" y="3068960"/>
              <a:ext cx="1069701" cy="345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>
              <a:stCxn id="16" idx="3"/>
            </p:cNvCxnSpPr>
            <p:nvPr/>
          </p:nvCxnSpPr>
          <p:spPr>
            <a:xfrm>
              <a:off x="5302499" y="3414192"/>
              <a:ext cx="1069701" cy="3748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/>
          <p:cNvSpPr txBox="1"/>
          <p:nvPr/>
        </p:nvSpPr>
        <p:spPr>
          <a:xfrm>
            <a:off x="6888088" y="4530167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1   0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 0   1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6888088" y="1340769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7   8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12  13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988" y="6021288"/>
            <a:ext cx="4639925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    array slicing does </a:t>
            </a:r>
            <a:r>
              <a:rPr lang="en-US" sz="2800" b="1" i="1" dirty="0">
                <a:solidFill>
                  <a:srgbClr val="C00000"/>
                </a:solidFill>
              </a:rPr>
              <a:t>not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/>
              <a:t>copy!</a:t>
            </a:r>
            <a:endParaRPr lang="nl-BE" sz="2800" dirty="0"/>
          </a:p>
        </p:txBody>
      </p:sp>
    </p:spTree>
    <p:extLst>
      <p:ext uri="{BB962C8B-B14F-4D97-AF65-F5344CB8AC3E}">
        <p14:creationId xmlns:p14="http://schemas.microsoft.com/office/powerpoint/2010/main" val="2327482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11" grpId="0" animBg="1"/>
      <p:bldP spid="14" grpId="0" animBg="1"/>
      <p:bldP spid="15" grpId="0" animBg="1"/>
      <p:bldP spid="26" grpId="0" animBg="1"/>
      <p:bldP spid="2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Views versus copies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428890" cy="4351338"/>
          </a:xfrm>
        </p:spPr>
        <p:txBody>
          <a:bodyPr>
            <a:normAutofit fontScale="92500"/>
          </a:bodyPr>
          <a:lstStyle/>
          <a:p>
            <a:r>
              <a:rPr lang="en-US" dirty="0"/>
              <a:t>Reshape: different view on same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Some operations return copies;</a:t>
            </a:r>
            <a:br>
              <a:rPr lang="en-US" dirty="0"/>
            </a:br>
            <a:r>
              <a:rPr lang="en-US" dirty="0"/>
              <a:t>check documentation carefully;</a:t>
            </a:r>
            <a:br>
              <a:rPr lang="en-US" dirty="0"/>
            </a:br>
            <a:r>
              <a:rPr lang="en-US" dirty="0"/>
              <a:t>also see</a:t>
            </a:r>
            <a:br>
              <a:rPr lang="en-US" dirty="0"/>
            </a:br>
            <a:r>
              <a:rPr lang="en-US" sz="2200" dirty="0">
                <a:hlinkClick r:id="rId2"/>
              </a:rPr>
              <a:t>https://github.com/gjbex/Scientific-Python/blob/master/source-code/numpy/views.ipynb</a:t>
            </a:r>
            <a:r>
              <a:rPr lang="en-US" sz="2200" dirty="0"/>
              <a:t> </a:t>
            </a:r>
            <a:endParaRPr lang="nl-BE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grpSp>
        <p:nvGrpSpPr>
          <p:cNvPr id="13" name="Group 12"/>
          <p:cNvGrpSpPr/>
          <p:nvPr/>
        </p:nvGrpSpPr>
        <p:grpSpPr>
          <a:xfrm>
            <a:off x="2279577" y="3258125"/>
            <a:ext cx="7850084" cy="369332"/>
            <a:chOff x="755577" y="3258125"/>
            <a:chExt cx="7850084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6157389" y="3258125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[ 1. 3. 4. 5.]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55577" y="3258125"/>
              <a:ext cx="424847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a.reshape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(-1)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2255737" y="2267579"/>
            <a:ext cx="7873924" cy="646332"/>
            <a:chOff x="731737" y="2267579"/>
            <a:chExt cx="7873924" cy="646332"/>
          </a:xfrm>
        </p:grpSpPr>
        <p:sp>
          <p:nvSpPr>
            <p:cNvPr id="5" name="TextBox 4"/>
            <p:cNvSpPr txBox="1"/>
            <p:nvPr/>
          </p:nvSpPr>
          <p:spPr>
            <a:xfrm>
              <a:off x="731737" y="2267580"/>
              <a:ext cx="4272312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[4.0, 5.0]])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157389" y="2267579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5.]]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2279577" y="3934159"/>
            <a:ext cx="424847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a[0, 0] = 13.0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928286" y="4006806"/>
            <a:ext cx="3200163" cy="646331"/>
            <a:chOff x="5404285" y="4006805"/>
            <a:chExt cx="3200163" cy="646331"/>
          </a:xfrm>
        </p:grpSpPr>
        <p:sp>
          <p:nvSpPr>
            <p:cNvPr id="12" name="TextBox 11"/>
            <p:cNvSpPr txBox="1"/>
            <p:nvPr/>
          </p:nvSpPr>
          <p:spPr>
            <a:xfrm>
              <a:off x="6156176" y="4006805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[[ 13.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 4.  5.]]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404285" y="4087454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928286" y="4677352"/>
            <a:ext cx="3200163" cy="417124"/>
            <a:chOff x="5404285" y="4677352"/>
            <a:chExt cx="3200163" cy="417124"/>
          </a:xfrm>
        </p:grpSpPr>
        <p:sp>
          <p:nvSpPr>
            <p:cNvPr id="11" name="TextBox 10"/>
            <p:cNvSpPr txBox="1"/>
            <p:nvPr/>
          </p:nvSpPr>
          <p:spPr>
            <a:xfrm>
              <a:off x="6156176" y="4725144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[ 13. 3. 4. 5.]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404285" y="4677352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705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Fancy indexing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Conditional indexing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Conditional 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8" y="1556792"/>
            <a:ext cx="691276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(1, 10,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=np.int8).reshape(3,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520534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a[a % 2 == 1] = 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9083561" y="1554525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5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7   8   9 ]]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0794" y="2793702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 2   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0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0   8   0 ]]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228351" y="2815649"/>
            <a:ext cx="3289575" cy="903005"/>
            <a:chOff x="755576" y="2952808"/>
            <a:chExt cx="3289575" cy="903005"/>
          </a:xfrm>
        </p:grpSpPr>
        <p:sp>
          <p:nvSpPr>
            <p:cNvPr id="4" name="Left Brace 3"/>
            <p:cNvSpPr/>
            <p:nvPr/>
          </p:nvSpPr>
          <p:spPr>
            <a:xfrm rot="16200000">
              <a:off x="1309568" y="2398816"/>
              <a:ext cx="188160" cy="1296144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8" name="Straight Arrow Connector 7"/>
            <p:cNvCxnSpPr>
              <a:stCxn id="6" idx="1"/>
              <a:endCxn id="4" idx="1"/>
            </p:cNvCxnSpPr>
            <p:nvPr/>
          </p:nvCxnSpPr>
          <p:spPr>
            <a:xfrm flipH="1" flipV="1">
              <a:off x="1403648" y="3140968"/>
              <a:ext cx="648072" cy="53017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1847528" y="4680666"/>
            <a:ext cx="32403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np.where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 &gt; 0, 1, -1)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166714" y="4963183"/>
            <a:ext cx="3289575" cy="903005"/>
            <a:chOff x="755576" y="2952808"/>
            <a:chExt cx="3289575" cy="903005"/>
          </a:xfrm>
        </p:grpSpPr>
        <p:sp>
          <p:nvSpPr>
            <p:cNvPr id="16" name="Left Brace 15"/>
            <p:cNvSpPr/>
            <p:nvPr/>
          </p:nvSpPr>
          <p:spPr>
            <a:xfrm rot="16200000">
              <a:off x="1029330" y="2679054"/>
              <a:ext cx="149532" cy="697039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19" name="Straight Arrow Connector 18"/>
            <p:cNvCxnSpPr>
              <a:stCxn id="18" idx="1"/>
              <a:endCxn id="16" idx="1"/>
            </p:cNvCxnSpPr>
            <p:nvPr/>
          </p:nvCxnSpPr>
          <p:spPr>
            <a:xfrm flipH="1" flipV="1">
              <a:off x="1104097" y="3102340"/>
              <a:ext cx="947623" cy="56880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9080794" y="4946031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-1   1  -1 ]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1  -1   1 ]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-1   1  -1 ]]</a:t>
            </a:r>
          </a:p>
        </p:txBody>
      </p:sp>
    </p:spTree>
    <p:extLst>
      <p:ext uri="{BB962C8B-B14F-4D97-AF65-F5344CB8AC3E}">
        <p14:creationId xmlns:p14="http://schemas.microsoft.com/office/powerpoint/2010/main" val="2909079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  <p:bldP spid="21" grpId="0" animBg="1"/>
      <p:bldP spid="14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Operations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499715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Scalar-array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Element-wise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product</a:t>
            </a:r>
          </a:p>
          <a:p>
            <a:endParaRPr lang="en-US" dirty="0"/>
          </a:p>
          <a:p>
            <a:r>
              <a:rPr lang="en-US" dirty="0"/>
              <a:t>Broadcasting, see</a:t>
            </a:r>
            <a:br>
              <a:rPr lang="en-US" dirty="0"/>
            </a:br>
            <a:r>
              <a:rPr lang="en-US" sz="2400" dirty="0">
                <a:hlinkClick r:id="rId2"/>
              </a:rPr>
              <a:t>https://github.com/gjbex/Scientific-Python/blob/master/source-code/numpy/broadcast.ipynb</a:t>
            </a:r>
            <a:r>
              <a:rPr lang="en-US" dirty="0"/>
              <a:t> </a:t>
            </a:r>
            <a:endParaRPr lang="nl-BE" dirty="0"/>
          </a:p>
        </p:txBody>
      </p:sp>
      <p:grpSp>
        <p:nvGrpSpPr>
          <p:cNvPr id="10" name="Group 9"/>
          <p:cNvGrpSpPr/>
          <p:nvPr/>
        </p:nvGrpSpPr>
        <p:grpSpPr>
          <a:xfrm>
            <a:off x="2255738" y="3440589"/>
            <a:ext cx="8892368" cy="923330"/>
            <a:chOff x="731737" y="3933056"/>
            <a:chExt cx="8892368" cy="923330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103825" y="4086923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[[ 2.   9. 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 2.5 ]]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79576" y="2091063"/>
            <a:ext cx="578448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print(3.0 + 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086817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[[ 4.   6.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[ 7.   8. ]]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7DEF166-5E80-901E-315D-7A0A70C938F7}"/>
              </a:ext>
            </a:extLst>
          </p:cNvPr>
          <p:cNvGrpSpPr/>
          <p:nvPr/>
        </p:nvGrpSpPr>
        <p:grpSpPr>
          <a:xfrm>
            <a:off x="2279576" y="4781913"/>
            <a:ext cx="8868530" cy="646331"/>
            <a:chOff x="2279576" y="5040706"/>
            <a:chExt cx="8868530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8627826" y="5040706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 14.5 ]]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279576" y="5149133"/>
              <a:ext cx="577462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 @ b)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28650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operating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2600037"/>
            <a:ext cx="8229600" cy="3526126"/>
          </a:xfrm>
        </p:spPr>
        <p:txBody>
          <a:bodyPr>
            <a:normAutofit/>
          </a:bodyPr>
          <a:lstStyle/>
          <a:p>
            <a:r>
              <a:rPr lang="en-US" dirty="0"/>
              <a:t>Avoid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  <a:p>
            <a:endParaRPr lang="en-US" dirty="0"/>
          </a:p>
          <a:p>
            <a:r>
              <a:rPr lang="en-US" dirty="0"/>
              <a:t>Other 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np.sinh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en-US" dirty="0">
                <a:cs typeface="Courier New" panose="02070309020205020404" pitchFamily="49" charset="0"/>
              </a:rPr>
              <a:t>,…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45346" y="170080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np.empty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((500, 500))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(500, 500))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140968"/>
            <a:ext cx="6226919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for j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a[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math.sqrt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7" y="4715852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(b)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976321" y="3212976"/>
            <a:ext cx="1018227" cy="1872208"/>
            <a:chOff x="7452320" y="3573016"/>
            <a:chExt cx="1018227" cy="1872208"/>
          </a:xfrm>
        </p:grpSpPr>
        <p:sp>
          <p:nvSpPr>
            <p:cNvPr id="7" name="TextBox 6"/>
            <p:cNvSpPr txBox="1"/>
            <p:nvPr/>
          </p:nvSpPr>
          <p:spPr>
            <a:xfrm>
              <a:off x="7452320" y="3573016"/>
              <a:ext cx="101822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140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452320" y="4983559"/>
              <a:ext cx="93968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6.5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9264353" y="3717032"/>
            <a:ext cx="1259645" cy="936104"/>
            <a:chOff x="7524328" y="4766367"/>
            <a:chExt cx="1259645" cy="936104"/>
          </a:xfrm>
        </p:grpSpPr>
        <p:sp>
          <p:nvSpPr>
            <p:cNvPr id="10" name="Curved Left Arrow 9"/>
            <p:cNvSpPr/>
            <p:nvPr/>
          </p:nvSpPr>
          <p:spPr>
            <a:xfrm>
              <a:off x="7524328" y="4766367"/>
              <a:ext cx="288032" cy="936104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884368" y="4869160"/>
              <a:ext cx="89960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21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762899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C5F7B-EC7F-CD86-5861-CE0ABE520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 functions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6B79AF-912B-0534-F1DA-B6021771B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102424"/>
            <a:ext cx="10515600" cy="2747963"/>
          </a:xfrm>
        </p:spPr>
        <p:txBody>
          <a:bodyPr/>
          <a:lstStyle/>
          <a:p>
            <a:r>
              <a:rPr lang="en-US" dirty="0"/>
              <a:t>Sum of columns</a:t>
            </a:r>
          </a:p>
          <a:p>
            <a:endParaRPr lang="en-US" dirty="0"/>
          </a:p>
          <a:p>
            <a:r>
              <a:rPr lang="en-US" dirty="0"/>
              <a:t>Sum of rows</a:t>
            </a:r>
          </a:p>
          <a:p>
            <a:endParaRPr lang="en-US" dirty="0"/>
          </a:p>
          <a:p>
            <a:r>
              <a:rPr lang="en-US" dirty="0"/>
              <a:t>Sum of all elements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A14C7E-39D9-A7FB-CBAF-A6A49F96213E}"/>
              </a:ext>
            </a:extLst>
          </p:cNvPr>
          <p:cNvSpPr txBox="1"/>
          <p:nvPr/>
        </p:nvSpPr>
        <p:spPr>
          <a:xfrm>
            <a:off x="1458481" y="1773826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(24).reshape(4, -1)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B31128-47FB-7EDD-0367-BCD622C9630F}"/>
              </a:ext>
            </a:extLst>
          </p:cNvPr>
          <p:cNvSpPr txBox="1"/>
          <p:nvPr/>
        </p:nvSpPr>
        <p:spPr>
          <a:xfrm>
            <a:off x="7987004" y="1387022"/>
            <a:ext cx="3601616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1  2  3  4  5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6  7  8  9 10 11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12 13 14 15 16 17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18 19 20 21 22 23 ]]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EF19DD-8A27-75A9-2F6E-5FB4219E8974}"/>
              </a:ext>
            </a:extLst>
          </p:cNvPr>
          <p:cNvSpPr txBox="1"/>
          <p:nvPr/>
        </p:nvSpPr>
        <p:spPr>
          <a:xfrm>
            <a:off x="1458481" y="3629385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(axis=0)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102A7C-36E1-C848-96D0-54A2D7881E08}"/>
              </a:ext>
            </a:extLst>
          </p:cNvPr>
          <p:cNvSpPr txBox="1"/>
          <p:nvPr/>
        </p:nvSpPr>
        <p:spPr>
          <a:xfrm>
            <a:off x="7987004" y="3674719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 36 40 44 48 52 56 ]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D95DBD-9719-0135-EDDD-D8FAF5293743}"/>
              </a:ext>
            </a:extLst>
          </p:cNvPr>
          <p:cNvSpPr txBox="1"/>
          <p:nvPr/>
        </p:nvSpPr>
        <p:spPr>
          <a:xfrm>
            <a:off x="1458481" y="4555220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(axis=1)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E78634-7FF0-FA3C-654F-D36A67A0CAD0}"/>
              </a:ext>
            </a:extLst>
          </p:cNvPr>
          <p:cNvSpPr txBox="1"/>
          <p:nvPr/>
        </p:nvSpPr>
        <p:spPr>
          <a:xfrm>
            <a:off x="7987004" y="4555220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 15 51 87 123 ]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89245E-A2AA-6FF6-DFB7-47175E8586F6}"/>
              </a:ext>
            </a:extLst>
          </p:cNvPr>
          <p:cNvSpPr txBox="1"/>
          <p:nvPr/>
        </p:nvSpPr>
        <p:spPr>
          <a:xfrm>
            <a:off x="1458481" y="5615993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B19FB1-BFA2-BD93-5B4C-7A1804659CE7}"/>
              </a:ext>
            </a:extLst>
          </p:cNvPr>
          <p:cNvSpPr txBox="1"/>
          <p:nvPr/>
        </p:nvSpPr>
        <p:spPr>
          <a:xfrm>
            <a:off x="7987004" y="5615993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276</a:t>
            </a:r>
          </a:p>
        </p:txBody>
      </p:sp>
      <p:sp>
        <p:nvSpPr>
          <p:cNvPr id="17" name="Slide Number Placeholder 12">
            <a:extLst>
              <a:ext uri="{FF2B5EF4-FFF2-40B4-BE49-F238E27FC236}">
                <a16:creationId xmlns:a16="http://schemas.microsoft.com/office/drawing/2014/main" id="{CB6841B4-072C-73DD-8859-BCF45A57C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A209D72-2E9D-49B0-8977-41DCCC66C0BB}" type="slidenum">
              <a:rPr lang="nl-BE" smtClean="0"/>
              <a:t>22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638025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10" grpId="0" animBg="1"/>
      <p:bldP spid="11" grpId="0" animBg="1"/>
      <p:bldP spid="13" grpId="0" animBg="1"/>
      <p:bldP spid="14" grpId="0" animBg="1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has some linear algebra operations</a:t>
            </a:r>
          </a:p>
          <a:p>
            <a:pPr lvl="1"/>
            <a:r>
              <a:rPr lang="en-US" dirty="0"/>
              <a:t>matrix power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matrix  inverse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determinant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eigenvalues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2255738" y="2539412"/>
            <a:ext cx="8163703" cy="646331"/>
            <a:chOff x="731737" y="3784165"/>
            <a:chExt cx="8163703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31737" y="3933056"/>
              <a:ext cx="412829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np.linalg.matrix_power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(a, 3)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932040" y="3784165"/>
              <a:ext cx="396340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85.  129.]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[ 172.  257.]]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255737" y="1351888"/>
            <a:ext cx="578447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255738" y="3322570"/>
            <a:ext cx="8160743" cy="646331"/>
            <a:chOff x="731737" y="3646765"/>
            <a:chExt cx="8160743" cy="646331"/>
          </a:xfrm>
        </p:grpSpPr>
        <p:sp>
          <p:nvSpPr>
            <p:cNvPr id="8" name="TextBox 7"/>
            <p:cNvSpPr txBox="1"/>
            <p:nvPr/>
          </p:nvSpPr>
          <p:spPr>
            <a:xfrm>
              <a:off x="731737" y="3792522"/>
              <a:ext cx="413120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np.linalg.inv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32040" y="3646765"/>
              <a:ext cx="396044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[[-0.71428571  0.42857143]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[ 0.57142857 -0.14285714]]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2279578" y="4250337"/>
            <a:ext cx="8136903" cy="378624"/>
            <a:chOff x="755577" y="4715852"/>
            <a:chExt cx="8136903" cy="378624"/>
          </a:xfrm>
        </p:grpSpPr>
        <p:sp>
          <p:nvSpPr>
            <p:cNvPr id="9" name="TextBox 8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np.linalg.det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-7.0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2279577" y="5129975"/>
            <a:ext cx="8136903" cy="378624"/>
            <a:chOff x="755577" y="4715852"/>
            <a:chExt cx="8136903" cy="378624"/>
          </a:xfrm>
        </p:grpSpPr>
        <p:sp>
          <p:nvSpPr>
            <p:cNvPr id="15" name="TextBox 14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np.linalg.eigvals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[-1.  7.]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397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I/O revisited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Reading text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np.genfromtxt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                   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12 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='\n')</a:t>
            </a:r>
            <a:r>
              <a:rPr lang="en-US" dirty="0"/>
              <a:t>:  </a:t>
            </a:r>
            <a:r>
              <a:rPr lang="en-US" dirty="0">
                <a:solidFill>
                  <a:srgbClr val="FF0000"/>
                </a:solidFill>
              </a:rPr>
              <a:t>6 seconds</a:t>
            </a:r>
            <a:endParaRPr lang="en-US" dirty="0">
              <a:solidFill>
                <a:srgbClr val="0070C0"/>
              </a:solidFill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</a:t>
            </a:r>
            <a:r>
              <a:rPr lang="en-US" dirty="0">
                <a:solidFill>
                  <a:srgbClr val="FF0000"/>
                </a:solidFill>
              </a:rPr>
              <a:t>2 seconds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Reading binary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    </a:t>
            </a:r>
            <a:r>
              <a:rPr lang="en-US" dirty="0">
                <a:solidFill>
                  <a:srgbClr val="FF0000"/>
                </a:solidFill>
              </a:rPr>
              <a:t>19 milliseconds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</a:t>
            </a:r>
            <a:r>
              <a:rPr lang="en-US" dirty="0">
                <a:solidFill>
                  <a:srgbClr val="FF0000"/>
                </a:solidFill>
              </a:rPr>
              <a:t>16 milliseconds</a:t>
            </a:r>
            <a:endParaRPr lang="nl-BE" dirty="0"/>
          </a:p>
          <a:p>
            <a:r>
              <a:rPr lang="nl-BE" dirty="0"/>
              <a:t>HDF5 file </a:t>
            </a:r>
            <a:r>
              <a:rPr lang="nl-BE" dirty="0" err="1"/>
              <a:t>with</a:t>
            </a:r>
            <a:r>
              <a:rPr lang="en-US" dirty="0"/>
              <a:t>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h5_file['data'][:]</a:t>
            </a:r>
            <a:r>
              <a:rPr lang="en-US" dirty="0"/>
              <a:t>:              </a:t>
            </a:r>
            <a:r>
              <a:rPr lang="en-US" dirty="0">
                <a:solidFill>
                  <a:srgbClr val="FF0000"/>
                </a:solidFill>
              </a:rPr>
              <a:t>32 milliseconds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90961" y="688637"/>
            <a:ext cx="435196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All functions are equal, but…</a:t>
            </a:r>
          </a:p>
          <a:p>
            <a:pPr algn="ctr"/>
            <a:r>
              <a:rPr lang="en-US" sz="2400" dirty="0"/>
              <a:t>some are more equal than others</a:t>
            </a:r>
            <a:endParaRPr lang="nl-BE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2663226" y="5894685"/>
            <a:ext cx="651345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 all data formats are equal: HDF5 to the rescue</a:t>
            </a:r>
            <a:endParaRPr lang="nl-BE" sz="2400" dirty="0"/>
          </a:p>
        </p:txBody>
      </p:sp>
      <p:grpSp>
        <p:nvGrpSpPr>
          <p:cNvPr id="7" name="Group 6"/>
          <p:cNvGrpSpPr/>
          <p:nvPr/>
        </p:nvGrpSpPr>
        <p:grpSpPr>
          <a:xfrm>
            <a:off x="9372860" y="3428136"/>
            <a:ext cx="1563341" cy="1014871"/>
            <a:chOff x="7164288" y="4766367"/>
            <a:chExt cx="1563341" cy="1014871"/>
          </a:xfrm>
        </p:grpSpPr>
        <p:sp>
          <p:nvSpPr>
            <p:cNvPr id="8" name="Curved Left Arrow 7"/>
            <p:cNvSpPr/>
            <p:nvPr/>
          </p:nvSpPr>
          <p:spPr>
            <a:xfrm>
              <a:off x="7164288" y="4766367"/>
              <a:ext cx="288032" cy="1014871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619633" y="4918822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100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9478910" y="2400518"/>
            <a:ext cx="1099254" cy="868452"/>
            <a:chOff x="7164288" y="5626971"/>
            <a:chExt cx="1099254" cy="868452"/>
          </a:xfrm>
        </p:grpSpPr>
        <p:sp>
          <p:nvSpPr>
            <p:cNvPr id="13" name="Curved Left Arrow 12"/>
            <p:cNvSpPr/>
            <p:nvPr/>
          </p:nvSpPr>
          <p:spPr>
            <a:xfrm>
              <a:off x="7164288" y="5626971"/>
              <a:ext cx="288032" cy="868452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72327" y="5765768"/>
              <a:ext cx="69121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6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241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Matrices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Matlab</a:t>
            </a:r>
            <a:r>
              <a:rPr lang="en-US" dirty="0"/>
              <a:t>-like initialization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Overloaded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operators</a:t>
            </a: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r>
              <a:rPr lang="en-US" dirty="0"/>
              <a:t>Result is always matrix (2D)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55738" y="3294489"/>
            <a:ext cx="8875142" cy="1334841"/>
            <a:chOff x="731737" y="3798544"/>
            <a:chExt cx="8875142" cy="1334841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print(a**3)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086599" y="379854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55738" y="2257981"/>
            <a:ext cx="578448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('1.0  3.0; 4.0  5.0')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111408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[[ 1.   3.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   5. ]]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0600" y="4167754"/>
            <a:ext cx="2520280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85.  129.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[ 172.  257. ]]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255738" y="5503587"/>
            <a:ext cx="8875142" cy="923330"/>
            <a:chOff x="635890" y="3973225"/>
            <a:chExt cx="8875142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635890" y="3973225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('1.0, 3.0')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('2.0; 4.0')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990752" y="4146781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[[ 14. ]]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25</a:t>
            </a:fld>
            <a:endParaRPr lang="nl-BE"/>
          </a:p>
        </p:txBody>
      </p:sp>
      <p:grpSp>
        <p:nvGrpSpPr>
          <p:cNvPr id="16" name="Group 15"/>
          <p:cNvGrpSpPr/>
          <p:nvPr/>
        </p:nvGrpSpPr>
        <p:grpSpPr>
          <a:xfrm rot="20320667">
            <a:off x="2732598" y="2907275"/>
            <a:ext cx="3672408" cy="2160240"/>
            <a:chOff x="251520" y="1268760"/>
            <a:chExt cx="3672408" cy="2160240"/>
          </a:xfrm>
        </p:grpSpPr>
        <p:sp>
          <p:nvSpPr>
            <p:cNvPr id="7" name="TextBox 6"/>
            <p:cNvSpPr txBox="1"/>
            <p:nvPr/>
          </p:nvSpPr>
          <p:spPr>
            <a:xfrm>
              <a:off x="251520" y="1268760"/>
              <a:ext cx="3666388" cy="21236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600" dirty="0">
                  <a:solidFill>
                    <a:srgbClr val="C00000"/>
                  </a:solidFill>
                </a:rPr>
                <a:t>Don't use,</a:t>
              </a:r>
            </a:p>
            <a:p>
              <a:r>
                <a:rPr lang="en-US" sz="6600" dirty="0">
                  <a:solidFill>
                    <a:srgbClr val="C00000"/>
                  </a:solidFill>
                </a:rPr>
                <a:t>confusing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51520" y="1268760"/>
              <a:ext cx="3672408" cy="2160240"/>
            </a:xfrm>
            <a:prstGeom prst="roundRect">
              <a:avLst/>
            </a:prstGeom>
            <a:solidFill>
              <a:srgbClr val="C00000">
                <a:alpha val="29000"/>
              </a:srgbClr>
            </a:solid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653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for MATLAB users</a:t>
            </a:r>
            <a:br>
              <a:rPr lang="en-US" dirty="0"/>
            </a:br>
            <a:r>
              <a:rPr lang="en-US" sz="2400" dirty="0">
                <a:hlinkClick r:id="rId2"/>
              </a:rPr>
              <a:t>http://mathesaurus.sourceforge.net/matlab-numpy.html</a:t>
            </a:r>
            <a:endParaRPr lang="en-US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19906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</a:t>
            </a:r>
            <a:r>
              <a:rPr lang="en-US" sz="1800" dirty="0">
                <a:hlinkClick r:id="rId2"/>
              </a:rPr>
              <a:t>Scientific-Python</a:t>
            </a:r>
            <a:r>
              <a:rPr lang="en-US" sz="1800" dirty="0">
                <a:hlinkClick r:id="rId3"/>
              </a:rPr>
              <a:t>/tree/master/source-code/birdsong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36630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…</a:t>
            </a:r>
          </a:p>
          <a:p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Dense/sparse linear algebra</a:t>
            </a:r>
          </a:p>
          <a:p>
            <a:pPr lvl="1"/>
            <a:r>
              <a:rPr lang="en-US" dirty="0"/>
              <a:t>Solving ordinary differential equations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Signal processing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Special mathematical functions</a:t>
            </a:r>
          </a:p>
          <a:p>
            <a:pPr lvl="1"/>
            <a:r>
              <a:rPr lang="en-US" dirty="0"/>
              <a:t>Mathematical &amp; physical constants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28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3638321" y="5470314"/>
            <a:ext cx="4734825" cy="727631"/>
            <a:chOff x="588960" y="1198493"/>
            <a:chExt cx="4734825" cy="727631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588960" y="1556792"/>
              <a:ext cx="2900532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scipy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as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275857" y="1198493"/>
              <a:ext cx="2047928" cy="542965"/>
              <a:chOff x="1378722" y="3862789"/>
              <a:chExt cx="2047928" cy="542965"/>
            </a:xfrm>
            <a:grpFill/>
          </p:grpSpPr>
          <p:sp>
            <p:nvSpPr>
              <p:cNvPr id="8" name="TextBox 7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convention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>
                <a:off x="1378722" y="4047455"/>
                <a:ext cx="817014" cy="358299"/>
              </a:xfrm>
              <a:prstGeom prst="straightConnector1">
                <a:avLst/>
              </a:prstGeom>
              <a:grpFill/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493742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Singular Value Decomposition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SVD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/>
              <a:t> is not a 2D-array, it is a 1D-array</a:t>
            </a:r>
          </a:p>
          <a:p>
            <a:endParaRPr lang="en-US" dirty="0"/>
          </a:p>
          <a:p>
            <a:r>
              <a:rPr lang="en-US" dirty="0"/>
              <a:t>Let's check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55737" y="2482692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([[7.3, 5.7], [-1.2, 5.3]])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u, s, 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sp.linalg.svd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912731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np.diag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736" y="490753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u @ S @ v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delta = A -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5880" y="5733257"/>
            <a:ext cx="5256584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[[ 8.88178420e-16, 0.00000000e+00],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[ 4.44089210e-16, 0.00000000e+00]]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2065" y="1412776"/>
            <a:ext cx="363003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Should be fast when built against</a:t>
            </a:r>
            <a:br>
              <a:rPr lang="en-US" sz="2000" dirty="0"/>
            </a:br>
            <a:r>
              <a:rPr lang="en-US" sz="2000" dirty="0"/>
              <a:t>good BLAS/</a:t>
            </a:r>
            <a:r>
              <a:rPr lang="en-US" sz="2000" dirty="0" err="1"/>
              <a:t>Lapack</a:t>
            </a:r>
            <a:r>
              <a:rPr lang="en-US" sz="2000" dirty="0"/>
              <a:t> library</a:t>
            </a:r>
            <a:endParaRPr lang="nl-BE" sz="20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232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Linear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55736" y="2505670"/>
            <a:ext cx="7368656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np.genfromtxt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('data.csv',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=[np.float64, np.float64],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delimiter=',', names=True)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7713640" y="868052"/>
            <a:ext cx="3024336" cy="1200909"/>
            <a:chOff x="755577" y="4078813"/>
            <a:chExt cx="3024336" cy="1200909"/>
          </a:xfrm>
        </p:grpSpPr>
        <p:sp>
          <p:nvSpPr>
            <p:cNvPr id="5" name="TextBox 4"/>
            <p:cNvSpPr txBox="1"/>
            <p:nvPr/>
          </p:nvSpPr>
          <p:spPr>
            <a:xfrm>
              <a:off x="755577" y="4078813"/>
              <a:ext cx="3024336" cy="120032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x,y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0.000e+00,1.206e+00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5.263e-02,1.207e+00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919868" y="4941168"/>
              <a:ext cx="86004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data.csv</a:t>
              </a:r>
              <a:endParaRPr lang="nl-BE" dirty="0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255736" y="4466163"/>
            <a:ext cx="73686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slp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r, _, _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sp.stats.linregress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(data['x'],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data['y'])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7555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1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Optimization: function definitions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</a:t>
            </a:r>
          </a:p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gradient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  <m:r>
                            <a:rPr lang="en-US" sz="2800" i="1">
                              <a:latin typeface="Cambria Math"/>
                            </a:rPr>
                            <m:t>, 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>
                                  <a:latin typeface="Cambria Math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+0.1</m:t>
                      </m:r>
                      <m:r>
                        <a:rPr lang="en-US" sz="2800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55736" y="2847433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f(X):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(x**2 + y**2)**2 - 2*x**2 - 2*y**2 + 0.1*x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5736" y="4904130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y**2)*x - 4*x + 0.1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y**2)*y - 4*y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8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3300" dirty="0"/>
              <a:t>Compute</a:t>
            </a:r>
            <a:r>
              <a:rPr lang="en-US" dirty="0"/>
              <a:t> </a:t>
            </a:r>
            <a:r>
              <a:rPr lang="en-US" sz="3300" dirty="0"/>
              <a:t>minimum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300" dirty="0"/>
              <a:t>Many</a:t>
            </a:r>
            <a:r>
              <a:rPr lang="en-US" dirty="0"/>
              <a:t> </a:t>
            </a:r>
            <a:r>
              <a:rPr lang="en-US" sz="3300" dirty="0"/>
              <a:t>methods</a:t>
            </a:r>
            <a:endParaRPr lang="en-US" dirty="0"/>
          </a:p>
          <a:p>
            <a:pPr lvl="1"/>
            <a:r>
              <a:rPr lang="en-US" sz="2800" dirty="0"/>
              <a:t>Powell</a:t>
            </a:r>
            <a:endParaRPr lang="en-US" dirty="0"/>
          </a:p>
          <a:p>
            <a:pPr lvl="1"/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sz="2800" dirty="0"/>
              <a:t>BFGS</a:t>
            </a:r>
            <a:endParaRPr lang="en-US" dirty="0"/>
          </a:p>
          <a:p>
            <a:pPr lvl="1"/>
            <a:r>
              <a:rPr lang="en-US" sz="2800" dirty="0"/>
              <a:t>Newton</a:t>
            </a:r>
            <a:r>
              <a:rPr lang="en-US" dirty="0"/>
              <a:t> </a:t>
            </a:r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79576" y="2367776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x0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([1.0, 0.01])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xopt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scipy.optimize.fmin_cg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(f, x0,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fprime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disp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=False)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6998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differential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Rewrite higher order differential equation to set of first order equations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33</a:t>
            </a:fld>
            <a:endParaRPr lang="nl-BE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7821891"/>
              </p:ext>
            </p:extLst>
          </p:nvPr>
        </p:nvGraphicFramePr>
        <p:xfrm>
          <a:off x="2025650" y="3060700"/>
          <a:ext cx="4011613" cy="849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93680" imgH="419040" progId="Equation.DSMT4">
                  <p:embed/>
                </p:oleObj>
              </mc:Choice>
              <mc:Fallback>
                <p:oleObj name="Equation" r:id="rId2" imgW="1993680" imgH="419040" progId="Equation.DSMT4">
                  <p:embed/>
                  <p:pic>
                    <p:nvPicPr>
                      <p:cNvPr id="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25650" y="3060700"/>
                        <a:ext cx="4011613" cy="849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6144518" y="2636839"/>
          <a:ext cx="4271963" cy="169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120760" imgH="838080" progId="Equation.3">
                  <p:embed/>
                </p:oleObj>
              </mc:Choice>
              <mc:Fallback>
                <p:oleObj name="Vergelijking" r:id="rId4" imgW="2120760" imgH="838080" progId="Equation.3">
                  <p:embed/>
                  <p:pic>
                    <p:nvPicPr>
                      <p:cNvPr id="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44518" y="2636839"/>
                        <a:ext cx="4271963" cy="1697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2279576" y="4499587"/>
            <a:ext cx="7584680" cy="2199391"/>
            <a:chOff x="755576" y="4499586"/>
            <a:chExt cx="7584680" cy="2199391"/>
          </a:xfrm>
        </p:grpSpPr>
        <p:sp>
          <p:nvSpPr>
            <p:cNvPr id="8" name="TextBox 7"/>
            <p:cNvSpPr txBox="1"/>
            <p:nvPr/>
          </p:nvSpPr>
          <p:spPr>
            <a:xfrm>
              <a:off x="755576" y="4499586"/>
              <a:ext cx="7584680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func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(t, y, g, l, q, F_D,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theta, omega = y[0], y[1]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[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omega,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-(g/l)*theta - q*omega + F_D*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np.sin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*t)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75656" y="6237312"/>
              <a:ext cx="13885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y[0]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</a:t>
              </a:r>
              <a:endParaRPr lang="nl-BE" sz="2400" i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19872" y="6237312"/>
              <a:ext cx="143981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y[1]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</a:t>
              </a:r>
              <a:endParaRPr lang="nl-BE" sz="240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6138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Jacobian for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some methods, convergence improves by specifying Jacobian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34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2533650" y="2816226"/>
          <a:ext cx="4629150" cy="1336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298600" imgH="660240" progId="Equation.3">
                  <p:embed/>
                </p:oleObj>
              </mc:Choice>
              <mc:Fallback>
                <p:oleObj name="Vergelijking" r:id="rId2" imgW="2298600" imgH="660240" progId="Equation.3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3650" y="2816226"/>
                        <a:ext cx="4629150" cy="1336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79576" y="4581128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(t, y, 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return 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[0.0, 1.0],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[-g/l, -q]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]</a:t>
            </a:r>
          </a:p>
        </p:txBody>
      </p:sp>
    </p:spTree>
    <p:extLst>
      <p:ext uri="{BB962C8B-B14F-4D97-AF65-F5344CB8AC3E}">
        <p14:creationId xmlns:p14="http://schemas.microsoft.com/office/powerpoint/2010/main" val="842590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Integrate ODEs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Integrate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t0</a:t>
            </a:r>
            <a:r>
              <a:rPr lang="en-US" dirty="0"/>
              <a:t>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t_max</a:t>
            </a:r>
            <a:r>
              <a:rPr lang="en-US" dirty="0"/>
              <a:t> in steps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35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279576" y="2502701"/>
            <a:ext cx="7584680" cy="369331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solution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t_span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y0=(theta0, omega0),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t_eval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args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method="RK45",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not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solution.success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5085184" y="4984478"/>
            <a:ext cx="3195102" cy="646331"/>
            <a:chOff x="5688563" y="2422629"/>
            <a:chExt cx="3195102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6876256" y="2422629"/>
              <a:ext cx="200740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integration method</a:t>
              </a:r>
              <a:br>
                <a:rPr lang="en-US" dirty="0"/>
              </a:br>
              <a:r>
                <a:rPr lang="en-US" dirty="0"/>
                <a:t>RKF(4, 5)</a:t>
              </a:r>
            </a:p>
          </p:txBody>
        </p:sp>
        <p:cxnSp>
          <p:nvCxnSpPr>
            <p:cNvPr id="8" name="Straight Arrow Connector 7"/>
            <p:cNvCxnSpPr>
              <a:cxnSpLocks/>
              <a:stCxn id="6" idx="1"/>
            </p:cNvCxnSpPr>
            <p:nvPr/>
          </p:nvCxnSpPr>
          <p:spPr>
            <a:xfrm flipH="1" flipV="1">
              <a:off x="5688563" y="2422629"/>
              <a:ext cx="1187693" cy="3231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77009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processing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Remove noise from sound file (WAV)</a:t>
            </a:r>
          </a:p>
          <a:p>
            <a:pPr lvl="1"/>
            <a:r>
              <a:rPr lang="en-US" dirty="0"/>
              <a:t>Read WAV file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Perform FFT to compute frequency spectrum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697804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scipy.io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signal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1584" y="4669655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(n)/n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sp.fft.fft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(signal)/n</a:t>
            </a:r>
          </a:p>
        </p:txBody>
      </p:sp>
    </p:spTree>
    <p:extLst>
      <p:ext uri="{BB962C8B-B14F-4D97-AF65-F5344CB8AC3E}">
        <p14:creationId xmlns:p14="http://schemas.microsoft.com/office/powerpoint/2010/main" val="1697371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37</a:t>
            </a:fld>
            <a:endParaRPr lang="nl-BE"/>
          </a:p>
        </p:txBody>
      </p:sp>
      <p:pic>
        <p:nvPicPr>
          <p:cNvPr id="3074" name="Picture 2" descr="C:\Users\lucg5005\Desktop\blue_jay_orig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59136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blue_jay_orig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07331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</a:t>
            </a:r>
            <a:r>
              <a:rPr lang="en-US" dirty="0" err="1"/>
              <a:t>highpass</a:t>
            </a:r>
            <a:r>
              <a:rPr lang="en-US" dirty="0"/>
              <a:t> filter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IIR digital filter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3012275"/>
            <a:ext cx="7584680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b, 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sp.signal.iirfilter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(17, cutoff,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min_attenuation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highpass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analog=False,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='cheby2')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225880" y="2739343"/>
            <a:ext cx="1846036" cy="576982"/>
            <a:chOff x="6876256" y="2422629"/>
            <a:chExt cx="1846036" cy="576982"/>
          </a:xfrm>
        </p:grpSpPr>
        <p:sp>
          <p:nvSpPr>
            <p:cNvPr id="7" name="TextBox 6"/>
            <p:cNvSpPr txBox="1"/>
            <p:nvPr/>
          </p:nvSpPr>
          <p:spPr>
            <a:xfrm>
              <a:off x="6876256" y="2422629"/>
              <a:ext cx="18124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order of the filter</a:t>
              </a: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7782498" y="2791961"/>
              <a:ext cx="939794" cy="2076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456040" y="2381045"/>
            <a:ext cx="2920800" cy="862355"/>
            <a:chOff x="6876256" y="2422629"/>
            <a:chExt cx="2920800" cy="862355"/>
          </a:xfrm>
        </p:grpSpPr>
        <p:sp>
          <p:nvSpPr>
            <p:cNvPr id="10" name="TextBox 9"/>
            <p:cNvSpPr txBox="1"/>
            <p:nvPr/>
          </p:nvSpPr>
          <p:spPr>
            <a:xfrm>
              <a:off x="6876256" y="2422629"/>
              <a:ext cx="292080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fraction of </a:t>
              </a:r>
              <a:r>
                <a:rPr lang="en-US" dirty="0" err="1"/>
                <a:t>Nyquist</a:t>
              </a:r>
              <a:r>
                <a:rPr lang="en-US" dirty="0"/>
                <a:t> frequency</a:t>
              </a: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7596336" y="2791961"/>
              <a:ext cx="740320" cy="4930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7896200" y="2942008"/>
            <a:ext cx="2237728" cy="718339"/>
            <a:chOff x="7775352" y="2422629"/>
            <a:chExt cx="2237728" cy="718339"/>
          </a:xfrm>
        </p:grpSpPr>
        <p:sp>
          <p:nvSpPr>
            <p:cNvPr id="16" name="TextBox 15"/>
            <p:cNvSpPr txBox="1"/>
            <p:nvPr/>
          </p:nvSpPr>
          <p:spPr>
            <a:xfrm>
              <a:off x="7775352" y="2422629"/>
              <a:ext cx="22377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minimum attenuation</a:t>
              </a: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8572920" y="2791961"/>
              <a:ext cx="321296" cy="34900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8350418" y="4155110"/>
            <a:ext cx="2165556" cy="369332"/>
            <a:chOff x="6550670" y="2483604"/>
            <a:chExt cx="2165556" cy="369332"/>
          </a:xfrm>
        </p:grpSpPr>
        <p:sp>
          <p:nvSpPr>
            <p:cNvPr id="21" name="TextBox 20"/>
            <p:cNvSpPr txBox="1"/>
            <p:nvPr/>
          </p:nvSpPr>
          <p:spPr>
            <a:xfrm>
              <a:off x="7320588" y="2483604"/>
              <a:ext cx="139563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IIR filter type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8502819" y="3588338"/>
            <a:ext cx="1872207" cy="369332"/>
            <a:chOff x="6550670" y="2483604"/>
            <a:chExt cx="1872207" cy="369332"/>
          </a:xfrm>
        </p:grpSpPr>
        <p:sp>
          <p:nvSpPr>
            <p:cNvPr id="28" name="TextBox 27"/>
            <p:cNvSpPr txBox="1"/>
            <p:nvPr/>
          </p:nvSpPr>
          <p:spPr>
            <a:xfrm>
              <a:off x="7320588" y="2483604"/>
              <a:ext cx="110228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filter type</a:t>
              </a:r>
            </a:p>
          </p:txBody>
        </p:sp>
        <p:cxnSp>
          <p:nvCxnSpPr>
            <p:cNvPr id="29" name="Straight Arrow Connector 28"/>
            <p:cNvCxnSpPr>
              <a:stCxn id="28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8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 signal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Apply filter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Write signal to WAV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350489"/>
            <a:ext cx="758468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base = np.uint8(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sp.signal.filtfilt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(b, a, 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base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=np.uint8)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6" y="4909486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wavfile.write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      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6179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Filtered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40</a:t>
            </a:fld>
            <a:endParaRPr lang="nl-BE"/>
          </a:p>
        </p:txBody>
      </p:sp>
      <p:pic>
        <p:nvPicPr>
          <p:cNvPr id="4098" name="Picture 2" descr="C:\Users\lucg5005\Desktop\blue_jay_filtered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68760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blue_jay_filtered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12143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578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Matplotlib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https://github.com/gjbex/Scientific-Python/tree/master/source-code/matplotlib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945177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some </a:t>
            </a:r>
            <a:r>
              <a:rPr lang="en-US" dirty="0" err="1"/>
              <a:t>matplotlib</a:t>
            </a:r>
            <a:r>
              <a:rPr lang="en-US" dirty="0"/>
              <a:t>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Rich Python plotting library</a:t>
            </a:r>
          </a:p>
          <a:p>
            <a:pPr lvl="1"/>
            <a:r>
              <a:rPr lang="en-US" dirty="0"/>
              <a:t>scatter plot</a:t>
            </a:r>
          </a:p>
          <a:p>
            <a:pPr lvl="1"/>
            <a:r>
              <a:rPr lang="en-US" dirty="0"/>
              <a:t>line plot</a:t>
            </a:r>
          </a:p>
          <a:p>
            <a:pPr lvl="1"/>
            <a:r>
              <a:rPr lang="en-US" dirty="0"/>
              <a:t>bar plot/histogram</a:t>
            </a:r>
          </a:p>
          <a:p>
            <a:pPr lvl="1"/>
            <a:r>
              <a:rPr lang="en-US" dirty="0" err="1"/>
              <a:t>heatmap</a:t>
            </a:r>
            <a:endParaRPr lang="en-US" dirty="0"/>
          </a:p>
          <a:p>
            <a:pPr lvl="1"/>
            <a:r>
              <a:rPr lang="en-US" dirty="0"/>
              <a:t>3D surface plot</a:t>
            </a:r>
          </a:p>
          <a:p>
            <a:r>
              <a:rPr lang="en-US" dirty="0"/>
              <a:t>Highly customizable plots</a:t>
            </a:r>
          </a:p>
          <a:p>
            <a:pPr lvl="1"/>
            <a:r>
              <a:rPr lang="en-US" dirty="0" err="1"/>
              <a:t>LaTeX</a:t>
            </a:r>
            <a:r>
              <a:rPr lang="en-US" dirty="0"/>
              <a:t> labels/annotation</a:t>
            </a:r>
          </a:p>
          <a:p>
            <a:r>
              <a:rPr lang="en-US" dirty="0"/>
              <a:t>Plot to screen, various file formats</a:t>
            </a:r>
            <a:endParaRPr lang="nl-BE" dirty="0"/>
          </a:p>
        </p:txBody>
      </p:sp>
      <p:sp>
        <p:nvSpPr>
          <p:cNvPr id="4" name="Rectangle 3"/>
          <p:cNvSpPr/>
          <p:nvPr/>
        </p:nvSpPr>
        <p:spPr>
          <a:xfrm>
            <a:off x="3976884" y="5915923"/>
            <a:ext cx="5647508" cy="36933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nl-BE" dirty="0" err="1">
                <a:cs typeface="Courier New" panose="02070309020205020404" pitchFamily="49" charset="0"/>
              </a:rPr>
              <a:t>Convention</a:t>
            </a:r>
            <a:r>
              <a:rPr lang="nl-BE" dirty="0">
                <a:cs typeface="Courier New" panose="02070309020205020404" pitchFamily="49" charset="0"/>
              </a:rPr>
              <a:t>: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384032" y="2564905"/>
            <a:ext cx="316835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Lots of features, this barely scratches the surface.</a:t>
            </a:r>
            <a:endParaRPr lang="nl-BE" sz="28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8655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Data: lists or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Create figure/axis, add plot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Show plot</a:t>
            </a:r>
          </a:p>
          <a:p>
            <a:endParaRPr lang="en-US" dirty="0"/>
          </a:p>
          <a:p>
            <a:r>
              <a:rPr lang="en-US" dirty="0"/>
              <a:t>Save 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1708819" y="2538461"/>
            <a:ext cx="52854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(0.0, 20.0, 500)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8819" y="3820590"/>
            <a:ext cx="4197927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figure, axis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77" t="6409" r="7990" b="5313"/>
          <a:stretch/>
        </p:blipFill>
        <p:spPr>
          <a:xfrm>
            <a:off x="6434578" y="3284984"/>
            <a:ext cx="4197927" cy="32419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08819" y="5102719"/>
            <a:ext cx="4197926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708818" y="6176963"/>
            <a:ext cx="4197925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figure.savefig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614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uiExpand="1" animBg="1"/>
      <p:bldP spid="8" grpId="0" uiExpand="1" animBg="1"/>
      <p:bldP spid="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labels, annotation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label for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  <a:r>
              <a:rPr lang="en-US" dirty="0"/>
              <a:t> axis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1769" y="2332361"/>
            <a:ext cx="5423279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axis.set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r'$t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$',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(t)$',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1770" y="4436523"/>
            <a:ext cx="54232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{d^2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}{dt^2} =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{g}{l}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\mu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}$')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axis.text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(10.0, 0.65,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=18)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7" t="6842" r="7674"/>
          <a:stretch/>
        </p:blipFill>
        <p:spPr>
          <a:xfrm>
            <a:off x="7446510" y="3479706"/>
            <a:ext cx="3718009" cy="2880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2567609" y="6089792"/>
            <a:ext cx="385131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LaTeX</a:t>
            </a:r>
            <a:r>
              <a:rPr lang="en-US" sz="2800" dirty="0"/>
              <a:t> notation, rendered</a:t>
            </a:r>
            <a:endParaRPr lang="nl-BE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7583078" y="2084656"/>
            <a:ext cx="290541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construct plot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gradually enrich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726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9" grpId="0" animBg="1"/>
      <p:bldP spid="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functions on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to plot, line style, color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359474" y="2432310"/>
            <a:ext cx="36311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9475" y="3995042"/>
            <a:ext cx="3631122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0" t="7955" r="8116" b="2295"/>
          <a:stretch/>
        </p:blipFill>
        <p:spPr>
          <a:xfrm>
            <a:off x="5990214" y="2064122"/>
            <a:ext cx="4642291" cy="349321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Group 13"/>
          <p:cNvGrpSpPr/>
          <p:nvPr/>
        </p:nvGrpSpPr>
        <p:grpSpPr>
          <a:xfrm>
            <a:off x="1285011" y="5332459"/>
            <a:ext cx="1985469" cy="1408222"/>
            <a:chOff x="611560" y="4725144"/>
            <a:chExt cx="1985469" cy="1408222"/>
          </a:xfrm>
        </p:grpSpPr>
        <p:sp>
          <p:nvSpPr>
            <p:cNvPr id="7" name="Oval 6"/>
            <p:cNvSpPr/>
            <p:nvPr/>
          </p:nvSpPr>
          <p:spPr>
            <a:xfrm>
              <a:off x="2123728" y="4725144"/>
              <a:ext cx="473301" cy="36004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11560" y="5733256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00"/>
                  </a:solidFill>
                </a:rPr>
                <a:t>line type</a:t>
              </a:r>
              <a:endParaRPr lang="nl-BE" sz="2000" dirty="0">
                <a:solidFill>
                  <a:srgbClr val="FF000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8" idx="3"/>
              <a:endCxn id="7" idx="3"/>
            </p:cNvCxnSpPr>
            <p:nvPr/>
          </p:nvCxnSpPr>
          <p:spPr>
            <a:xfrm flipV="1">
              <a:off x="1700320" y="5032457"/>
              <a:ext cx="492721" cy="90085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7015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line plot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2687782" y="1495176"/>
            <a:ext cx="6776376" cy="5246193"/>
            <a:chOff x="1163782" y="1495175"/>
            <a:chExt cx="6776376" cy="524619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1" t="7550" r="7834" b="1938"/>
            <a:stretch/>
          </p:blipFill>
          <p:spPr>
            <a:xfrm>
              <a:off x="1163782" y="1608796"/>
              <a:ext cx="6776376" cy="5132572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3635896" y="1495175"/>
              <a:ext cx="2808312" cy="2160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996223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Plot histogram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172347" y="2368807"/>
            <a:ext cx="4458272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('data.txt')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bins = 50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72347" y="3887558"/>
            <a:ext cx="4320413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axis.hist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bins,density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=True,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=0.6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axis.set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='$x$',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='$P(x)$',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6" t="6624" r="6619" b="2644"/>
          <a:stretch/>
        </p:blipFill>
        <p:spPr>
          <a:xfrm>
            <a:off x="6679801" y="3284984"/>
            <a:ext cx="4177147" cy="309794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/>
          <p:cNvGrpSpPr/>
          <p:nvPr/>
        </p:nvGrpSpPr>
        <p:grpSpPr>
          <a:xfrm>
            <a:off x="7248128" y="1484785"/>
            <a:ext cx="2808312" cy="1384995"/>
            <a:chOff x="6012160" y="1556792"/>
            <a:chExt cx="2808312" cy="1384995"/>
          </a:xfrm>
        </p:grpSpPr>
        <p:sp>
          <p:nvSpPr>
            <p:cNvPr id="7" name="TextBox 6"/>
            <p:cNvSpPr txBox="1"/>
            <p:nvPr/>
          </p:nvSpPr>
          <p:spPr>
            <a:xfrm>
              <a:off x="6012160" y="1556792"/>
              <a:ext cx="2808312" cy="13849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13.3146868758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9.66243828428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6.44936354431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2.81183151337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9.55644862073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984470" y="2594703"/>
              <a:ext cx="82561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data.txt</a:t>
              </a:r>
              <a:endParaRPr lang="nl-BE" sz="1600" dirty="0"/>
            </a:p>
          </p:txBody>
        </p: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1999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 plot on 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Reminder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422907" y="2353989"/>
            <a:ext cx="5561138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np.linspace(floor(np.min(values)),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ceil(np.max(values)),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200)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sp.stats.gamma.pdf(x, 2,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scale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=3.0)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y, linewidth=2.0,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color='black')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88347" y="4925499"/>
            <a:ext cx="5595698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4" t="7008" r="7813" b="1704"/>
          <a:stretch/>
        </p:blipFill>
        <p:spPr>
          <a:xfrm>
            <a:off x="7236811" y="2670920"/>
            <a:ext cx="4701696" cy="35857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1267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data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plot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71118"/>
            <a:ext cx="8655597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f(x, y, x0=0.0,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=0.5):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np.sqrt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- x0)**2 + y**2)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6610" y="3971813"/>
            <a:ext cx="865987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np.meshgrid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z = f(X, Y, x0=x0_1, freq=f_1) + f(X, Y, x0=x0_2, freq=f_2)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705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 map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57300"/>
            <a:ext cx="7215437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axis.imshow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46" t="6818" r="16761" b="3788"/>
          <a:stretch/>
        </p:blipFill>
        <p:spPr>
          <a:xfrm>
            <a:off x="7327043" y="3073198"/>
            <a:ext cx="3064311" cy="31037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279577" y="3861049"/>
            <a:ext cx="317984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Explore color maps,</a:t>
            </a:r>
            <a:br>
              <a:rPr lang="en-US" sz="2800" dirty="0"/>
            </a:br>
            <a:r>
              <a:rPr lang="en-US" sz="2800" dirty="0"/>
              <a:t>helps interpret data!</a:t>
            </a:r>
          </a:p>
          <a:p>
            <a:r>
              <a:rPr lang="en-US" sz="2800" dirty="0"/>
              <a:t>Brewer schemes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47523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1612868" y="2431633"/>
            <a:ext cx="8456161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subplot_kw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={'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projection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': '3d'})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axes.plot_surface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X, Y,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coolwarm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figure.colorbar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A949217-192E-FD38-D73F-EB1AA5DF4B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5539" y="3396366"/>
            <a:ext cx="3887378" cy="2915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331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A3B84-3E49-8908-D1BF-BBA5DCF52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plots I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28944B-797E-FD7B-0947-78EB3A95B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data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513796-161C-F585-4D6F-B9E7B3BF35AF}"/>
              </a:ext>
            </a:extLst>
          </p:cNvPr>
          <p:cNvSpPr txBox="1"/>
          <p:nvPr/>
        </p:nvSpPr>
        <p:spPr>
          <a:xfrm>
            <a:off x="838200" y="2367108"/>
            <a:ext cx="9696885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t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(0.0, 20.0*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1001)</a:t>
            </a:r>
          </a:p>
          <a:p>
            <a:r>
              <a:rPr lang="el-GR" dirty="0">
                <a:latin typeface="Courier New" panose="02070309020205020404" pitchFamily="49" charset="0"/>
                <a:cs typeface="Courier New" panose="02070309020205020404" pitchFamily="49" charset="0"/>
              </a:rPr>
              <a:t>μ_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np.array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([0.0, 0.1, 0.3])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np.stack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*t)*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el-GR" dirty="0">
                <a:latin typeface="Courier New" panose="02070309020205020404" pitchFamily="49" charset="0"/>
                <a:cs typeface="Courier New" panose="02070309020205020404" pitchFamily="49" charset="0"/>
              </a:rPr>
              <a:t>μ_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[:, None]*t),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*t)*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el-GR" dirty="0">
                <a:latin typeface="Courier New" panose="02070309020205020404" pitchFamily="49" charset="0"/>
                <a:cs typeface="Courier New" panose="02070309020205020404" pitchFamily="49" charset="0"/>
              </a:rPr>
              <a:t>μ_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[:, None]*t) + \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0.1*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+ 0.7)*t)*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el-GR" dirty="0">
                <a:latin typeface="Courier New" panose="02070309020205020404" pitchFamily="49" charset="0"/>
                <a:cs typeface="Courier New" panose="02070309020205020404" pitchFamily="49" charset="0"/>
              </a:rPr>
              <a:t>μ_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[:, None]*t),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4D7900B-D8ED-6C0B-3802-23D448CC23C5}"/>
              </a:ext>
            </a:extLst>
          </p:cNvPr>
          <p:cNvGrpSpPr/>
          <p:nvPr/>
        </p:nvGrpSpPr>
        <p:grpSpPr>
          <a:xfrm>
            <a:off x="758738" y="4211964"/>
            <a:ext cx="2541593" cy="1845947"/>
            <a:chOff x="6242712" y="2651240"/>
            <a:chExt cx="2541593" cy="184594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7073992-3D23-E58E-D9E6-38022B21DB88}"/>
                </a:ext>
              </a:extLst>
            </p:cNvPr>
            <p:cNvSpPr txBox="1"/>
            <p:nvPr/>
          </p:nvSpPr>
          <p:spPr>
            <a:xfrm>
              <a:off x="6242712" y="3296858"/>
              <a:ext cx="2541593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create 2 × 3 × 1001 array,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axis 0: functions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axis 1: </a:t>
              </a:r>
              <a:r>
                <a:rPr lang="en-US" dirty="0">
                  <a:sym typeface="Symbol" panose="05050102010706020507" pitchFamily="18" charset="2"/>
                </a:rPr>
                <a:t></a:t>
              </a:r>
              <a:r>
                <a:rPr lang="en-US" dirty="0"/>
                <a:t> values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axis 2: time values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34F1159-F349-356B-A7CF-218A7F562DAE}"/>
                </a:ext>
              </a:extLst>
            </p:cNvPr>
            <p:cNvCxnSpPr>
              <a:cxnSpLocks/>
              <a:stCxn id="9" idx="0"/>
            </p:cNvCxnSpPr>
            <p:nvPr/>
          </p:nvCxnSpPr>
          <p:spPr>
            <a:xfrm flipH="1" flipV="1">
              <a:off x="6728818" y="2651240"/>
              <a:ext cx="784691" cy="64561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9C48E66-9795-0E7D-2885-DEEA914CB9DA}"/>
              </a:ext>
            </a:extLst>
          </p:cNvPr>
          <p:cNvGrpSpPr/>
          <p:nvPr/>
        </p:nvGrpSpPr>
        <p:grpSpPr>
          <a:xfrm>
            <a:off x="8130713" y="4190163"/>
            <a:ext cx="1937966" cy="1314107"/>
            <a:chOff x="6242712" y="2352083"/>
            <a:chExt cx="1937966" cy="1314107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5CA557A-9583-16CE-6E83-F2DB71BCAB4D}"/>
                </a:ext>
              </a:extLst>
            </p:cNvPr>
            <p:cNvSpPr txBox="1"/>
            <p:nvPr/>
          </p:nvSpPr>
          <p:spPr>
            <a:xfrm>
              <a:off x="6242712" y="3296858"/>
              <a:ext cx="1937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broadcast </a:t>
              </a:r>
              <a:r>
                <a:rPr lang="en-US" dirty="0">
                  <a:sym typeface="Symbol" panose="05050102010706020507" pitchFamily="18" charset="2"/>
                </a:rPr>
                <a:t></a:t>
              </a:r>
              <a:r>
                <a:rPr lang="en-US" dirty="0"/>
                <a:t> values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24635655-6937-6EF9-E96A-C9950EA7A51A}"/>
                </a:ext>
              </a:extLst>
            </p:cNvPr>
            <p:cNvCxnSpPr>
              <a:cxnSpLocks/>
              <a:stCxn id="13" idx="0"/>
            </p:cNvCxnSpPr>
            <p:nvPr/>
          </p:nvCxnSpPr>
          <p:spPr>
            <a:xfrm flipV="1">
              <a:off x="7211695" y="2352083"/>
              <a:ext cx="727592" cy="9447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20961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674C7-E054-2306-1C82-F84C7A083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plots II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A455FB-2BEC-8B36-7229-54A622833D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 data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A30DC8-996B-77AD-8665-6E3BD03EB0D2}"/>
              </a:ext>
            </a:extLst>
          </p:cNvPr>
          <p:cNvSpPr txBox="1"/>
          <p:nvPr/>
        </p:nvSpPr>
        <p:spPr>
          <a:xfrm>
            <a:off x="1262238" y="2350597"/>
            <a:ext cx="4871847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nrows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=2,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ncols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=3,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=(10, 3),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layout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constrained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np.ndindex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axes.shape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].plot(t, Y[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13D5B3-2FF0-7521-CF28-5D18B3763D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2426" y="4508324"/>
            <a:ext cx="7251569" cy="2175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940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ColorBrewer</a:t>
            </a:r>
            <a:r>
              <a:rPr lang="en-US" dirty="0"/>
              <a:t> 2.0: advice on choosing appropriate color maps</a:t>
            </a:r>
            <a:br>
              <a:rPr lang="en-US" sz="2400" dirty="0"/>
            </a:br>
            <a:r>
              <a:rPr lang="en-US" dirty="0">
                <a:hlinkClick r:id="rId2"/>
              </a:rPr>
              <a:t>http://colorbrewer2.org/</a:t>
            </a:r>
            <a:r>
              <a:rPr lang="en-US" dirty="0"/>
              <a:t>  </a:t>
            </a:r>
          </a:p>
          <a:p>
            <a:r>
              <a:rPr lang="en-US" dirty="0" err="1"/>
              <a:t>Coblis</a:t>
            </a:r>
            <a:r>
              <a:rPr lang="en-US" dirty="0"/>
              <a:t>: color blindness simulator</a:t>
            </a:r>
            <a:br>
              <a:rPr lang="en-US" sz="2400" dirty="0"/>
            </a:br>
            <a:r>
              <a:rPr lang="en-US" sz="2400" dirty="0">
                <a:hlinkClick r:id="rId3"/>
              </a:rPr>
              <a:t>https://www.color-blindness.com/coblis-color-blindness-simulator/</a:t>
            </a:r>
            <a:r>
              <a:rPr lang="en-US" sz="2400" dirty="0"/>
              <a:t> </a:t>
            </a:r>
          </a:p>
          <a:p>
            <a:r>
              <a:rPr lang="en-US" dirty="0"/>
              <a:t>Overview of data visualization types &amp; libraries for Python</a:t>
            </a:r>
            <a:br>
              <a:rPr lang="en-US" dirty="0"/>
            </a:br>
            <a:r>
              <a:rPr lang="en-US" dirty="0">
                <a:hlinkClick r:id="rId4"/>
              </a:rPr>
              <a:t>https://python-graph-gallery.com/</a:t>
            </a:r>
            <a:r>
              <a:rPr lang="en-US" dirty="0"/>
              <a:t>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3741100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https://github.com/gjbex/Scientific-Python/tree/master/source-code/sympy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856257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sympy</a:t>
            </a:r>
            <a:r>
              <a:rPr lang="en-US" dirty="0"/>
              <a:t>: library for computer algebra</a:t>
            </a:r>
          </a:p>
          <a:p>
            <a:pPr lvl="1"/>
            <a:r>
              <a:rPr lang="en-US" dirty="0"/>
              <a:t>symbolic computations</a:t>
            </a:r>
          </a:p>
          <a:p>
            <a:r>
              <a:rPr lang="en-US" dirty="0"/>
              <a:t>Features</a:t>
            </a:r>
          </a:p>
          <a:p>
            <a:pPr lvl="1"/>
            <a:r>
              <a:rPr lang="en-US" dirty="0"/>
              <a:t>linear algebra</a:t>
            </a:r>
          </a:p>
          <a:p>
            <a:pPr lvl="2"/>
            <a:r>
              <a:rPr lang="en-US" dirty="0"/>
              <a:t>vectors, matrices, tensors</a:t>
            </a:r>
          </a:p>
          <a:p>
            <a:pPr lvl="2"/>
            <a:r>
              <a:rPr lang="en-US" dirty="0"/>
              <a:t>solving linear sets of equations</a:t>
            </a:r>
          </a:p>
          <a:p>
            <a:pPr lvl="2"/>
            <a:r>
              <a:rPr lang="en-US" dirty="0"/>
              <a:t>eigenvalues/eigenvectors, SVD</a:t>
            </a:r>
          </a:p>
          <a:p>
            <a:pPr lvl="2"/>
            <a:r>
              <a:rPr lang="en-US" dirty="0"/>
              <a:t>…</a:t>
            </a:r>
          </a:p>
          <a:p>
            <a:pPr lvl="1"/>
            <a:r>
              <a:rPr lang="en-US" dirty="0"/>
              <a:t>calculus</a:t>
            </a:r>
          </a:p>
          <a:p>
            <a:pPr lvl="2"/>
            <a:r>
              <a:rPr lang="en-US" dirty="0"/>
              <a:t>computing derivatives, series expansions</a:t>
            </a:r>
          </a:p>
          <a:p>
            <a:pPr lvl="2"/>
            <a:r>
              <a:rPr lang="en-US" dirty="0"/>
              <a:t>limits</a:t>
            </a:r>
          </a:p>
          <a:p>
            <a:pPr lvl="2"/>
            <a:r>
              <a:rPr lang="en-US" dirty="0"/>
              <a:t>integrals (indeterminate/determinate)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78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symbols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Defining multiple symbols</a:t>
            </a:r>
          </a:p>
          <a:p>
            <a:endParaRPr lang="en-US" dirty="0"/>
          </a:p>
          <a:p>
            <a:r>
              <a:rPr lang="en-US" dirty="0"/>
              <a:t>Symbol with assumptions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real</a:t>
            </a:r>
          </a:p>
          <a:p>
            <a:pPr lvl="1"/>
            <a:r>
              <a:rPr lang="en-US" dirty="0"/>
              <a:t>rational</a:t>
            </a:r>
          </a:p>
          <a:p>
            <a:pPr lvl="1"/>
            <a:r>
              <a:rPr lang="en-US" dirty="0"/>
              <a:t>integer</a:t>
            </a:r>
          </a:p>
          <a:p>
            <a:pPr lvl="1"/>
            <a:r>
              <a:rPr lang="en-US" dirty="0"/>
              <a:t>positive/negative</a:t>
            </a:r>
          </a:p>
          <a:p>
            <a:r>
              <a:rPr lang="en-US" dirty="0"/>
              <a:t>Matrices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650830" y="232481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a, b, c, x = sympy.symbols('a b c x')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0830" y="1411050"/>
            <a:ext cx="187220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sympy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50830" y="3293091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sympy.Symbol('y', positive=True)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830" y="5787705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sympy.Matrix([[x**2, x*y], [-x*y, y**2]])</a:t>
            </a:r>
          </a:p>
        </p:txBody>
      </p:sp>
    </p:spTree>
    <p:extLst>
      <p:ext uri="{BB962C8B-B14F-4D97-AF65-F5344CB8AC3E}">
        <p14:creationId xmlns:p14="http://schemas.microsoft.com/office/powerpoint/2010/main" val="2352574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equations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Solve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58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3359697" y="1529673"/>
          <a:ext cx="2808311" cy="5835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77760" imgH="203040" progId="Equation.3">
                  <p:embed/>
                </p:oleObj>
              </mc:Choice>
              <mc:Fallback>
                <p:oleObj name="Equation" r:id="rId2" imgW="977760" imgH="203040" progId="Equation.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59697" y="1529673"/>
                        <a:ext cx="2808311" cy="5835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396640" y="233958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sympy.solve(a*x**2 + b*x + c, x)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287688" y="2854678"/>
            <a:ext cx="6048672" cy="646331"/>
            <a:chOff x="1763688" y="2967335"/>
            <a:chExt cx="6048672" cy="646331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3" y="2967335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[ (-b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b**2))/(2*a),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-(b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 ]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503712" y="3907866"/>
          <a:ext cx="1531938" cy="509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33160" imgH="177480" progId="Equation.3">
                  <p:embed/>
                </p:oleObj>
              </mc:Choice>
              <mc:Fallback>
                <p:oleObj name="Equation" r:id="rId4" imgW="533160" imgH="177480" progId="Equation.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503712" y="3907866"/>
                        <a:ext cx="1531938" cy="509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396639" y="4604936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sympy.Matrix([[a, b], [c, d]])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sympy.Matrix([x, y])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B = sympy.Matrix([1, 0])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 - B, X)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300055" y="5985560"/>
            <a:ext cx="6036304" cy="646331"/>
            <a:chOff x="1776055" y="5985559"/>
            <a:chExt cx="6036304" cy="646331"/>
          </a:xfrm>
          <a:solidFill>
            <a:schemeClr val="bg1">
              <a:lumMod val="85000"/>
            </a:schemeClr>
          </a:solidFill>
        </p:grpSpPr>
        <p:sp>
          <p:nvSpPr>
            <p:cNvPr id="13" name="TextBox 12"/>
            <p:cNvSpPr txBox="1"/>
            <p:nvPr/>
          </p:nvSpPr>
          <p:spPr>
            <a:xfrm>
              <a:off x="2371642" y="5985559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{ x:  d/(a*d - b*c),</a:t>
              </a:r>
            </a:p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y: -c/(a*d - b*c) }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1776055" y="6301843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15543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Eigenvalues, eigenvectors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39588"/>
            <a:ext cx="780789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eigen = A.eigenvects()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402904" y="2986785"/>
            <a:ext cx="7807896" cy="1384995"/>
            <a:chOff x="1763688" y="2967335"/>
            <a:chExt cx="8229600" cy="1384995"/>
          </a:xfrm>
          <a:solidFill>
            <a:schemeClr val="bg1">
              <a:lumMod val="85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2371643" y="2967335"/>
              <a:ext cx="7621645" cy="138499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[(a/2 +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(a/2 +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1]])])]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8400256" y="1402360"/>
            <a:ext cx="1593070" cy="1900476"/>
            <a:chOff x="8460432" y="3122171"/>
            <a:chExt cx="1593070" cy="1900476"/>
          </a:xfrm>
        </p:grpSpPr>
        <p:sp>
          <p:nvSpPr>
            <p:cNvPr id="9" name="Oval 8"/>
            <p:cNvSpPr/>
            <p:nvPr/>
          </p:nvSpPr>
          <p:spPr>
            <a:xfrm>
              <a:off x="8460432" y="4659089"/>
              <a:ext cx="360040" cy="363558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820472" y="3122171"/>
              <a:ext cx="1233030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multiplicity</a:t>
              </a:r>
            </a:p>
          </p:txBody>
        </p:sp>
        <p:cxnSp>
          <p:nvCxnSpPr>
            <p:cNvPr id="12" name="Straight Arrow Connector 11"/>
            <p:cNvCxnSpPr>
              <a:stCxn id="10" idx="2"/>
              <a:endCxn id="9" idx="0"/>
            </p:cNvCxnSpPr>
            <p:nvPr/>
          </p:nvCxnSpPr>
          <p:spPr>
            <a:xfrm flipH="1">
              <a:off x="8640452" y="3491503"/>
              <a:ext cx="796535" cy="116758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>
            <a:off x="2396640" y="4577818"/>
            <a:ext cx="78078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v1, v2 = eigen[0][2][0], eigen[1][2][0]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sympy.simplify(v1.T*v2)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2396640" y="5517233"/>
            <a:ext cx="780789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23" name="TextBox 22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Matrix([[(-b + c)/c]])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3791744" y="6021288"/>
            <a:ext cx="446609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 is symmetric, eigenvectors are orthogonal</a:t>
            </a:r>
          </a:p>
        </p:txBody>
      </p:sp>
    </p:spTree>
    <p:extLst>
      <p:ext uri="{BB962C8B-B14F-4D97-AF65-F5344CB8AC3E}">
        <p14:creationId xmlns:p14="http://schemas.microsoft.com/office/powerpoint/2010/main" val="3455012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Derivatives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60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409635" y="2352591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def f(x, y):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a*x**2 + b*x*y + c*y**2 +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006" y="3857176"/>
            <a:ext cx="697234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96640" y="4431500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2*a*x + b*y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2415122" y="5419132"/>
            <a:ext cx="69342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x, y)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434755" y="6018373"/>
            <a:ext cx="692008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150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4" grpId="0" animBg="1"/>
      <p:bldP spid="5" grpId="0" animBg="1"/>
      <p:bldP spid="1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Indefinite integral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Definite integral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integrals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5" y="227777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x)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830807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a*x**3/3 + b*x**2*y/2 + x*(c*y**2 + d)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5" y="3826651"/>
            <a:ext cx="693972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exp, sqrt, pi, oo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sympy.integrate(exp(-x**2/2)/sqrt(2*pi),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(x, -oo, oo))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932544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2424668" y="583465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(x, 0, 1), (y, 0, 2))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411673" y="6387683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2*a/3 + b + 8*c/3 + 2*d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707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and series expansion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Limit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/>
              <a:t>Series expansion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6" y="2227900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sympy.limit(sin(x)/x, x, 0)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780929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6" y="3984711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sympy.series(sin(x)/x, x, 0, n=6)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537740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1 - x**2/6 + x**4/120 + O(x**6)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3071665" y="54452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9" name="Group 18"/>
          <p:cNvGrpSpPr/>
          <p:nvPr/>
        </p:nvGrpSpPr>
        <p:grpSpPr>
          <a:xfrm>
            <a:off x="5519937" y="4476185"/>
            <a:ext cx="3245843" cy="1219565"/>
            <a:chOff x="3995936" y="4476184"/>
            <a:chExt cx="3245843" cy="1219565"/>
          </a:xfrm>
        </p:grpSpPr>
        <p:sp>
          <p:nvSpPr>
            <p:cNvPr id="14" name="TextBox 13"/>
            <p:cNvSpPr txBox="1"/>
            <p:nvPr/>
          </p:nvSpPr>
          <p:spPr>
            <a:xfrm>
              <a:off x="5220072" y="5049418"/>
              <a:ext cx="2021707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removeO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when not required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4" idx="1"/>
              <a:endCxn id="15" idx="5"/>
            </p:cNvCxnSpPr>
            <p:nvPr/>
          </p:nvCxnSpPr>
          <p:spPr>
            <a:xfrm flipH="1" flipV="1">
              <a:off x="4672025" y="4852390"/>
              <a:ext cx="548047" cy="520194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295406" y="4476185"/>
            <a:ext cx="3302106" cy="1588503"/>
            <a:chOff x="3995936" y="4476184"/>
            <a:chExt cx="3302106" cy="1588503"/>
          </a:xfrm>
        </p:grpSpPr>
        <p:sp>
          <p:nvSpPr>
            <p:cNvPr id="21" name="TextBox 20"/>
            <p:cNvSpPr txBox="1"/>
            <p:nvPr/>
          </p:nvSpPr>
          <p:spPr>
            <a:xfrm>
              <a:off x="4492274" y="5418356"/>
              <a:ext cx="280576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taylor_term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to get term of specific order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/>
            <p:cNvCxnSpPr>
              <a:stCxn id="21" idx="0"/>
              <a:endCxn id="22" idx="5"/>
            </p:cNvCxnSpPr>
            <p:nvPr/>
          </p:nvCxnSpPr>
          <p:spPr>
            <a:xfrm flipH="1" flipV="1">
              <a:off x="4672025" y="4852390"/>
              <a:ext cx="1223133" cy="565966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815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representation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r>
              <a:rPr lang="en-US" dirty="0"/>
              <a:t> expression =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34820" y="2390000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Add, Mul, Pow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Add(Mul(a, Pow(x, 2)), Mul(b, x), c)</a:t>
            </a: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7760962" y="1878459"/>
          <a:ext cx="2152650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49160" imgH="203040" progId="Equation.3">
                  <p:embed/>
                </p:oleObj>
              </mc:Choice>
              <mc:Fallback>
                <p:oleObj name="Equation" r:id="rId2" imgW="749160" imgH="203040" progId="Equation.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760962" y="1878459"/>
                        <a:ext cx="2152650" cy="5842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6" name="Group 35"/>
          <p:cNvGrpSpPr/>
          <p:nvPr/>
        </p:nvGrpSpPr>
        <p:grpSpPr>
          <a:xfrm>
            <a:off x="1919537" y="3342333"/>
            <a:ext cx="7003221" cy="2658258"/>
            <a:chOff x="395536" y="3342333"/>
            <a:chExt cx="7003221" cy="2658258"/>
          </a:xfrm>
        </p:grpSpPr>
        <p:sp>
          <p:nvSpPr>
            <p:cNvPr id="7" name="TextBox 6"/>
            <p:cNvSpPr txBox="1"/>
            <p:nvPr/>
          </p:nvSpPr>
          <p:spPr>
            <a:xfrm>
              <a:off x="3913710" y="3342333"/>
              <a:ext cx="56137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39678" y="4222585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18519" y="4186224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992787" y="4926922"/>
              <a:ext cx="58471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Pow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184578" y="4187487"/>
              <a:ext cx="12141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Symbol('c')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460771" y="4931876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901388" y="4926922"/>
              <a:ext cx="123822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Symbol('b')</a:t>
              </a:r>
              <a:endParaRPr lang="en-US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95536" y="4926922"/>
              <a:ext cx="122700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Symbol('a')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31787" y="5631259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471313" y="5631259"/>
              <a:ext cx="1112677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Integer(2)</a:t>
              </a:r>
            </a:p>
          </p:txBody>
        </p:sp>
        <p:cxnSp>
          <p:nvCxnSpPr>
            <p:cNvPr id="19" name="Straight Connector 18"/>
            <p:cNvCxnSpPr>
              <a:stCxn id="7" idx="2"/>
              <a:endCxn id="10" idx="0"/>
            </p:cNvCxnSpPr>
            <p:nvPr/>
          </p:nvCxnSpPr>
          <p:spPr>
            <a:xfrm>
              <a:off x="4194396" y="3711665"/>
              <a:ext cx="2405" cy="4745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7" idx="2"/>
              <a:endCxn id="9" idx="0"/>
            </p:cNvCxnSpPr>
            <p:nvPr/>
          </p:nvCxnSpPr>
          <p:spPr>
            <a:xfrm flipH="1">
              <a:off x="1817960" y="3711665"/>
              <a:ext cx="2376436" cy="5109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stCxn id="7" idx="2"/>
              <a:endCxn id="12" idx="0"/>
            </p:cNvCxnSpPr>
            <p:nvPr/>
          </p:nvCxnSpPr>
          <p:spPr>
            <a:xfrm>
              <a:off x="4194396" y="3711665"/>
              <a:ext cx="2597272" cy="4758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>
              <a:stCxn id="10" idx="2"/>
              <a:endCxn id="13" idx="0"/>
            </p:cNvCxnSpPr>
            <p:nvPr/>
          </p:nvCxnSpPr>
          <p:spPr>
            <a:xfrm>
              <a:off x="4196801" y="4555556"/>
              <a:ext cx="871861" cy="3763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10" idx="2"/>
              <a:endCxn id="14" idx="0"/>
            </p:cNvCxnSpPr>
            <p:nvPr/>
          </p:nvCxnSpPr>
          <p:spPr>
            <a:xfrm flipH="1">
              <a:off x="3520500" y="4555556"/>
              <a:ext cx="676301" cy="3713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>
              <a:stCxn id="9" idx="2"/>
              <a:endCxn id="11" idx="0"/>
            </p:cNvCxnSpPr>
            <p:nvPr/>
          </p:nvCxnSpPr>
          <p:spPr>
            <a:xfrm>
              <a:off x="1817960" y="4591917"/>
              <a:ext cx="467183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>
              <a:stCxn id="9" idx="2"/>
              <a:endCxn id="15" idx="0"/>
            </p:cNvCxnSpPr>
            <p:nvPr/>
          </p:nvCxnSpPr>
          <p:spPr>
            <a:xfrm flipH="1">
              <a:off x="1009038" y="4591917"/>
              <a:ext cx="808922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>
              <a:stCxn id="11" idx="2"/>
              <a:endCxn id="17" idx="0"/>
            </p:cNvCxnSpPr>
            <p:nvPr/>
          </p:nvCxnSpPr>
          <p:spPr>
            <a:xfrm>
              <a:off x="2285143" y="5296254"/>
              <a:ext cx="742509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>
              <a:stCxn id="11" idx="2"/>
              <a:endCxn id="16" idx="0"/>
            </p:cNvCxnSpPr>
            <p:nvPr/>
          </p:nvCxnSpPr>
          <p:spPr>
            <a:xfrm flipH="1">
              <a:off x="1539678" y="5296254"/>
              <a:ext cx="745465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8354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Parts of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Taking expression apart</a:t>
            </a:r>
          </a:p>
          <a:p>
            <a:endParaRPr lang="en-US" dirty="0"/>
          </a:p>
          <a:p>
            <a:r>
              <a:rPr lang="en-US" dirty="0"/>
              <a:t>Operator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Operands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19343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1/(a*x + 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1447" y="1751202"/>
            <a:ext cx="58471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3137" y="3943253"/>
            <a:ext cx="12157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Symbol('x')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5192" y="3946226"/>
            <a:ext cx="12270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Symbol('a')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9973" y="2455539"/>
            <a:ext cx="118320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Integer(-1)</a:t>
            </a:r>
          </a:p>
        </p:txBody>
      </p:sp>
      <p:cxnSp>
        <p:nvCxnSpPr>
          <p:cNvPr id="20" name="Straight Connector 19"/>
          <p:cNvCxnSpPr>
            <a:stCxn id="29" idx="2"/>
            <a:endCxn id="12" idx="0"/>
          </p:cNvCxnSpPr>
          <p:nvPr/>
        </p:nvCxnSpPr>
        <p:spPr>
          <a:xfrm>
            <a:off x="9304856" y="3563439"/>
            <a:ext cx="886172" cy="3798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26" idx="2"/>
            <a:endCxn id="28" idx="0"/>
          </p:cNvCxnSpPr>
          <p:nvPr/>
        </p:nvCxnSpPr>
        <p:spPr>
          <a:xfrm flipH="1">
            <a:off x="7118810" y="2841283"/>
            <a:ext cx="1107123" cy="3468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26" idx="2"/>
            <a:endCxn id="29" idx="0"/>
          </p:cNvCxnSpPr>
          <p:nvPr/>
        </p:nvCxnSpPr>
        <p:spPr>
          <a:xfrm>
            <a:off x="8225933" y="2841283"/>
            <a:ext cx="1078923" cy="3528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29" idx="2"/>
            <a:endCxn id="14" idx="0"/>
          </p:cNvCxnSpPr>
          <p:nvPr/>
        </p:nvCxnSpPr>
        <p:spPr>
          <a:xfrm flipH="1">
            <a:off x="8548694" y="3563439"/>
            <a:ext cx="756162" cy="3827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6" idx="0"/>
          </p:cNvCxnSpPr>
          <p:nvPr/>
        </p:nvCxnSpPr>
        <p:spPr>
          <a:xfrm>
            <a:off x="8973803" y="2120534"/>
            <a:ext cx="777775" cy="3350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26" idx="0"/>
          </p:cNvCxnSpPr>
          <p:nvPr/>
        </p:nvCxnSpPr>
        <p:spPr>
          <a:xfrm flipH="1">
            <a:off x="8225933" y="2120534"/>
            <a:ext cx="747870" cy="3514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45247" y="2471951"/>
            <a:ext cx="5613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9698" y="3188136"/>
            <a:ext cx="12382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Symbol('b')</a:t>
            </a:r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>
            <a:off x="9026574" y="3194107"/>
            <a:ext cx="5565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Mul</a:t>
            </a:r>
            <a:endParaRPr lang="en-US" dirty="0"/>
          </a:p>
        </p:txBody>
      </p:sp>
      <p:sp>
        <p:nvSpPr>
          <p:cNvPr id="37" name="TextBox 36"/>
          <p:cNvSpPr txBox="1"/>
          <p:nvPr/>
        </p:nvSpPr>
        <p:spPr>
          <a:xfrm>
            <a:off x="2396640" y="3279708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expr.func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063552" y="3770343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39" name="TextBox 3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sympy.core.power.Pow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0" name="Straight Arrow Connector 3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/>
          <p:cNvSpPr txBox="1"/>
          <p:nvPr/>
        </p:nvSpPr>
        <p:spPr>
          <a:xfrm>
            <a:off x="239664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206355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4" name="TextBox 43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(a*x + b, -1)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5" name="Straight Arrow Connector 44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62828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expr.args[0].args[0]</a:t>
            </a:r>
          </a:p>
        </p:txBody>
      </p:sp>
      <p:grpSp>
        <p:nvGrpSpPr>
          <p:cNvPr id="47" name="Group 46"/>
          <p:cNvGrpSpPr/>
          <p:nvPr/>
        </p:nvGrpSpPr>
        <p:grpSpPr>
          <a:xfrm>
            <a:off x="629519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8" name="TextBox 47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49" name="Straight Arrow Connector 48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06433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37" grpId="0" animBg="1"/>
      <p:bldP spid="42" grpId="0" animBg="1"/>
      <p:bldP spid="46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manipulation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Substitution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Factor, expand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Simplify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02718"/>
            <a:ext cx="45634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x**2 + 2*a*x + y**2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expr.subs(y, a)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63552" y="3068961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a**2 + 2*a*x + x**2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1794987" y="3862857"/>
            <a:ext cx="43474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(x**2 + 2*x*y + y**2).factor()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10602" y="4389625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(x + y)**2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6509816" y="3862857"/>
            <a:ext cx="397867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+ y)**2).expand()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6805736" y="4384546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x**2 + 2*x*y + y**2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1794987" y="5418223"/>
            <a:ext cx="516510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symbols('x y', positive=True)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(log(x) + log(y)).simplify()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2210602" y="614149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9" name="TextBox 1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log(x*y)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002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  <p:bldP spid="1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hlinkClick r:id="rId2"/>
              </a:rPr>
              <a:t>Sympy</a:t>
            </a:r>
            <a:r>
              <a:rPr lang="en-US" dirty="0">
                <a:hlinkClick r:id="rId2"/>
              </a:rPr>
              <a:t>: symbolic computing in Python</a:t>
            </a:r>
            <a:br>
              <a:rPr lang="en-US" dirty="0"/>
            </a:br>
            <a:r>
              <a:rPr lang="en-US" dirty="0"/>
              <a:t>A. </a:t>
            </a:r>
            <a:r>
              <a:rPr lang="en-US" dirty="0" err="1"/>
              <a:t>Muerer</a:t>
            </a:r>
            <a:r>
              <a:rPr lang="en-US" dirty="0"/>
              <a:t>, C.P. Smith, M. </a:t>
            </a:r>
            <a:r>
              <a:rPr lang="en-US" dirty="0" err="1"/>
              <a:t>Paprocki</a:t>
            </a:r>
            <a:r>
              <a:rPr lang="en-US" dirty="0"/>
              <a:t> et al.</a:t>
            </a:r>
            <a:br>
              <a:rPr lang="en-US" dirty="0"/>
            </a:br>
            <a:r>
              <a:rPr lang="en-US" dirty="0" err="1"/>
              <a:t>PeerJ.CompSci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057541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h5py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800" dirty="0">
                <a:hlinkClick r:id="rId2"/>
              </a:rPr>
              <a:t>https://github.com/gjbex/Scientific-Python/tree/master/source-code/hdf5</a:t>
            </a:r>
            <a:r>
              <a:rPr lang="nl-BE" sz="1800" dirty="0"/>
              <a:t>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309620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H</a:t>
            </a:r>
            <a:r>
              <a:rPr lang="en-US" dirty="0"/>
              <a:t>ierarchical </a:t>
            </a:r>
            <a:r>
              <a:rPr lang="en-US" sz="4000" b="1" dirty="0"/>
              <a:t>D</a:t>
            </a:r>
            <a:r>
              <a:rPr lang="en-US" dirty="0"/>
              <a:t>ata </a:t>
            </a:r>
            <a:r>
              <a:rPr lang="en-US" sz="4000" b="1" dirty="0"/>
              <a:t>F</a:t>
            </a:r>
            <a:r>
              <a:rPr lang="en-US" dirty="0"/>
              <a:t>ormat</a:t>
            </a:r>
          </a:p>
          <a:p>
            <a:r>
              <a:rPr lang="en-US" dirty="0"/>
              <a:t>Abstract data model</a:t>
            </a:r>
          </a:p>
          <a:p>
            <a:pPr lvl="1"/>
            <a:r>
              <a:rPr lang="en-US" dirty="0"/>
              <a:t>File</a:t>
            </a:r>
          </a:p>
          <a:p>
            <a:pPr lvl="1"/>
            <a:r>
              <a:rPr lang="en-US" dirty="0"/>
              <a:t>Group</a:t>
            </a:r>
          </a:p>
          <a:p>
            <a:pPr lvl="1"/>
            <a:r>
              <a:rPr lang="en-US" dirty="0"/>
              <a:t>Dataset</a:t>
            </a:r>
          </a:p>
          <a:p>
            <a:pPr lvl="1"/>
            <a:r>
              <a:rPr lang="en-US" dirty="0"/>
              <a:t>Data type</a:t>
            </a:r>
          </a:p>
          <a:p>
            <a:pPr lvl="1"/>
            <a:r>
              <a:rPr lang="en-US" dirty="0"/>
              <a:t>Attribute</a:t>
            </a:r>
          </a:p>
          <a:p>
            <a:r>
              <a:rPr lang="en-US" dirty="0"/>
              <a:t>Storage model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pSp>
        <p:nvGrpSpPr>
          <p:cNvPr id="16" name="Group 15"/>
          <p:cNvGrpSpPr/>
          <p:nvPr/>
        </p:nvGrpSpPr>
        <p:grpSpPr>
          <a:xfrm>
            <a:off x="5463730" y="2829836"/>
            <a:ext cx="1715741" cy="2130549"/>
            <a:chOff x="3939729" y="2888024"/>
            <a:chExt cx="1715741" cy="2130549"/>
          </a:xfrm>
        </p:grpSpPr>
        <p:sp>
          <p:nvSpPr>
            <p:cNvPr id="8" name="TextBox 7"/>
            <p:cNvSpPr txBox="1"/>
            <p:nvPr/>
          </p:nvSpPr>
          <p:spPr>
            <a:xfrm>
              <a:off x="3939729" y="2888024"/>
              <a:ext cx="17138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r>
                <a:rPr lang="en-US" sz="2800" dirty="0"/>
                <a:t> system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939729" y="3325576"/>
              <a:ext cx="134126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Directory</a:t>
              </a:r>
              <a:endParaRPr lang="en-US" sz="28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39729" y="3747069"/>
              <a:ext cx="6206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endParaRPr lang="en-US" sz="2800" dirty="0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3939729" y="4298493"/>
              <a:ext cx="1715741" cy="720080"/>
              <a:chOff x="4067944" y="4298493"/>
              <a:chExt cx="1715741" cy="720080"/>
            </a:xfrm>
          </p:grpSpPr>
          <p:sp>
            <p:nvSpPr>
              <p:cNvPr id="11" name="Right Brace 10"/>
              <p:cNvSpPr/>
              <p:nvPr/>
            </p:nvSpPr>
            <p:spPr>
              <a:xfrm>
                <a:off x="4067944" y="4298493"/>
                <a:ext cx="216024" cy="720080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4384841" y="4387693"/>
                <a:ext cx="1398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Metadata</a:t>
                </a:r>
                <a:endParaRPr lang="en-US" sz="2800" dirty="0"/>
              </a:p>
            </p:txBody>
          </p:sp>
        </p:grpSp>
      </p:grpSp>
      <p:sp>
        <p:nvSpPr>
          <p:cNvPr id="14" name="TextBox 13"/>
          <p:cNvSpPr txBox="1"/>
          <p:nvPr/>
        </p:nvSpPr>
        <p:spPr>
          <a:xfrm>
            <a:off x="7381193" y="1246550"/>
            <a:ext cx="306911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System, OS,</a:t>
            </a:r>
            <a:br>
              <a:rPr lang="en-US" sz="2400" dirty="0"/>
            </a:br>
            <a:r>
              <a:rPr lang="en-US" sz="2400" dirty="0"/>
              <a:t>programming language</a:t>
            </a:r>
            <a:br>
              <a:rPr lang="en-US" sz="2400" dirty="0"/>
            </a:br>
            <a:r>
              <a:rPr lang="en-US" sz="2400" dirty="0"/>
              <a:t>independent way of</a:t>
            </a:r>
            <a:br>
              <a:rPr lang="en-US" sz="2400" dirty="0"/>
            </a:br>
            <a:r>
              <a:rPr lang="en-US" sz="2400" dirty="0"/>
              <a:t>storing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3936" y="5320090"/>
            <a:ext cx="405636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Documentation, comments</a:t>
            </a:r>
            <a:br>
              <a:rPr lang="en-US" sz="2400" dirty="0"/>
            </a:br>
            <a:r>
              <a:rPr lang="en-US" sz="2400" dirty="0"/>
              <a:t>in data file itself, self contained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737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 animBg="1"/>
      <p:bldP spid="15" grpId="0" uiExpand="1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stored in dataset as </a:t>
            </a:r>
            <a:r>
              <a:rPr lang="en-US" i="1" dirty="0"/>
              <a:t>n</a:t>
            </a:r>
            <a:r>
              <a:rPr lang="en-US" dirty="0"/>
              <a:t>-dimensional arrays</a:t>
            </a:r>
          </a:p>
          <a:p>
            <a:pPr lvl="1"/>
            <a:r>
              <a:rPr lang="en-US" dirty="0" err="1"/>
              <a:t>Dataspace</a:t>
            </a:r>
            <a:r>
              <a:rPr lang="en-US" dirty="0"/>
              <a:t> describes layout of data (</a:t>
            </a:r>
            <a:r>
              <a:rPr lang="en-US" dirty="0" err="1"/>
              <a:t>rank,dimensions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Datatype</a:t>
            </a:r>
            <a:r>
              <a:rPr lang="en-US" dirty="0"/>
              <a:t> describes single data element</a:t>
            </a:r>
          </a:p>
          <a:p>
            <a:pPr lvl="2"/>
            <a:r>
              <a:rPr lang="en-US" dirty="0"/>
              <a:t>Atomic</a:t>
            </a:r>
          </a:p>
          <a:p>
            <a:pPr lvl="3"/>
            <a:r>
              <a:rPr lang="en-US" dirty="0"/>
              <a:t>Integer, float</a:t>
            </a:r>
          </a:p>
          <a:p>
            <a:pPr lvl="3"/>
            <a:r>
              <a:rPr lang="en-US" dirty="0"/>
              <a:t>String, time</a:t>
            </a:r>
          </a:p>
          <a:p>
            <a:pPr lvl="3"/>
            <a:r>
              <a:rPr lang="en-US" dirty="0"/>
              <a:t>Opaque</a:t>
            </a:r>
          </a:p>
          <a:p>
            <a:pPr lvl="2"/>
            <a:r>
              <a:rPr lang="en-US" dirty="0"/>
              <a:t>Composite</a:t>
            </a:r>
          </a:p>
          <a:p>
            <a:pPr lvl="3"/>
            <a:r>
              <a:rPr lang="en-US" dirty="0"/>
              <a:t>Compound</a:t>
            </a:r>
          </a:p>
          <a:p>
            <a:pPr lvl="3"/>
            <a:r>
              <a:rPr lang="en-US" dirty="0"/>
              <a:t>Enumeration</a:t>
            </a:r>
          </a:p>
          <a:p>
            <a:pPr lvl="3"/>
            <a:r>
              <a:rPr lang="en-US" dirty="0"/>
              <a:t>Array</a:t>
            </a:r>
          </a:p>
          <a:p>
            <a:pPr lvl="3"/>
            <a:r>
              <a:rPr lang="en-US" dirty="0"/>
              <a:t>Variable length</a:t>
            </a:r>
          </a:p>
          <a:p>
            <a:pPr lvl="1"/>
            <a:r>
              <a:rPr lang="en-US" dirty="0"/>
              <a:t>Partial read/writes, </a:t>
            </a:r>
            <a:r>
              <a:rPr lang="en-US" dirty="0" err="1"/>
              <a:t>hyperslab</a:t>
            </a:r>
            <a:r>
              <a:rPr lang="en-US" dirty="0"/>
              <a:t>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81426" y="3216464"/>
            <a:ext cx="4897816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Data layout &amp; type description part of</a:t>
            </a:r>
            <a:br>
              <a:rPr lang="en-US" sz="2400" dirty="0"/>
            </a:br>
            <a:r>
              <a:rPr lang="en-US" sz="2400" dirty="0"/>
              <a:t> HDF5 file: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self-documenting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discovery!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6394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3"/>
      <p:bldP spid="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Filtering</a:t>
            </a:r>
          </a:p>
          <a:p>
            <a:pPr lvl="1"/>
            <a:r>
              <a:rPr lang="en-US" dirty="0"/>
              <a:t>Compression</a:t>
            </a:r>
          </a:p>
          <a:p>
            <a:pPr lvl="1"/>
            <a:r>
              <a:rPr lang="en-US" dirty="0"/>
              <a:t>Error detection</a:t>
            </a:r>
          </a:p>
          <a:p>
            <a:r>
              <a:rPr lang="en-US" dirty="0"/>
              <a:t>Datasets can be extended</a:t>
            </a:r>
          </a:p>
          <a:p>
            <a:r>
              <a:rPr lang="en-US" dirty="0"/>
              <a:t>Storage drivers</a:t>
            </a:r>
          </a:p>
          <a:p>
            <a:pPr lvl="1"/>
            <a:r>
              <a:rPr lang="en-US" dirty="0"/>
              <a:t>Single file</a:t>
            </a:r>
          </a:p>
          <a:p>
            <a:pPr lvl="1"/>
            <a:r>
              <a:rPr lang="en-US" dirty="0"/>
              <a:t>Multiple files</a:t>
            </a:r>
          </a:p>
          <a:p>
            <a:pPr lvl="1"/>
            <a:r>
              <a:rPr lang="en-US" dirty="0"/>
              <a:t>Multiple files on parallel file system</a:t>
            </a:r>
          </a:p>
          <a:p>
            <a:pPr lvl="1"/>
            <a:r>
              <a:rPr lang="en-US" dirty="0"/>
              <a:t>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9461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how to use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 dirty="0"/>
              <a:t>Fortran 90</a:t>
            </a:r>
          </a:p>
          <a:p>
            <a:r>
              <a:rPr lang="en-US" dirty="0"/>
              <a:t>Java</a:t>
            </a:r>
          </a:p>
          <a:p>
            <a:r>
              <a:rPr lang="en-US" dirty="0"/>
              <a:t>Python</a:t>
            </a:r>
          </a:p>
          <a:p>
            <a:pPr lvl="1"/>
            <a:r>
              <a:rPr lang="en-US" dirty="0" err="1"/>
              <a:t>PyTables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h5py</a:t>
            </a:r>
            <a:endParaRPr lang="nl-BE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75166" y="4725144"/>
            <a:ext cx="739324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HDF5 file can be read by program in 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576" y="5714092"/>
            <a:ext cx="767062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 so easy in C/C++/Fortran, fairly trivial in Python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514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h5py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266611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h5py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995980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1" y="232008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mode='w')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276963"/>
            <a:ext cx="67365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18566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84768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6030719"/>
            <a:ext cx="670385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h5py.File('data.h5',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4835904" y="1640959"/>
            <a:ext cx="2678696" cy="985109"/>
            <a:chOff x="4127541" y="1326896"/>
            <a:chExt cx="2678696" cy="985109"/>
          </a:xfrm>
        </p:grpSpPr>
        <p:sp>
          <p:nvSpPr>
            <p:cNvPr id="9" name="TextBox 8"/>
            <p:cNvSpPr txBox="1"/>
            <p:nvPr/>
          </p:nvSpPr>
          <p:spPr>
            <a:xfrm>
              <a:off x="5744728" y="1326896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96228"/>
              <a:ext cx="1535874" cy="3290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2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326301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h5file.create_group('input')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3371792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input_group.create_group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('fields')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165840" y="3861209"/>
            <a:ext cx="7208819" cy="723003"/>
            <a:chOff x="641840" y="5445224"/>
            <a:chExt cx="7208819" cy="723003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208819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h5file.create_group('/input/fields')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893205" y="1632239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525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a dataset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field_group.create_dataset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('magnetic',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93324" y="3840318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652740" y="4133801"/>
            <a:ext cx="3243627" cy="878271"/>
            <a:chOff x="2336262" y="2339588"/>
            <a:chExt cx="3243627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4657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dataset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75</a:t>
            </a:fld>
            <a:endParaRPr lang="nl-BE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024A1-11B8-4225-9759-5E4D7CC0846A}"/>
              </a:ext>
            </a:extLst>
          </p:cNvPr>
          <p:cNvGrpSpPr/>
          <p:nvPr/>
        </p:nvGrpSpPr>
        <p:grpSpPr>
          <a:xfrm>
            <a:off x="6652739" y="4997329"/>
            <a:ext cx="3347470" cy="1613701"/>
            <a:chOff x="2183861" y="3050716"/>
            <a:chExt cx="3347470" cy="161370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3E5B-10E4-457C-B771-27D46257AC8C}"/>
                </a:ext>
              </a:extLst>
            </p:cNvPr>
            <p:cNvSpPr txBox="1"/>
            <p:nvPr/>
          </p:nvSpPr>
          <p:spPr>
            <a:xfrm>
              <a:off x="4396212" y="4295085"/>
              <a:ext cx="11351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dataspace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59DCA0-D392-4987-AEBA-C6EFED87EB0A}"/>
                </a:ext>
              </a:extLst>
            </p:cNvPr>
            <p:cNvSpPr/>
            <p:nvPr/>
          </p:nvSpPr>
          <p:spPr>
            <a:xfrm>
              <a:off x="2183861" y="3050716"/>
              <a:ext cx="2557163" cy="569241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FCE6BE2-CBD9-46AF-8143-EDD1E5C8F4C6}"/>
                </a:ext>
              </a:extLst>
            </p:cNvPr>
            <p:cNvCxnSpPr>
              <a:cxnSpLocks/>
              <a:stCxn id="24" idx="1"/>
              <a:endCxn id="25" idx="2"/>
            </p:cNvCxnSpPr>
            <p:nvPr/>
          </p:nvCxnSpPr>
          <p:spPr>
            <a:xfrm flipH="1" flipV="1">
              <a:off x="3462443" y="3619957"/>
              <a:ext cx="933769" cy="85979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420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h5file.create_dataset('/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=np.float32)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809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iterator over attribute names: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field_group.attrs.keys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3424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h5file['input/fields/magnetic']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657599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/positions'][3:7,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376408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cxnSpLocks/>
            </p:cNvCxnSpPr>
            <p:nvPr/>
          </p:nvCxnSpPr>
          <p:spPr>
            <a:xfrm flipH="1" flipV="1">
              <a:off x="4567755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h5file['/c0ords/positions'][indices,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389064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78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285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command line 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h5dump</a:t>
            </a:r>
          </a:p>
          <a:p>
            <a:pPr lvl="1"/>
            <a:r>
              <a:rPr lang="en-US" dirty="0"/>
              <a:t>Print a textual representation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h5ls</a:t>
            </a:r>
          </a:p>
          <a:p>
            <a:pPr lvl="1"/>
            <a:r>
              <a:rPr lang="en-US" dirty="0"/>
              <a:t>Explore structure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h5copy</a:t>
            </a:r>
          </a:p>
          <a:p>
            <a:pPr lvl="1"/>
            <a:r>
              <a:rPr lang="en-US" dirty="0"/>
              <a:t>Copy data set from one HDF5 file to another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h5mkgrp</a:t>
            </a:r>
          </a:p>
          <a:p>
            <a:pPr lvl="1"/>
            <a:r>
              <a:rPr lang="en-US" dirty="0"/>
              <a:t>Create a group in an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h5cc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h5c++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h5fc</a:t>
            </a:r>
          </a:p>
          <a:p>
            <a:pPr lvl="1"/>
            <a:r>
              <a:rPr lang="en-US" dirty="0"/>
              <a:t>Compile wrappers</a:t>
            </a:r>
          </a:p>
          <a:p>
            <a:pPr lvl="1"/>
            <a:r>
              <a:rPr lang="en-US" dirty="0"/>
              <a:t>With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showconfig</a:t>
            </a:r>
            <a:r>
              <a:rPr lang="en-US" dirty="0"/>
              <a:t> shows library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70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Bokeh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https://github.com/gjbex/Scientific-Python/tree/master/source-code/bokeh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7026725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Plot library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Integrates with Pandas</a:t>
            </a:r>
          </a:p>
          <a:p>
            <a:pPr lvl="1"/>
            <a:r>
              <a:rPr lang="en-US" dirty="0"/>
              <a:t>Interactive demos in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Export to HTML pages, interactive plots using </a:t>
            </a:r>
            <a:r>
              <a:rPr lang="en-US" dirty="0" err="1"/>
              <a:t>Javascript</a:t>
            </a:r>
            <a:endParaRPr lang="en-US" dirty="0"/>
          </a:p>
          <a:p>
            <a:pPr lvl="1"/>
            <a:r>
              <a:rPr lang="en-US" dirty="0"/>
              <a:t>Reasonable support LaTeX labels</a:t>
            </a:r>
          </a:p>
          <a:p>
            <a:r>
              <a:rPr lang="en-US" dirty="0"/>
              <a:t>More oriented towards information visualization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16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plot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82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775521" y="1556793"/>
            <a:ext cx="7992888" cy="507831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bokeh.plotting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figure,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show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(0.0, 20.0, 500)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(2.0*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('plot.html', title='damped pendulum')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figure(title='damped pendulum',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='theta')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show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900785" y="260648"/>
            <a:ext cx="3563723" cy="1368152"/>
            <a:chOff x="2092096" y="3045668"/>
            <a:chExt cx="3563723" cy="1368152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2092096" y="3368834"/>
              <a:ext cx="1884674" cy="10449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70" y="3045668"/>
              <a:ext cx="1679049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import required</a:t>
              </a:r>
              <a:br>
                <a:rPr lang="en-US" dirty="0"/>
              </a:br>
              <a:r>
                <a:rPr lang="en-US" dirty="0"/>
                <a:t>functions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7068080" y="2132856"/>
            <a:ext cx="3388997" cy="1368152"/>
            <a:chOff x="2092096" y="3045668"/>
            <a:chExt cx="3388997" cy="1368152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2092096" y="3230334"/>
              <a:ext cx="1884674" cy="118348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976770" y="3045668"/>
              <a:ext cx="150432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set output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8430901" y="3424570"/>
            <a:ext cx="2033606" cy="508486"/>
            <a:chOff x="3316232" y="3045668"/>
            <a:chExt cx="2033606" cy="508486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316232" y="3230334"/>
              <a:ext cx="660538" cy="32382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7306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create figure</a:t>
              </a:r>
              <a:endParaRPr lang="nl-BE" dirty="0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6900785" y="4596696"/>
            <a:ext cx="3563723" cy="1231421"/>
            <a:chOff x="5376784" y="4596695"/>
            <a:chExt cx="3563723" cy="1231421"/>
          </a:xfrm>
        </p:grpSpPr>
        <p:cxnSp>
          <p:nvCxnSpPr>
            <p:cNvPr id="16" name="Straight Arrow Connector 15"/>
            <p:cNvCxnSpPr>
              <a:stCxn id="17" idx="1"/>
            </p:cNvCxnSpPr>
            <p:nvPr/>
          </p:nvCxnSpPr>
          <p:spPr>
            <a:xfrm flipH="1" flipV="1">
              <a:off x="5376784" y="4596695"/>
              <a:ext cx="2537608" cy="533509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7914392" y="4945538"/>
              <a:ext cx="102611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plot data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19" name="Straight Arrow Connector 18"/>
            <p:cNvCxnSpPr>
              <a:stCxn id="17" idx="1"/>
            </p:cNvCxnSpPr>
            <p:nvPr/>
          </p:nvCxnSpPr>
          <p:spPr>
            <a:xfrm flipH="1" flipV="1">
              <a:off x="5376784" y="5084692"/>
              <a:ext cx="2537608" cy="455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>
              <a:stCxn id="17" idx="1"/>
            </p:cNvCxnSpPr>
            <p:nvPr/>
          </p:nvCxnSpPr>
          <p:spPr>
            <a:xfrm flipH="1">
              <a:off x="5376784" y="5130204"/>
              <a:ext cx="2537608" cy="6979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5159896" y="5777569"/>
            <a:ext cx="5295076" cy="697912"/>
            <a:chOff x="-200308" y="3045668"/>
            <a:chExt cx="5295076" cy="697912"/>
          </a:xfrm>
        </p:grpSpPr>
        <p:cxnSp>
          <p:nvCxnSpPr>
            <p:cNvPr id="26" name="Straight Arrow Connector 25"/>
            <p:cNvCxnSpPr>
              <a:stCxn id="27" idx="1"/>
            </p:cNvCxnSpPr>
            <p:nvPr/>
          </p:nvCxnSpPr>
          <p:spPr>
            <a:xfrm flipH="1">
              <a:off x="-200308" y="3230334"/>
              <a:ext cx="4177078" cy="51324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3976770" y="3045668"/>
              <a:ext cx="111799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create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028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83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521" y="1775446"/>
            <a:ext cx="5167339" cy="5008215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6888091" y="1546482"/>
            <a:ext cx="2037849" cy="766829"/>
            <a:chOff x="3261463" y="3045668"/>
            <a:chExt cx="2037849" cy="766829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3261463" y="3230334"/>
              <a:ext cx="715306" cy="582163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69" y="3045668"/>
              <a:ext cx="13225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pan tool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888089" y="2020178"/>
            <a:ext cx="2037850" cy="544726"/>
            <a:chOff x="3316233" y="3046469"/>
            <a:chExt cx="2037850" cy="544726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3316233" y="3231135"/>
              <a:ext cx="715308" cy="36006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4031541" y="3046469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box zoom</a:t>
              </a:r>
              <a:endParaRPr lang="nl-BE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6888091" y="2491927"/>
            <a:ext cx="2037849" cy="369332"/>
            <a:chOff x="3261463" y="3045668"/>
            <a:chExt cx="2037849" cy="369332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261463" y="3230334"/>
              <a:ext cx="715307" cy="10433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wheel zoom</a:t>
              </a:r>
              <a:endParaRPr lang="nl-BE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888089" y="2969643"/>
            <a:ext cx="2037850" cy="369332"/>
            <a:chOff x="3261462" y="3045668"/>
            <a:chExt cx="2037850" cy="369332"/>
          </a:xfrm>
        </p:grpSpPr>
        <p:cxnSp>
          <p:nvCxnSpPr>
            <p:cNvPr id="15" name="Straight Arrow Connector 14"/>
            <p:cNvCxnSpPr>
              <a:stCxn id="16" idx="1"/>
            </p:cNvCxnSpPr>
            <p:nvPr/>
          </p:nvCxnSpPr>
          <p:spPr>
            <a:xfrm flipH="1" flipV="1">
              <a:off x="3261462" y="3124678"/>
              <a:ext cx="715308" cy="10565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save image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888091" y="3338976"/>
            <a:ext cx="2037849" cy="484128"/>
            <a:chOff x="3260260" y="2930872"/>
            <a:chExt cx="2037849" cy="484128"/>
          </a:xfrm>
        </p:grpSpPr>
        <p:cxnSp>
          <p:nvCxnSpPr>
            <p:cNvPr id="18" name="Straight Arrow Connector 17"/>
            <p:cNvCxnSpPr>
              <a:stCxn id="19" idx="1"/>
            </p:cNvCxnSpPr>
            <p:nvPr/>
          </p:nvCxnSpPr>
          <p:spPr>
            <a:xfrm flipH="1" flipV="1">
              <a:off x="3260260" y="2930872"/>
              <a:ext cx="716510" cy="299462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3976770" y="3045668"/>
              <a:ext cx="132133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reset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5340517" y="5037122"/>
            <a:ext cx="36120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Interactive in web browser!</a:t>
            </a:r>
          </a:p>
        </p:txBody>
      </p:sp>
    </p:spTree>
    <p:extLst>
      <p:ext uri="{BB962C8B-B14F-4D97-AF65-F5344CB8AC3E}">
        <p14:creationId xmlns:p14="http://schemas.microsoft.com/office/powerpoint/2010/main" val="3431201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 with widget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84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561" y="1340768"/>
            <a:ext cx="4547213" cy="4928592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279576" y="5764176"/>
            <a:ext cx="7013054" cy="617153"/>
            <a:chOff x="755576" y="5764175"/>
            <a:chExt cx="7013054" cy="617153"/>
          </a:xfrm>
        </p:grpSpPr>
        <p:grpSp>
          <p:nvGrpSpPr>
            <p:cNvPr id="5" name="Group 4"/>
            <p:cNvGrpSpPr/>
            <p:nvPr/>
          </p:nvGrpSpPr>
          <p:grpSpPr>
            <a:xfrm>
              <a:off x="4932040" y="5764175"/>
              <a:ext cx="2836590" cy="369332"/>
              <a:chOff x="2884184" y="3045668"/>
              <a:chExt cx="2836590" cy="369332"/>
            </a:xfrm>
          </p:grpSpPr>
          <p:cxnSp>
            <p:nvCxnSpPr>
              <p:cNvPr id="6" name="Straight Arrow Connector 5"/>
              <p:cNvCxnSpPr>
                <a:stCxn id="7" idx="1"/>
                <a:endCxn id="9" idx="3"/>
              </p:cNvCxnSpPr>
              <p:nvPr/>
            </p:nvCxnSpPr>
            <p:spPr>
              <a:xfrm flipH="1">
                <a:off x="2884184" y="3230334"/>
                <a:ext cx="1092586" cy="123911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/>
              <p:cNvSpPr txBox="1"/>
              <p:nvPr/>
            </p:nvSpPr>
            <p:spPr>
              <a:xfrm>
                <a:off x="3976770" y="3045668"/>
                <a:ext cx="1744004" cy="369332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interactive slider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9" name="Rounded Rectangle 8"/>
            <p:cNvSpPr/>
            <p:nvPr/>
          </p:nvSpPr>
          <p:spPr>
            <a:xfrm>
              <a:off x="755576" y="5764175"/>
              <a:ext cx="4176464" cy="61715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7080548" y="2868965"/>
            <a:ext cx="3047757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Required: callback function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modifies data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triggers update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 involves </a:t>
            </a:r>
            <a:r>
              <a:rPr lang="en-US" dirty="0" err="1">
                <a:sym typeface="Symbol" panose="05050102010706020507" pitchFamily="18" charset="2"/>
              </a:rPr>
              <a:t>Javascript</a:t>
            </a:r>
            <a:r>
              <a:rPr lang="en-US" dirty="0">
                <a:sym typeface="Symbol" panose="05050102010706020507" pitchFamily="18" charset="2"/>
              </a:rPr>
              <a:t> tinkering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7909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figures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85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1774"/>
          <a:stretch/>
        </p:blipFill>
        <p:spPr>
          <a:xfrm>
            <a:off x="1919537" y="1340769"/>
            <a:ext cx="7418611" cy="4824536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4007768" y="2112471"/>
            <a:ext cx="6509336" cy="1436575"/>
            <a:chOff x="3628678" y="4432293"/>
            <a:chExt cx="6509336" cy="1436575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 flipV="1">
              <a:off x="3628678" y="4432293"/>
              <a:ext cx="4285714" cy="9749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7914392" y="4945538"/>
              <a:ext cx="2223622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linked figures for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panning, zooming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interactive settings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5376784" y="5084693"/>
              <a:ext cx="2537608" cy="3225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7" idx="1"/>
            </p:cNvCxnSpPr>
            <p:nvPr/>
          </p:nvCxnSpPr>
          <p:spPr>
            <a:xfrm flipH="1">
              <a:off x="5376784" y="5407203"/>
              <a:ext cx="2537608" cy="420913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ounded Rectangle 10"/>
          <p:cNvSpPr/>
          <p:nvPr/>
        </p:nvSpPr>
        <p:spPr>
          <a:xfrm>
            <a:off x="5087889" y="1628800"/>
            <a:ext cx="1062737" cy="36004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2495600" y="5013177"/>
            <a:ext cx="2088232" cy="1157153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28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brushing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86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528" y="1340769"/>
            <a:ext cx="5555930" cy="4843437"/>
          </a:xfrm>
          <a:prstGeom prst="rect">
            <a:avLst/>
          </a:prstGeom>
        </p:spPr>
      </p:pic>
      <p:grpSp>
        <p:nvGrpSpPr>
          <p:cNvPr id="16" name="Group 15"/>
          <p:cNvGrpSpPr/>
          <p:nvPr/>
        </p:nvGrpSpPr>
        <p:grpSpPr>
          <a:xfrm>
            <a:off x="2927648" y="1340768"/>
            <a:ext cx="7113316" cy="3401580"/>
            <a:chOff x="1403648" y="1340768"/>
            <a:chExt cx="7113316" cy="3401580"/>
          </a:xfrm>
        </p:grpSpPr>
        <p:sp>
          <p:nvSpPr>
            <p:cNvPr id="5" name="Rounded Rectangle 4"/>
            <p:cNvSpPr/>
            <p:nvPr/>
          </p:nvSpPr>
          <p:spPr>
            <a:xfrm>
              <a:off x="4716016" y="1340768"/>
              <a:ext cx="360040" cy="360040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1403648" y="2178967"/>
              <a:ext cx="7113316" cy="2563381"/>
              <a:chOff x="2839326" y="4562610"/>
              <a:chExt cx="7113316" cy="2563381"/>
            </a:xfrm>
          </p:grpSpPr>
          <p:cxnSp>
            <p:nvCxnSpPr>
              <p:cNvPr id="7" name="Straight Arrow Connector 6"/>
              <p:cNvCxnSpPr>
                <a:stCxn id="8" idx="1"/>
              </p:cNvCxnSpPr>
              <p:nvPr/>
            </p:nvCxnSpPr>
            <p:spPr>
              <a:xfrm flipH="1" flipV="1">
                <a:off x="2839326" y="4562610"/>
                <a:ext cx="5075066" cy="993359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7914392" y="5371303"/>
                <a:ext cx="203825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consistent selection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 flipV="1">
                <a:off x="5647638" y="5371303"/>
                <a:ext cx="2266754" cy="184666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/>
              <p:cNvCxnSpPr>
                <a:stCxn id="8" idx="1"/>
              </p:cNvCxnSpPr>
              <p:nvPr/>
            </p:nvCxnSpPr>
            <p:spPr>
              <a:xfrm flipH="1">
                <a:off x="6331714" y="5555969"/>
                <a:ext cx="1582678" cy="1570022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42475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Hover tool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87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952" y="1628801"/>
            <a:ext cx="5773275" cy="3428231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834016" y="2276873"/>
            <a:ext cx="7006401" cy="2158499"/>
            <a:chOff x="755576" y="2276872"/>
            <a:chExt cx="7006401" cy="2158499"/>
          </a:xfrm>
        </p:grpSpPr>
        <p:cxnSp>
          <p:nvCxnSpPr>
            <p:cNvPr id="6" name="Straight Arrow Connector 5"/>
            <p:cNvCxnSpPr>
              <a:stCxn id="7" idx="1"/>
              <a:endCxn id="9" idx="3"/>
            </p:cNvCxnSpPr>
            <p:nvPr/>
          </p:nvCxnSpPr>
          <p:spPr>
            <a:xfrm flipH="1" flipV="1">
              <a:off x="3779912" y="2564904"/>
              <a:ext cx="2659522" cy="154730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6439434" y="3789040"/>
              <a:ext cx="132254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hover for details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5576" y="2276872"/>
              <a:ext cx="3024336" cy="576064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4569549" y="5601806"/>
            <a:ext cx="39483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Any information can be added</a:t>
            </a:r>
          </a:p>
        </p:txBody>
      </p:sp>
    </p:spTree>
    <p:extLst>
      <p:ext uri="{BB962C8B-B14F-4D97-AF65-F5344CB8AC3E}">
        <p14:creationId xmlns:p14="http://schemas.microsoft.com/office/powerpoint/2010/main" val="166099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https://github.com/gjbex/Scientific-Python/tree/master/source-code/image-processing</a:t>
            </a:r>
            <a:r>
              <a:rPr lang="en-US" sz="18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288452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dedicated software, e.g., GIMP, </a:t>
            </a:r>
            <a:r>
              <a:rPr lang="en-US" dirty="0" err="1"/>
              <a:t>OpenShot</a:t>
            </a:r>
            <a:endParaRPr lang="en-US" dirty="0"/>
          </a:p>
          <a:p>
            <a:pPr lvl="1"/>
            <a:r>
              <a:rPr lang="en-US" dirty="0"/>
              <a:t>use Python for plugins</a:t>
            </a:r>
          </a:p>
          <a:p>
            <a:pPr lvl="1"/>
            <a:r>
              <a:rPr lang="en-US" dirty="0"/>
              <a:t>use Python for scripting</a:t>
            </a:r>
          </a:p>
          <a:p>
            <a:r>
              <a:rPr lang="en-US" dirty="0"/>
              <a:t>Image processing</a:t>
            </a:r>
          </a:p>
          <a:p>
            <a:pPr lvl="1"/>
            <a:r>
              <a:rPr lang="en-US" dirty="0"/>
              <a:t>pillow: basic image processing (successor to PIL)</a:t>
            </a:r>
          </a:p>
          <a:p>
            <a:pPr lvl="1"/>
            <a:r>
              <a:rPr lang="en-US" dirty="0" err="1"/>
              <a:t>scikit</a:t>
            </a:r>
            <a:r>
              <a:rPr lang="en-US" dirty="0"/>
              <a:t>-image: more sophisticated algorithms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comparable to </a:t>
            </a:r>
            <a:r>
              <a:rPr lang="en-US" dirty="0" err="1"/>
              <a:t>scikit</a:t>
            </a:r>
            <a:r>
              <a:rPr lang="en-US" dirty="0"/>
              <a:t>-image</a:t>
            </a:r>
          </a:p>
          <a:p>
            <a:r>
              <a:rPr lang="en-US" dirty="0"/>
              <a:t>Video processing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many useful algorithms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89</a:t>
            </a:fld>
            <a:endParaRPr lang="nl-BE"/>
          </a:p>
        </p:txBody>
      </p:sp>
      <p:sp>
        <p:nvSpPr>
          <p:cNvPr id="5" name="Rectangle 4"/>
          <p:cNvSpPr/>
          <p:nvPr/>
        </p:nvSpPr>
        <p:spPr>
          <a:xfrm>
            <a:off x="1559496" y="4016035"/>
            <a:ext cx="1574402" cy="2880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559496" y="5314920"/>
            <a:ext cx="1133828" cy="36004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299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restoration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point spread function</a:t>
            </a:r>
          </a:p>
          <a:p>
            <a:endParaRPr lang="en-US" dirty="0"/>
          </a:p>
          <a:p>
            <a:r>
              <a:rPr lang="en-US" dirty="0"/>
              <a:t>Perform deconvolution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76872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np.ones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((5, 5))/25.0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11759"/>
            <a:ext cx="757118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skimage.restoration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unsupervised_wiener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denoised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_ =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unsupervised_wiener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img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4" t="9051" r="48738" b="13775"/>
          <a:stretch/>
        </p:blipFill>
        <p:spPr>
          <a:xfrm>
            <a:off x="2204011" y="4361834"/>
            <a:ext cx="2091790" cy="221463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6672064" y="3994187"/>
            <a:ext cx="3519770" cy="974645"/>
            <a:chOff x="2211763" y="2967703"/>
            <a:chExt cx="3519770" cy="974645"/>
          </a:xfrm>
        </p:grpSpPr>
        <p:sp>
          <p:nvSpPr>
            <p:cNvPr id="9" name="Rectangle 8"/>
            <p:cNvSpPr/>
            <p:nvPr/>
          </p:nvSpPr>
          <p:spPr>
            <a:xfrm>
              <a:off x="2211763" y="2967703"/>
              <a:ext cx="533661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3888" y="3573016"/>
              <a:ext cx="216764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RGB</a:t>
              </a:r>
            </a:p>
          </p:txBody>
        </p:sp>
        <p:cxnSp>
          <p:nvCxnSpPr>
            <p:cNvPr id="11" name="Straight Arrow Connector 10"/>
            <p:cNvCxnSpPr>
              <a:stCxn id="10" idx="1"/>
              <a:endCxn id="9" idx="3"/>
            </p:cNvCxnSpPr>
            <p:nvPr/>
          </p:nvCxnSpPr>
          <p:spPr>
            <a:xfrm flipH="1" flipV="1">
              <a:off x="2745424" y="3111719"/>
              <a:ext cx="818464" cy="6459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7104113" y="5301208"/>
            <a:ext cx="172354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 image I/O:</a:t>
            </a:r>
            <a:br>
              <a:rPr lang="en-US" sz="2000" dirty="0"/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skimage.io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3" t="9051" r="1766" b="13775"/>
          <a:stretch/>
        </p:blipFill>
        <p:spPr>
          <a:xfrm>
            <a:off x="4482609" y="4361834"/>
            <a:ext cx="2088233" cy="2214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37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2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initial contour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Compute snake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14855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theta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(0, 2*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n)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x0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y0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([x, y]).T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797788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skimage.segmentation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snake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alpha=alpha, beta=beta,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gamma=gamma)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8040216" y="1269862"/>
            <a:ext cx="2304256" cy="230425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2279576" y="4422888"/>
            <a:ext cx="2386608" cy="2386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82716" y="5584795"/>
            <a:ext cx="5194921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skimage.filters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Gaussian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gaussian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(image, 3)</a:t>
            </a:r>
          </a:p>
        </p:txBody>
      </p:sp>
    </p:spTree>
    <p:extLst>
      <p:ext uri="{BB962C8B-B14F-4D97-AF65-F5344CB8AC3E}">
        <p14:creationId xmlns:p14="http://schemas.microsoft.com/office/powerpoint/2010/main" val="2748715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Capturing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Capture from camera, show in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16936"/>
            <a:ext cx="7571184" cy="34163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cv2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not status: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# oops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cv2.imshow('frame', frame)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cv2.waitKey(1) &amp; 0xFF ==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('q'):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break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cv2.destroyAllWindows()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93361" y="3157225"/>
            <a:ext cx="3564289" cy="945396"/>
            <a:chOff x="2169360" y="2996952"/>
            <a:chExt cx="3564289" cy="945396"/>
          </a:xfrm>
        </p:grpSpPr>
        <p:sp>
          <p:nvSpPr>
            <p:cNvPr id="6" name="Rectangle 5"/>
            <p:cNvSpPr/>
            <p:nvPr/>
          </p:nvSpPr>
          <p:spPr>
            <a:xfrm>
              <a:off x="2169360" y="2996952"/>
              <a:ext cx="720080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563888" y="3573016"/>
              <a:ext cx="216976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BGR</a:t>
              </a:r>
            </a:p>
          </p:txBody>
        </p:sp>
        <p:cxnSp>
          <p:nvCxnSpPr>
            <p:cNvPr id="9" name="Straight Arrow Connector 8"/>
            <p:cNvCxnSpPr>
              <a:stCxn id="7" idx="1"/>
              <a:endCxn id="6" idx="3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333489" y="4835875"/>
            <a:ext cx="1995644" cy="801380"/>
            <a:chOff x="2889440" y="3140968"/>
            <a:chExt cx="1995644" cy="801380"/>
          </a:xfrm>
        </p:grpSpPr>
        <p:sp>
          <p:nvSpPr>
            <p:cNvPr id="14" name="TextBox 13"/>
            <p:cNvSpPr txBox="1"/>
            <p:nvPr/>
          </p:nvSpPr>
          <p:spPr>
            <a:xfrm>
              <a:off x="3563888" y="3573016"/>
              <a:ext cx="132119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quit on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'q'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6023992" y="2869194"/>
            <a:ext cx="3085482" cy="478169"/>
            <a:chOff x="2067752" y="3464179"/>
            <a:chExt cx="3085482" cy="478169"/>
          </a:xfrm>
        </p:grpSpPr>
        <p:sp>
          <p:nvSpPr>
            <p:cNvPr id="17" name="TextBox 16"/>
            <p:cNvSpPr txBox="1"/>
            <p:nvPr/>
          </p:nvSpPr>
          <p:spPr>
            <a:xfrm>
              <a:off x="3563888" y="3573016"/>
              <a:ext cx="158934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 number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2067752" y="3464179"/>
              <a:ext cx="1496136" cy="29350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459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Reading/writing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</a:p>
          <a:p>
            <a:endParaRPr lang="en-US" dirty="0"/>
          </a:p>
          <a:p>
            <a:r>
              <a:rPr lang="en-US" dirty="0"/>
              <a:t>Writing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42961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cv2.VideoCapture('my_video.avi')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62075"/>
            <a:ext cx="7571184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cv2.VideoWriter_fourcc(*'XVID')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writer = cv2.VideoWriter('my_video.avi',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frames_per_second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(width, height))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frame in frames: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writer.write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(frame)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writer.release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248128" y="2770654"/>
            <a:ext cx="2342454" cy="719026"/>
            <a:chOff x="2835658" y="3573016"/>
            <a:chExt cx="2342454" cy="719026"/>
          </a:xfrm>
        </p:grpSpPr>
        <p:sp>
          <p:nvSpPr>
            <p:cNvPr id="8" name="TextBox 7"/>
            <p:cNvSpPr txBox="1"/>
            <p:nvPr/>
          </p:nvSpPr>
          <p:spPr>
            <a:xfrm>
              <a:off x="3563888" y="3573016"/>
              <a:ext cx="161422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video encoding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2835658" y="3757682"/>
              <a:ext cx="728230" cy="53436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5415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ball: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Hue histogram of ROI (region of interest)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96304"/>
            <a:ext cx="7571184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(x, y, width, height)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mask = cv2.inRange(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50,  50)),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255, 255)))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cv2.calcHist([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mask,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cv2.normalize(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0, 255,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cv2.NORM_MINMAX)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7528" y="5210186"/>
            <a:ext cx="37665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HSV = Hue, Saturation, Value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143672" y="5631829"/>
            <a:ext cx="2533268" cy="788474"/>
            <a:chOff x="3339714" y="3246207"/>
            <a:chExt cx="2533268" cy="788474"/>
          </a:xfrm>
        </p:grpSpPr>
        <p:sp>
          <p:nvSpPr>
            <p:cNvPr id="9" name="TextBox 8"/>
            <p:cNvSpPr txBox="1"/>
            <p:nvPr/>
          </p:nvSpPr>
          <p:spPr>
            <a:xfrm>
              <a:off x="3563888" y="3573016"/>
              <a:ext cx="230909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determines color</a:t>
              </a:r>
              <a:endParaRPr lang="en-US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3339714" y="3246207"/>
              <a:ext cx="224174" cy="55764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666428" y="3520440"/>
            <a:ext cx="2873581" cy="707886"/>
            <a:chOff x="2420845" y="3573016"/>
            <a:chExt cx="2873581" cy="707886"/>
          </a:xfrm>
        </p:grpSpPr>
        <p:sp>
          <p:nvSpPr>
            <p:cNvPr id="13" name="TextBox 12"/>
            <p:cNvSpPr txBox="1"/>
            <p:nvPr/>
          </p:nvSpPr>
          <p:spPr>
            <a:xfrm>
              <a:off x="3563888" y="3573016"/>
              <a:ext cx="1730538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only histogram</a:t>
              </a:r>
              <a:br>
                <a:rPr lang="en-US" sz="2000" dirty="0"/>
              </a:br>
              <a:r>
                <a:rPr lang="en-US" sz="2000" dirty="0"/>
                <a:t>for hue on ROI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420845" y="3926959"/>
              <a:ext cx="1143043" cy="25272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35117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frames and update track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95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756757" y="2289386"/>
            <a:ext cx="8435280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(cv2.TERM_CRITERIA_EPS |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cv2.TERM_CRITERIA_COUNT,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iterations, pixels)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cv2.calcBackProject([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1)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cv2.meanShift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  <a:endParaRPr lang="en-US" dirty="0"/>
          </a:p>
        </p:txBody>
      </p:sp>
      <p:pic>
        <p:nvPicPr>
          <p:cNvPr id="7" name="bal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415173" y="4928031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57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Success depends on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i="1" dirty="0">
                <a:solidFill>
                  <a:srgbClr val="C00000"/>
                </a:solidFill>
              </a:rPr>
              <a:t>understanding algorithms!</a:t>
            </a:r>
          </a:p>
          <a:p>
            <a:r>
              <a:rPr lang="en-US" dirty="0"/>
              <a:t>Many things to explore</a:t>
            </a:r>
          </a:p>
          <a:p>
            <a:r>
              <a:rPr lang="en-US" dirty="0"/>
              <a:t>Check out</a:t>
            </a:r>
          </a:p>
          <a:p>
            <a:pPr lvl="1"/>
            <a:r>
              <a:rPr lang="en-US" dirty="0">
                <a:hlinkClick r:id="rId2"/>
              </a:rPr>
              <a:t>https://scikit-image.org/docs/stable/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hlinkClick r:id="rId3"/>
              </a:rPr>
              <a:t>https://docs.opencv.org/4.x/d6/d00/tutorial_py_root.html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9334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1823</TotalTime>
  <Words>7257</Words>
  <Application>Microsoft Office PowerPoint</Application>
  <PresentationFormat>Widescreen</PresentationFormat>
  <Paragraphs>1226</Paragraphs>
  <Slides>96</Slides>
  <Notes>1</Notes>
  <HiddenSlides>0</HiddenSlides>
  <MMClips>3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96</vt:i4>
      </vt:variant>
    </vt:vector>
  </HeadingPairs>
  <TitlesOfParts>
    <vt:vector size="105" baseType="lpstr">
      <vt:lpstr>Arial</vt:lpstr>
      <vt:lpstr>Calibri</vt:lpstr>
      <vt:lpstr>Calibri Light</vt:lpstr>
      <vt:lpstr>Cambria Math</vt:lpstr>
      <vt:lpstr>Courier New</vt:lpstr>
      <vt:lpstr>Symbol</vt:lpstr>
      <vt:lpstr>Office Theme</vt:lpstr>
      <vt:lpstr>Equation</vt:lpstr>
      <vt:lpstr>Vergelijking</vt:lpstr>
      <vt:lpstr>Scientific Python</vt:lpstr>
      <vt:lpstr>PowerPoint Presentation</vt:lpstr>
      <vt:lpstr>PowerPoint Presentation</vt:lpstr>
      <vt:lpstr>Typographical conventions</vt:lpstr>
      <vt:lpstr>numpy</vt:lpstr>
      <vt:lpstr>Out of the box</vt:lpstr>
      <vt:lpstr>Python performance</vt:lpstr>
      <vt:lpstr>Libraries for numeric computation</vt:lpstr>
      <vt:lpstr>Python using numpy</vt:lpstr>
      <vt:lpstr>Creating array I</vt:lpstr>
      <vt:lpstr>Creating arrays II</vt:lpstr>
      <vt:lpstr>Creating arrays III</vt:lpstr>
      <vt:lpstr>Random numbers</vt:lpstr>
      <vt:lpstr>Numpy data types</vt:lpstr>
      <vt:lpstr>Accessing array elements</vt:lpstr>
      <vt:lpstr>Memory layout</vt:lpstr>
      <vt:lpstr>Accessing subarrays: slicing</vt:lpstr>
      <vt:lpstr>Views versus copies</vt:lpstr>
      <vt:lpstr>Fancy indexing</vt:lpstr>
      <vt:lpstr>Operations on arrays</vt:lpstr>
      <vt:lpstr>Functions operating on arrays</vt:lpstr>
      <vt:lpstr>Aggregation functions</vt:lpstr>
      <vt:lpstr>Some linear algebra</vt:lpstr>
      <vt:lpstr>numpy data I/O revisited</vt:lpstr>
      <vt:lpstr>Matrices</vt:lpstr>
      <vt:lpstr>References</vt:lpstr>
      <vt:lpstr>scipy</vt:lpstr>
      <vt:lpstr>Libraries for numeric computation</vt:lpstr>
      <vt:lpstr>Singular Value Decomposition</vt:lpstr>
      <vt:lpstr>Linear regression</vt:lpstr>
      <vt:lpstr>Optimization: function definitions</vt:lpstr>
      <vt:lpstr>Optimization</vt:lpstr>
      <vt:lpstr>Ordinary differential equations</vt:lpstr>
      <vt:lpstr>Jacobian for equations</vt:lpstr>
      <vt:lpstr>Integrate ODEs</vt:lpstr>
      <vt:lpstr>Signal processing</vt:lpstr>
      <vt:lpstr>Original signal</vt:lpstr>
      <vt:lpstr>Create highpass filter</vt:lpstr>
      <vt:lpstr>Filter signal</vt:lpstr>
      <vt:lpstr>Filtered signal</vt:lpstr>
      <vt:lpstr>Matplotlib</vt:lpstr>
      <vt:lpstr>And some matplotlib…</vt:lpstr>
      <vt:lpstr>Simple line plot</vt:lpstr>
      <vt:lpstr>Axis labels, annotation</vt:lpstr>
      <vt:lpstr>Multiple functions on line plot</vt:lpstr>
      <vt:lpstr>Complete line plot</vt:lpstr>
      <vt:lpstr>Histogram</vt:lpstr>
      <vt:lpstr>Line plot on histogram</vt:lpstr>
      <vt:lpstr>Heat map data</vt:lpstr>
      <vt:lpstr>Heat map plot</vt:lpstr>
      <vt:lpstr>3D surface plot</vt:lpstr>
      <vt:lpstr>Multiple plots I</vt:lpstr>
      <vt:lpstr>Multiple plots II</vt:lpstr>
      <vt:lpstr>References</vt:lpstr>
      <vt:lpstr>Sympy</vt:lpstr>
      <vt:lpstr>Introduction</vt:lpstr>
      <vt:lpstr>Defining symbols</vt:lpstr>
      <vt:lpstr>Solving equations</vt:lpstr>
      <vt:lpstr>Eigenvalues, eigenvectors</vt:lpstr>
      <vt:lpstr>Derivatives</vt:lpstr>
      <vt:lpstr>Integration</vt:lpstr>
      <vt:lpstr>Limits and series expansion</vt:lpstr>
      <vt:lpstr>Expression representation</vt:lpstr>
      <vt:lpstr>Parts of expressions</vt:lpstr>
      <vt:lpstr>Expression manipulation</vt:lpstr>
      <vt:lpstr>Further reading</vt:lpstr>
      <vt:lpstr>HDF5: h5py</vt:lpstr>
      <vt:lpstr>HDF5: what is it?</vt:lpstr>
      <vt:lpstr>HDF5 data</vt:lpstr>
      <vt:lpstr>HDF5 storage</vt:lpstr>
      <vt:lpstr>HDF5: how to use it?</vt:lpstr>
      <vt:lpstr>Importing modules</vt:lpstr>
      <vt:lpstr>Open &amp; close HDF5 file</vt:lpstr>
      <vt:lpstr>Creating a group</vt:lpstr>
      <vt:lpstr>Adding a dataset</vt:lpstr>
      <vt:lpstr>Adding an 2D array</vt:lpstr>
      <vt:lpstr>Annotations</vt:lpstr>
      <vt:lpstr>Reading an array </vt:lpstr>
      <vt:lpstr>HDF5 command line utilities</vt:lpstr>
      <vt:lpstr>Bokeh</vt:lpstr>
      <vt:lpstr>What is it?</vt:lpstr>
      <vt:lpstr>Simple plot</vt:lpstr>
      <vt:lpstr>HTML file</vt:lpstr>
      <vt:lpstr>HTML file with widget</vt:lpstr>
      <vt:lpstr>Linked figures</vt:lpstr>
      <vt:lpstr>Linked brushing</vt:lpstr>
      <vt:lpstr>Hover tool</vt:lpstr>
      <vt:lpstr>Image &amp; video processing</vt:lpstr>
      <vt:lpstr>Image &amp; video processing</vt:lpstr>
      <vt:lpstr>Image restoration</vt:lpstr>
      <vt:lpstr>Segmentation</vt:lpstr>
      <vt:lpstr>Capturing video</vt:lpstr>
      <vt:lpstr>Reading/writing video</vt:lpstr>
      <vt:lpstr>Follow the ball: setup</vt:lpstr>
      <vt:lpstr>Follow the ball</vt:lpstr>
      <vt:lpstr>Further reading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Python</dc:title>
  <dc:creator>Geert Jan Bex</dc:creator>
  <cp:lastModifiedBy>Geert Jan Bex</cp:lastModifiedBy>
  <cp:revision>84</cp:revision>
  <dcterms:created xsi:type="dcterms:W3CDTF">2019-11-07T15:31:23Z</dcterms:created>
  <dcterms:modified xsi:type="dcterms:W3CDTF">2026-10-07T14:54:20Z</dcterms:modified>
</cp:coreProperties>
</file>