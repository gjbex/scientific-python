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8"/>
  </p:notesMasterIdLst>
  <p:sldIdLst>
    <p:sldId id="256" r:id="rId2"/>
    <p:sldId id="350" r:id="rId3"/>
    <p:sldId id="351" r:id="rId4"/>
    <p:sldId id="349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61" r:id="rId14"/>
    <p:sldId id="265" r:id="rId15"/>
    <p:sldId id="266" r:id="rId16"/>
    <p:sldId id="359" r:id="rId17"/>
    <p:sldId id="267" r:id="rId18"/>
    <p:sldId id="272" r:id="rId19"/>
    <p:sldId id="268" r:id="rId20"/>
    <p:sldId id="269" r:id="rId21"/>
    <p:sldId id="270" r:id="rId22"/>
    <p:sldId id="360" r:id="rId23"/>
    <p:sldId id="271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62" r:id="rId53"/>
    <p:sldId id="363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09" r:id="rId62"/>
    <p:sldId id="310" r:id="rId63"/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58" r:id="rId73"/>
    <p:sldId id="352" r:id="rId74"/>
    <p:sldId id="353" r:id="rId75"/>
    <p:sldId id="354" r:id="rId76"/>
    <p:sldId id="357" r:id="rId77"/>
    <p:sldId id="355" r:id="rId78"/>
    <p:sldId id="356" r:id="rId79"/>
    <p:sldId id="330" r:id="rId80"/>
    <p:sldId id="320" r:id="rId81"/>
    <p:sldId id="321" r:id="rId82"/>
    <p:sldId id="322" r:id="rId83"/>
    <p:sldId id="323" r:id="rId84"/>
    <p:sldId id="324" r:id="rId85"/>
    <p:sldId id="328" r:id="rId86"/>
    <p:sldId id="325" r:id="rId87"/>
    <p:sldId id="326" r:id="rId88"/>
    <p:sldId id="327" r:id="rId89"/>
    <p:sldId id="329" r:id="rId90"/>
    <p:sldId id="331" r:id="rId91"/>
    <p:sldId id="332" r:id="rId92"/>
    <p:sldId id="333" r:id="rId93"/>
    <p:sldId id="334" r:id="rId94"/>
    <p:sldId id="335" r:id="rId95"/>
    <p:sldId id="336" r:id="rId96"/>
    <p:sldId id="337" r:id="rId97"/>
    <p:sldId id="338" r:id="rId98"/>
    <p:sldId id="339" r:id="rId99"/>
    <p:sldId id="340" r:id="rId100"/>
    <p:sldId id="341" r:id="rId101"/>
    <p:sldId id="342" r:id="rId102"/>
    <p:sldId id="343" r:id="rId103"/>
    <p:sldId id="344" r:id="rId104"/>
    <p:sldId id="345" r:id="rId105"/>
    <p:sldId id="346" r:id="rId106"/>
    <p:sldId id="347" r:id="rId10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361"/>
            <p14:sldId id="265"/>
            <p14:sldId id="266"/>
            <p14:sldId id="359"/>
            <p14:sldId id="267"/>
            <p14:sldId id="272"/>
            <p14:sldId id="268"/>
            <p14:sldId id="269"/>
            <p14:sldId id="270"/>
            <p14:sldId id="360"/>
            <p14:sldId id="271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62"/>
            <p14:sldId id="363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  <p14:sldId id="320"/>
            <p14:sldId id="321"/>
            <p14:sldId id="322"/>
            <p14:sldId id="323"/>
            <p14:sldId id="324"/>
            <p14:sldId id="328"/>
            <p14:sldId id="325"/>
            <p14:sldId id="326"/>
            <p14:sldId id="327"/>
            <p14:sldId id="329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82" d="100"/>
          <a:sy n="82" d="100"/>
        </p:scale>
        <p:origin x="49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652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tableStyles" Target="tableStyle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notesMaster" Target="notesMasters/notesMaster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presProps" Target="presProp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2.png"/><Relationship Id="rId3" Type="http://schemas.openxmlformats.org/officeDocument/2006/relationships/image" Target="../media/image6.png"/><Relationship Id="rId21" Type="http://schemas.openxmlformats.org/officeDocument/2006/relationships/image" Target="../media/image25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1.png"/><Relationship Id="rId2" Type="http://schemas.openxmlformats.org/officeDocument/2006/relationships/image" Target="../media/image4.jpg"/><Relationship Id="rId16" Type="http://schemas.openxmlformats.org/officeDocument/2006/relationships/image" Target="../media/image19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7.png"/><Relationship Id="rId10" Type="http://schemas.openxmlformats.org/officeDocument/2006/relationships/image" Target="../media/image13.png"/><Relationship Id="rId19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blob/master/source-code/numpy/views.ipynb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blob/master/source-code/numpy/broadcast.ipynb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wmf"/><Relationship Id="rId4" Type="http://schemas.openxmlformats.org/officeDocument/2006/relationships/oleObject" Target="../embeddings/oleObject5.bin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2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8E3B7DE8-2E50-3C99-916F-8A449D7548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569899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def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609820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20" name="Group 19"/>
          <p:cNvGrpSpPr/>
          <p:nvPr/>
        </p:nvGrpSpPr>
        <p:grpSpPr>
          <a:xfrm>
            <a:off x="2063552" y="3491717"/>
            <a:ext cx="7200800" cy="1460485"/>
            <a:chOff x="539552" y="3491716"/>
            <a:chExt cx="720080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g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np.zeros_like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(f)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009053" y="3861048"/>
              <a:ext cx="3451992" cy="1091153"/>
              <a:chOff x="3506349" y="4271030"/>
              <a:chExt cx="3451992" cy="1091153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28931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with shape</a:t>
                </a:r>
                <a:br>
                  <a:rPr lang="en-US" dirty="0"/>
                </a:br>
                <a:r>
                  <a:rPr lang="en-US" dirty="0"/>
                  <a:t>and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dtype</a:t>
                </a:r>
                <a:r>
                  <a:rPr lang="en-US" dirty="0"/>
                  <a:t> of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</a:p>
            </p:txBody>
          </p:sp>
          <p:cxnSp>
            <p:nvCxnSpPr>
              <p:cNvPr id="12" name="Straight Arrow Connector 11"/>
              <p:cNvCxnSpPr>
                <a:cxnSpLocks/>
                <a:stCxn id="11" idx="1"/>
              </p:cNvCxnSpPr>
              <p:nvPr/>
            </p:nvCxnSpPr>
            <p:spPr>
              <a:xfrm flipH="1" flipV="1">
                <a:off x="3506349" y="4271030"/>
                <a:ext cx="558892" cy="76798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22CEB75-555E-7F0E-47BB-4F3CA92AD989}"/>
              </a:ext>
            </a:extLst>
          </p:cNvPr>
          <p:cNvGrpSpPr/>
          <p:nvPr/>
        </p:nvGrpSpPr>
        <p:grpSpPr>
          <a:xfrm>
            <a:off x="2063552" y="1774560"/>
            <a:ext cx="7229654" cy="1460485"/>
            <a:chOff x="539552" y="3491716"/>
            <a:chExt cx="7229654" cy="1460485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E6AFB6-4ADE-5C9D-BED2-2B89E443A089}"/>
                </a:ext>
              </a:extLst>
            </p:cNvPr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B7DDDB1-F414-5FFD-1907-BABC7640D731}"/>
                </a:ext>
              </a:extLst>
            </p:cNvPr>
            <p:cNvGrpSpPr/>
            <p:nvPr/>
          </p:nvGrpSpPr>
          <p:grpSpPr>
            <a:xfrm>
              <a:off x="4139952" y="3861048"/>
              <a:ext cx="3629254" cy="1091153"/>
              <a:chOff x="3637248" y="4271030"/>
              <a:chExt cx="3629254" cy="1091153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4618593-6854-0357-AAF3-383AC58D3DD7}"/>
                  </a:ext>
                </a:extLst>
              </p:cNvPr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67B0C852-806A-C70D-901E-7ACE7E4CACCF}"/>
                  </a:ext>
                </a:extLst>
              </p:cNvPr>
              <p:cNvCxnSpPr>
                <a:cxnSpLocks/>
                <a:stCxn id="23" idx="1"/>
                <a:endCxn id="14" idx="2"/>
              </p:cNvCxnSpPr>
              <p:nvPr/>
            </p:nvCxnSpPr>
            <p:spPr>
              <a:xfrm flipH="1" flipV="1">
                <a:off x="3637248" y="4271030"/>
                <a:ext cx="427993" cy="76798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D9454-011C-BA61-DF06-8E7742A49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A0853-C3DD-6893-0BFD-0E2A7CE7F0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random number generator (RNG)</a:t>
            </a:r>
          </a:p>
          <a:p>
            <a:endParaRPr lang="en-US" dirty="0"/>
          </a:p>
          <a:p>
            <a:r>
              <a:rPr lang="en-US" dirty="0"/>
              <a:t>Reproducibility: seed RNG</a:t>
            </a:r>
          </a:p>
          <a:p>
            <a:endParaRPr lang="en-US" dirty="0"/>
          </a:p>
          <a:p>
            <a:r>
              <a:rPr lang="en-US" dirty="0"/>
              <a:t>Create arrays</a:t>
            </a:r>
            <a:endParaRPr lang="LID4096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7E0CA0A-BA1C-2135-7CF4-13D703974884}"/>
              </a:ext>
            </a:extLst>
          </p:cNvPr>
          <p:cNvGrpSpPr/>
          <p:nvPr/>
        </p:nvGrpSpPr>
        <p:grpSpPr>
          <a:xfrm>
            <a:off x="1745089" y="3347059"/>
            <a:ext cx="9923439" cy="1400898"/>
            <a:chOff x="1745090" y="2812228"/>
            <a:chExt cx="9923439" cy="1400898"/>
          </a:xfrm>
        </p:grpSpPr>
        <p:sp>
          <p:nvSpPr>
            <p:cNvPr id="4" name="TextBox 3"/>
            <p:cNvSpPr txBox="1"/>
            <p:nvPr/>
          </p:nvSpPr>
          <p:spPr>
            <a:xfrm>
              <a:off x="1745090" y="3843794"/>
              <a:ext cx="6111287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800734" y="2812228"/>
              <a:ext cx="6867795" cy="1031566"/>
              <a:chOff x="2769975" y="3150202"/>
              <a:chExt cx="6867795" cy="1031566"/>
            </a:xfrm>
          </p:grpSpPr>
          <p:sp>
            <p:nvSpPr>
              <p:cNvPr id="5" name="TextBox 4"/>
              <p:cNvSpPr txBox="1"/>
              <p:nvPr/>
            </p:nvSpPr>
            <p:spPr>
              <a:xfrm>
                <a:off x="6113920" y="3150202"/>
                <a:ext cx="3523850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[-1.0, 1.0[</a:t>
                </a:r>
              </a:p>
            </p:txBody>
          </p:sp>
          <p:cxnSp>
            <p:nvCxnSpPr>
              <p:cNvPr id="7" name="Straight Arrow Connector 6"/>
              <p:cNvCxnSpPr>
                <a:cxnSpLocks/>
                <a:stCxn id="5" idx="1"/>
                <a:endCxn id="4" idx="0"/>
              </p:cNvCxnSpPr>
              <p:nvPr/>
            </p:nvCxnSpPr>
            <p:spPr>
              <a:xfrm flipH="1">
                <a:off x="2769975" y="3611867"/>
                <a:ext cx="3343945" cy="56990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2FA142D-2A44-E8DC-ABEE-B186D6A48F09}"/>
              </a:ext>
            </a:extLst>
          </p:cNvPr>
          <p:cNvSpPr txBox="1"/>
          <p:nvPr/>
        </p:nvSpPr>
        <p:spPr>
          <a:xfrm>
            <a:off x="1745089" y="2321708"/>
            <a:ext cx="61112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default_rng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880447-0CD9-28A8-7D51-E23DDB90253D}"/>
              </a:ext>
            </a:extLst>
          </p:cNvPr>
          <p:cNvSpPr txBox="1"/>
          <p:nvPr/>
        </p:nvSpPr>
        <p:spPr>
          <a:xfrm>
            <a:off x="1745089" y="3317457"/>
            <a:ext cx="61112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default_rng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(seed=1234)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54BFC3D-0F4F-7B6D-8523-3C6D4CE8590A}"/>
              </a:ext>
            </a:extLst>
          </p:cNvPr>
          <p:cNvGrpSpPr/>
          <p:nvPr/>
        </p:nvGrpSpPr>
        <p:grpSpPr>
          <a:xfrm>
            <a:off x="1745089" y="4563291"/>
            <a:ext cx="9608711" cy="1254242"/>
            <a:chOff x="1745090" y="2958884"/>
            <a:chExt cx="9608711" cy="125424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6C47E28-C768-8BA6-0FAB-6E550070405E}"/>
                </a:ext>
              </a:extLst>
            </p:cNvPr>
            <p:cNvSpPr txBox="1"/>
            <p:nvPr/>
          </p:nvSpPr>
          <p:spPr>
            <a:xfrm>
              <a:off x="1745090" y="3843794"/>
              <a:ext cx="6111287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rng.normal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(loc=1.0, scale=0.1, (5, 4))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A609370-B3C8-A298-7B4D-EA408816DD88}"/>
                </a:ext>
              </a:extLst>
            </p:cNvPr>
            <p:cNvGrpSpPr/>
            <p:nvPr/>
          </p:nvGrpSpPr>
          <p:grpSpPr>
            <a:xfrm>
              <a:off x="4800734" y="2958884"/>
              <a:ext cx="6553067" cy="1200329"/>
              <a:chOff x="2769975" y="3296858"/>
              <a:chExt cx="6553067" cy="1200329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AE5220E-5AFC-5838-4084-D98C06ABFD4E}"/>
                  </a:ext>
                </a:extLst>
              </p:cNvPr>
              <p:cNvSpPr txBox="1"/>
              <p:nvPr/>
            </p:nvSpPr>
            <p:spPr>
              <a:xfrm>
                <a:off x="6242712" y="3296858"/>
                <a:ext cx="3080330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5 × 4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normal</a:t>
                </a:r>
                <a:br>
                  <a:rPr lang="en-US" dirty="0"/>
                </a:br>
                <a:r>
                  <a:rPr lang="en-US" dirty="0"/>
                  <a:t>distribution with mean 1.0 and</a:t>
                </a:r>
                <a:br>
                  <a:rPr lang="en-US" dirty="0"/>
                </a:br>
                <a:r>
                  <a:rPr lang="en-US" dirty="0"/>
                  <a:t>standard deviation 0.1</a:t>
                </a:r>
              </a:p>
            </p:txBody>
          </p: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2D00016C-8A10-64CF-6225-E2EA64184EA0}"/>
                  </a:ext>
                </a:extLst>
              </p:cNvPr>
              <p:cNvCxnSpPr>
                <a:cxnSpLocks/>
                <a:stCxn id="21" idx="1"/>
                <a:endCxn id="18" idx="0"/>
              </p:cNvCxnSpPr>
              <p:nvPr/>
            </p:nvCxnSpPr>
            <p:spPr>
              <a:xfrm flipH="1">
                <a:off x="2769975" y="3897023"/>
                <a:ext cx="3472737" cy="28474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11257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73031" y="1600200"/>
            <a:ext cx="8229600" cy="5141168"/>
          </a:xfrm>
        </p:spPr>
        <p:txBody>
          <a:bodyPr>
            <a:normAutofit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np.float16, np.float32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endParaRPr lang="en-US" dirty="0"/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endParaRPr lang="en-US" dirty="0"/>
          </a:p>
          <a:p>
            <a:r>
              <a:rPr lang="en-US" dirty="0"/>
              <a:t>Boolean values: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07E8568-F819-8670-89EE-62BC9DECFF85}"/>
              </a:ext>
            </a:extLst>
          </p:cNvPr>
          <p:cNvGrpSpPr/>
          <p:nvPr/>
        </p:nvGrpSpPr>
        <p:grpSpPr>
          <a:xfrm>
            <a:off x="251333" y="3961547"/>
            <a:ext cx="2286000" cy="1142298"/>
            <a:chOff x="0" y="3961547"/>
            <a:chExt cx="2286000" cy="114229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6CC1E90-816F-1B42-4266-531CB54DD481}"/>
                </a:ext>
              </a:extLst>
            </p:cNvPr>
            <p:cNvSpPr txBox="1"/>
            <p:nvPr/>
          </p:nvSpPr>
          <p:spPr>
            <a:xfrm>
              <a:off x="0" y="3961547"/>
              <a:ext cx="2041136" cy="646331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 quad-precision,</a:t>
              </a:r>
              <a:br>
                <a:rPr lang="en-US" dirty="0"/>
              </a:br>
              <a:r>
                <a:rPr lang="en-US" dirty="0"/>
                <a:t>not portable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33DA0B7-4AED-C8CB-F11A-F3DB5F8F6DB2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 flipV="1">
              <a:off x="2041136" y="4086808"/>
              <a:ext cx="244864" cy="197905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7C9AB5A-22B3-0704-562A-A8C6459282C5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2041136" y="4284713"/>
              <a:ext cx="244864" cy="819132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15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8565"/>
            <a:ext cx="3288511" cy="435133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`</a:t>
                </a:r>
                <a:endParaRPr lang="LID4096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blipFill>
                <a:blip r:embed="rId3"/>
                <a:stretch>
                  <a:fillRect r="-816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4996788" y="2693709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7813" r="-4688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7692" r="-6154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4996788" y="3016251"/>
            <a:ext cx="1513800" cy="646334"/>
            <a:chOff x="5637068" y="2989562"/>
            <a:chExt cx="1513800" cy="646334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1</a:t>
              </a:r>
              <a:endParaRPr lang="LID4096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6613752" y="3016251"/>
            <a:ext cx="1513800" cy="646334"/>
            <a:chOff x="7254032" y="2989562"/>
            <a:chExt cx="1513800" cy="646334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2</a:t>
              </a:r>
              <a:endParaRPr lang="LID4096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9261807" y="3016251"/>
            <a:ext cx="1513800" cy="646334"/>
            <a:chOff x="9902087" y="2989562"/>
            <a:chExt cx="1513800" cy="646334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4"/>
              <a:ext cx="784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</a:t>
              </a:r>
              <a:r>
                <a:rPr lang="en-US" i="1" dirty="0"/>
                <a:t>m</a:t>
              </a:r>
              <a:endParaRPr lang="LID4096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4876723" y="4570998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4876723" y="4893540"/>
            <a:ext cx="1513800" cy="646334"/>
            <a:chOff x="5637068" y="2989562"/>
            <a:chExt cx="1513800" cy="646334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6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1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6493687" y="4893540"/>
            <a:ext cx="1513800" cy="646334"/>
            <a:chOff x="7254032" y="2989562"/>
            <a:chExt cx="1513800" cy="646334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2</a:t>
              </a:r>
              <a:endParaRPr lang="LID4096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9141742" y="4893540"/>
            <a:ext cx="1513800" cy="646334"/>
            <a:chOff x="9902087" y="2989562"/>
            <a:chExt cx="1513800" cy="646334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4"/>
              <a:ext cx="1054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</a:t>
              </a:r>
              <a:r>
                <a:rPr lang="en-US" i="1" dirty="0"/>
                <a:t>n</a:t>
              </a:r>
              <a:endParaRPr lang="LID4096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6003344" y="5869903"/>
            <a:ext cx="3996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Access elements contiguously!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428890" cy="4351338"/>
          </a:xfrm>
        </p:spPr>
        <p:txBody>
          <a:bodyPr>
            <a:normAutofit fontScale="925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copies;</a:t>
            </a:r>
            <a:br>
              <a:rPr lang="en-US" dirty="0"/>
            </a:br>
            <a:r>
              <a:rPr lang="en-US" dirty="0"/>
              <a:t>check documentation carefully;</a:t>
            </a:r>
            <a:br>
              <a:rPr lang="en-US" dirty="0"/>
            </a:br>
            <a:r>
              <a:rPr lang="en-US" dirty="0"/>
              <a:t>also see</a:t>
            </a:r>
            <a:br>
              <a:rPr lang="en-US" dirty="0"/>
            </a:br>
            <a:r>
              <a:rPr lang="en-US" sz="2200" dirty="0">
                <a:hlinkClick r:id="rId2"/>
              </a:rPr>
              <a:t>https://github.com/gjbex/Scientific-Python/blob/master/source-code/numpy/views.ipynb</a:t>
            </a:r>
            <a:r>
              <a:rPr lang="en-US" sz="2200" dirty="0"/>
              <a:t> </a:t>
            </a:r>
            <a:endParaRPr lang="nl-BE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r>
              <a:rPr lang="en-US" dirty="0"/>
              <a:t>Broadcasting, see</a:t>
            </a:r>
            <a:br>
              <a:rPr lang="en-US" dirty="0"/>
            </a:br>
            <a:r>
              <a:rPr lang="en-US" sz="2400" dirty="0">
                <a:hlinkClick r:id="rId2"/>
              </a:rPr>
              <a:t>https://github.com/gjbex/Scientific-Python/blob/master/source-code/numpy/broadcast.ipynb</a:t>
            </a:r>
            <a:r>
              <a:rPr lang="en-US" dirty="0"/>
              <a:t> 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440589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7DEF166-5E80-901E-315D-7A0A70C938F7}"/>
              </a:ext>
            </a:extLst>
          </p:cNvPr>
          <p:cNvGrpSpPr/>
          <p:nvPr/>
        </p:nvGrpSpPr>
        <p:grpSpPr>
          <a:xfrm>
            <a:off x="2279576" y="4781913"/>
            <a:ext cx="8868530" cy="646331"/>
            <a:chOff x="2279576" y="5040706"/>
            <a:chExt cx="8868530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8627826" y="5040706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79576" y="5149133"/>
              <a:ext cx="577462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 @ 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C5F7B-EC7F-CD86-5861-CE0ABE520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 functions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B79AF-912B-0534-F1DA-B6021771B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102424"/>
            <a:ext cx="10515600" cy="2747963"/>
          </a:xfrm>
        </p:spPr>
        <p:txBody>
          <a:bodyPr/>
          <a:lstStyle/>
          <a:p>
            <a:r>
              <a:rPr lang="en-US" dirty="0"/>
              <a:t>Sum of columns</a:t>
            </a:r>
          </a:p>
          <a:p>
            <a:endParaRPr lang="en-US" dirty="0"/>
          </a:p>
          <a:p>
            <a:r>
              <a:rPr lang="en-US" dirty="0"/>
              <a:t>Sum of rows</a:t>
            </a:r>
          </a:p>
          <a:p>
            <a:endParaRPr lang="en-US" dirty="0"/>
          </a:p>
          <a:p>
            <a:r>
              <a:rPr lang="en-US" dirty="0"/>
              <a:t>Sum of all elements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A14C7E-39D9-A7FB-CBAF-A6A49F96213E}"/>
              </a:ext>
            </a:extLst>
          </p:cNvPr>
          <p:cNvSpPr txBox="1"/>
          <p:nvPr/>
        </p:nvSpPr>
        <p:spPr>
          <a:xfrm>
            <a:off x="1458481" y="1773826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(24).reshape(4, -1)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31128-47FB-7EDD-0367-BCD622C9630F}"/>
              </a:ext>
            </a:extLst>
          </p:cNvPr>
          <p:cNvSpPr txBox="1"/>
          <p:nvPr/>
        </p:nvSpPr>
        <p:spPr>
          <a:xfrm>
            <a:off x="7987004" y="1387022"/>
            <a:ext cx="3601616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1  2  3  4  5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6  7  8  9 10 11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12 13 14 15 16 17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18 19 20 21 22 23 ]]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EF19DD-8A27-75A9-2F6E-5FB4219E8974}"/>
              </a:ext>
            </a:extLst>
          </p:cNvPr>
          <p:cNvSpPr txBox="1"/>
          <p:nvPr/>
        </p:nvSpPr>
        <p:spPr>
          <a:xfrm>
            <a:off x="1458481" y="3629385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(axis=0)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102A7C-36E1-C848-96D0-54A2D7881E08}"/>
              </a:ext>
            </a:extLst>
          </p:cNvPr>
          <p:cNvSpPr txBox="1"/>
          <p:nvPr/>
        </p:nvSpPr>
        <p:spPr>
          <a:xfrm>
            <a:off x="7987004" y="3674719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 36 40 44 48 52 56 ]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D95DBD-9719-0135-EDDD-D8FAF5293743}"/>
              </a:ext>
            </a:extLst>
          </p:cNvPr>
          <p:cNvSpPr txBox="1"/>
          <p:nvPr/>
        </p:nvSpPr>
        <p:spPr>
          <a:xfrm>
            <a:off x="1458481" y="4555220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(axis=1)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E78634-7FF0-FA3C-654F-D36A67A0CAD0}"/>
              </a:ext>
            </a:extLst>
          </p:cNvPr>
          <p:cNvSpPr txBox="1"/>
          <p:nvPr/>
        </p:nvSpPr>
        <p:spPr>
          <a:xfrm>
            <a:off x="7987004" y="4555220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 15 51 87 123 ]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89245E-A2AA-6FF6-DFB7-47175E8586F6}"/>
              </a:ext>
            </a:extLst>
          </p:cNvPr>
          <p:cNvSpPr txBox="1"/>
          <p:nvPr/>
        </p:nvSpPr>
        <p:spPr>
          <a:xfrm>
            <a:off x="1458481" y="5615993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19FB1-BFA2-BD93-5B4C-7A1804659CE7}"/>
              </a:ext>
            </a:extLst>
          </p:cNvPr>
          <p:cNvSpPr txBox="1"/>
          <p:nvPr/>
        </p:nvSpPr>
        <p:spPr>
          <a:xfrm>
            <a:off x="7987004" y="5615993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276</a:t>
            </a:r>
          </a:p>
        </p:txBody>
      </p:sp>
      <p:sp>
        <p:nvSpPr>
          <p:cNvPr id="17" name="Slide Number Placeholder 12">
            <a:extLst>
              <a:ext uri="{FF2B5EF4-FFF2-40B4-BE49-F238E27FC236}">
                <a16:creationId xmlns:a16="http://schemas.microsoft.com/office/drawing/2014/main" id="{CB6841B4-072C-73DD-8859-BCF45A57C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638025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0" grpId="0" animBg="1"/>
      <p:bldP spid="11" grpId="0" animBg="1"/>
      <p:bldP spid="13" grpId="0" animBg="1"/>
      <p:bldP spid="14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eigenvalues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563341" cy="1014871"/>
            <a:chOff x="7164288" y="4766367"/>
            <a:chExt cx="156334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some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502701"/>
            <a:ext cx="7584680" cy="369331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solution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t_span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y0=(theta0, omega0),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t_eval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method="RK45",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not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solution.success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5085184" y="4984478"/>
            <a:ext cx="3195102" cy="646331"/>
            <a:chOff x="5688563" y="2422629"/>
            <a:chExt cx="3195102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cxnSpLocks/>
              <a:stCxn id="6" idx="1"/>
            </p:cNvCxnSpPr>
            <p:nvPr/>
          </p:nvCxnSpPr>
          <p:spPr>
            <a:xfrm flipH="1" flipV="1">
              <a:off x="5688563" y="2422629"/>
              <a:ext cx="1187693" cy="3231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Create figure/axis, add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1708819" y="2538461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8819" y="3820590"/>
            <a:ext cx="4197927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Figure, axis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08819" y="5102719"/>
            <a:ext cx="4197926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708818" y="6176963"/>
            <a:ext cx="419792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1769" y="2332361"/>
            <a:ext cx="5423279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1770" y="4436523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47970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6089792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359474" y="2432310"/>
            <a:ext cx="36311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9475" y="3995042"/>
            <a:ext cx="3631122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2064122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285011" y="5332459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172347" y="2368807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72347" y="3887558"/>
            <a:ext cx="4320413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bins,density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=True,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='$x$',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='$P(x)$',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matploblib.pyplot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21543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7327043" y="3073198"/>
            <a:ext cx="3064311" cy="31037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1612868" y="2431633"/>
            <a:ext cx="8456161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subplot_kw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={'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': '3d'})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A949217-192E-FD38-D73F-EB1AA5DF4B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5539" y="3396366"/>
            <a:ext cx="3887378" cy="2915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A3B84-3E49-8908-D1BF-BBA5DCF52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plots I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28944B-797E-FD7B-0947-78EB3A95B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data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513796-161C-F585-4D6F-B9E7B3BF35AF}"/>
              </a:ext>
            </a:extLst>
          </p:cNvPr>
          <p:cNvSpPr txBox="1"/>
          <p:nvPr/>
        </p:nvSpPr>
        <p:spPr>
          <a:xfrm>
            <a:off x="838200" y="2367108"/>
            <a:ext cx="9696885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t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1001)</a:t>
            </a:r>
          </a:p>
          <a:p>
            <a:r>
              <a:rPr lang="el-GR" dirty="0">
                <a:latin typeface="Courier New" panose="02070309020205020404" pitchFamily="49" charset="0"/>
                <a:cs typeface="Courier New" panose="02070309020205020404" pitchFamily="49" charset="0"/>
              </a:rPr>
              <a:t>μ_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np.array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([0.0, 0.1, 0.3])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np.stack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*t)*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el-GR" dirty="0">
                <a:latin typeface="Courier New" panose="02070309020205020404" pitchFamily="49" charset="0"/>
                <a:cs typeface="Courier New" panose="02070309020205020404" pitchFamily="49" charset="0"/>
              </a:rPr>
              <a:t>μ_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[:, None]*t),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*t)*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el-GR" dirty="0">
                <a:latin typeface="Courier New" panose="02070309020205020404" pitchFamily="49" charset="0"/>
                <a:cs typeface="Courier New" panose="02070309020205020404" pitchFamily="49" charset="0"/>
              </a:rPr>
              <a:t>μ_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[:, None]*t) + \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0.1*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+ 0.7)*t)*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el-GR" dirty="0">
                <a:latin typeface="Courier New" panose="02070309020205020404" pitchFamily="49" charset="0"/>
                <a:cs typeface="Courier New" panose="02070309020205020404" pitchFamily="49" charset="0"/>
              </a:rPr>
              <a:t>μ_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[:, None]*t),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4D7900B-D8ED-6C0B-3802-23D448CC23C5}"/>
              </a:ext>
            </a:extLst>
          </p:cNvPr>
          <p:cNvGrpSpPr/>
          <p:nvPr/>
        </p:nvGrpSpPr>
        <p:grpSpPr>
          <a:xfrm>
            <a:off x="758738" y="4211964"/>
            <a:ext cx="2541593" cy="1845947"/>
            <a:chOff x="6242712" y="2651240"/>
            <a:chExt cx="2541593" cy="184594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7073992-3D23-E58E-D9E6-38022B21DB88}"/>
                </a:ext>
              </a:extLst>
            </p:cNvPr>
            <p:cNvSpPr txBox="1"/>
            <p:nvPr/>
          </p:nvSpPr>
          <p:spPr>
            <a:xfrm>
              <a:off x="6242712" y="3296858"/>
              <a:ext cx="2541593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2 × 3 × 1001 array,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axis 0: functions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axis 1: </a:t>
              </a:r>
              <a:r>
                <a:rPr lang="en-US" dirty="0">
                  <a:sym typeface="Symbol" panose="05050102010706020507" pitchFamily="18" charset="2"/>
                </a:rPr>
                <a:t></a:t>
              </a:r>
              <a:r>
                <a:rPr lang="en-US" dirty="0"/>
                <a:t> values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axis 2: time values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34F1159-F349-356B-A7CF-218A7F562DAE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H="1" flipV="1">
              <a:off x="6728818" y="2651240"/>
              <a:ext cx="784691" cy="64561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C48E66-9795-0E7D-2885-DEEA914CB9DA}"/>
              </a:ext>
            </a:extLst>
          </p:cNvPr>
          <p:cNvGrpSpPr/>
          <p:nvPr/>
        </p:nvGrpSpPr>
        <p:grpSpPr>
          <a:xfrm>
            <a:off x="8130713" y="4190163"/>
            <a:ext cx="1937966" cy="1314107"/>
            <a:chOff x="6242712" y="2352083"/>
            <a:chExt cx="1937966" cy="1314107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5CA557A-9583-16CE-6E83-F2DB71BCAB4D}"/>
                </a:ext>
              </a:extLst>
            </p:cNvPr>
            <p:cNvSpPr txBox="1"/>
            <p:nvPr/>
          </p:nvSpPr>
          <p:spPr>
            <a:xfrm>
              <a:off x="6242712" y="3296858"/>
              <a:ext cx="1937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broadcast </a:t>
              </a:r>
              <a:r>
                <a:rPr lang="en-US" dirty="0">
                  <a:sym typeface="Symbol" panose="05050102010706020507" pitchFamily="18" charset="2"/>
                </a:rPr>
                <a:t></a:t>
              </a:r>
              <a:r>
                <a:rPr lang="en-US" dirty="0"/>
                <a:t> values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24635655-6937-6EF9-E96A-C9950EA7A51A}"/>
                </a:ext>
              </a:extLst>
            </p:cNvPr>
            <p:cNvCxnSpPr>
              <a:cxnSpLocks/>
              <a:stCxn id="13" idx="0"/>
            </p:cNvCxnSpPr>
            <p:nvPr/>
          </p:nvCxnSpPr>
          <p:spPr>
            <a:xfrm flipV="1">
              <a:off x="7211695" y="2352083"/>
              <a:ext cx="727592" cy="9447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096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674C7-E054-2306-1C82-F84C7A083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plots II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A455FB-2BEC-8B36-7229-54A622833D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data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A30DC8-996B-77AD-8665-6E3BD03EB0D2}"/>
              </a:ext>
            </a:extLst>
          </p:cNvPr>
          <p:cNvSpPr txBox="1"/>
          <p:nvPr/>
        </p:nvSpPr>
        <p:spPr>
          <a:xfrm>
            <a:off x="1262238" y="2350597"/>
            <a:ext cx="4871847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nrows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ncols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=(10, 3),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layout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constrained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np.ndindex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axes.shape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].plot(t, Y[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13D5B3-2FF0-7521-CF28-5D18B3763D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2426" y="4508324"/>
            <a:ext cx="7251569" cy="2175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940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</a:t>
            </a:r>
            <a:br>
              <a:rPr lang="en-US" dirty="0"/>
            </a:br>
            <a:r>
              <a:rPr lang="en-US" dirty="0" err="1"/>
              <a:t>PyTables</a:t>
            </a:r>
            <a:r>
              <a:rPr lang="en-US" dirty="0"/>
              <a:t> &amp;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tables</a:t>
            </a:r>
          </a:p>
          <a:p>
            <a:pPr lvl="1"/>
            <a:r>
              <a:rPr lang="en-US" dirty="0"/>
              <a:t>if necessary (usually not, unless when using compounds), import specific functions, classes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5561138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tables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Int32Col, Float64Col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280D2-1C58-4640-A15B-8CE239A92479}"/>
              </a:ext>
            </a:extLst>
          </p:cNvPr>
          <p:cNvSpPr txBox="1"/>
          <p:nvPr/>
        </p:nvSpPr>
        <p:spPr>
          <a:xfrm rot="20102839">
            <a:off x="1974078" y="3647350"/>
            <a:ext cx="6872074" cy="707886"/>
          </a:xfrm>
          <a:custGeom>
            <a:avLst/>
            <a:gdLst>
              <a:gd name="csX0" fmla="*/ 0 w 6872074"/>
              <a:gd name="csY0" fmla="*/ 0 h 707886"/>
              <a:gd name="csX1" fmla="*/ 618487 w 6872074"/>
              <a:gd name="csY1" fmla="*/ 0 h 707886"/>
              <a:gd name="csX2" fmla="*/ 1305694 w 6872074"/>
              <a:gd name="csY2" fmla="*/ 0 h 707886"/>
              <a:gd name="csX3" fmla="*/ 1924181 w 6872074"/>
              <a:gd name="csY3" fmla="*/ 0 h 707886"/>
              <a:gd name="csX4" fmla="*/ 2542667 w 6872074"/>
              <a:gd name="csY4" fmla="*/ 0 h 707886"/>
              <a:gd name="csX5" fmla="*/ 3229875 w 6872074"/>
              <a:gd name="csY5" fmla="*/ 0 h 707886"/>
              <a:gd name="csX6" fmla="*/ 4054524 w 6872074"/>
              <a:gd name="csY6" fmla="*/ 0 h 707886"/>
              <a:gd name="csX7" fmla="*/ 4741731 w 6872074"/>
              <a:gd name="csY7" fmla="*/ 0 h 707886"/>
              <a:gd name="csX8" fmla="*/ 5428938 w 6872074"/>
              <a:gd name="csY8" fmla="*/ 0 h 707886"/>
              <a:gd name="csX9" fmla="*/ 6253587 w 6872074"/>
              <a:gd name="csY9" fmla="*/ 0 h 707886"/>
              <a:gd name="csX10" fmla="*/ 6872074 w 6872074"/>
              <a:gd name="csY10" fmla="*/ 0 h 707886"/>
              <a:gd name="csX11" fmla="*/ 6872074 w 6872074"/>
              <a:gd name="csY11" fmla="*/ 361022 h 707886"/>
              <a:gd name="csX12" fmla="*/ 6872074 w 6872074"/>
              <a:gd name="csY12" fmla="*/ 707886 h 707886"/>
              <a:gd name="csX13" fmla="*/ 6047425 w 6872074"/>
              <a:gd name="csY13" fmla="*/ 707886 h 707886"/>
              <a:gd name="csX14" fmla="*/ 5360218 w 6872074"/>
              <a:gd name="csY14" fmla="*/ 707886 h 707886"/>
              <a:gd name="csX15" fmla="*/ 4879173 w 6872074"/>
              <a:gd name="csY15" fmla="*/ 707886 h 707886"/>
              <a:gd name="csX16" fmla="*/ 4260686 w 6872074"/>
              <a:gd name="csY16" fmla="*/ 707886 h 707886"/>
              <a:gd name="csX17" fmla="*/ 3642199 w 6872074"/>
              <a:gd name="csY17" fmla="*/ 707886 h 707886"/>
              <a:gd name="csX18" fmla="*/ 2817550 w 6872074"/>
              <a:gd name="csY18" fmla="*/ 707886 h 707886"/>
              <a:gd name="csX19" fmla="*/ 2267784 w 6872074"/>
              <a:gd name="csY19" fmla="*/ 707886 h 707886"/>
              <a:gd name="csX20" fmla="*/ 1786739 w 6872074"/>
              <a:gd name="csY20" fmla="*/ 707886 h 707886"/>
              <a:gd name="csX21" fmla="*/ 1168253 w 6872074"/>
              <a:gd name="csY21" fmla="*/ 707886 h 707886"/>
              <a:gd name="csX22" fmla="*/ 687207 w 6872074"/>
              <a:gd name="csY22" fmla="*/ 707886 h 707886"/>
              <a:gd name="csX23" fmla="*/ 0 w 6872074"/>
              <a:gd name="csY23" fmla="*/ 707886 h 707886"/>
              <a:gd name="csX24" fmla="*/ 0 w 6872074"/>
              <a:gd name="csY24" fmla="*/ 375180 h 707886"/>
              <a:gd name="csX25" fmla="*/ 0 w 6872074"/>
              <a:gd name="csY25" fmla="*/ 0 h 7078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6872074" h="707886" fill="none" extrusionOk="0">
                <a:moveTo>
                  <a:pt x="0" y="0"/>
                </a:moveTo>
                <a:cubicBezTo>
                  <a:pt x="136646" y="-17527"/>
                  <a:pt x="358551" y="-14630"/>
                  <a:pt x="618487" y="0"/>
                </a:cubicBezTo>
                <a:cubicBezTo>
                  <a:pt x="878423" y="14630"/>
                  <a:pt x="1071557" y="27526"/>
                  <a:pt x="1305694" y="0"/>
                </a:cubicBezTo>
                <a:cubicBezTo>
                  <a:pt x="1539831" y="-27526"/>
                  <a:pt x="1795744" y="-28300"/>
                  <a:pt x="1924181" y="0"/>
                </a:cubicBezTo>
                <a:cubicBezTo>
                  <a:pt x="2052618" y="28300"/>
                  <a:pt x="2363036" y="15839"/>
                  <a:pt x="2542667" y="0"/>
                </a:cubicBezTo>
                <a:cubicBezTo>
                  <a:pt x="2722298" y="-15839"/>
                  <a:pt x="2991740" y="-22879"/>
                  <a:pt x="3229875" y="0"/>
                </a:cubicBezTo>
                <a:cubicBezTo>
                  <a:pt x="3468010" y="22879"/>
                  <a:pt x="3844300" y="-23838"/>
                  <a:pt x="4054524" y="0"/>
                </a:cubicBezTo>
                <a:cubicBezTo>
                  <a:pt x="4264748" y="23838"/>
                  <a:pt x="4484129" y="-6518"/>
                  <a:pt x="4741731" y="0"/>
                </a:cubicBezTo>
                <a:cubicBezTo>
                  <a:pt x="4999333" y="6518"/>
                  <a:pt x="5236373" y="17497"/>
                  <a:pt x="5428938" y="0"/>
                </a:cubicBezTo>
                <a:cubicBezTo>
                  <a:pt x="5621503" y="-17497"/>
                  <a:pt x="5887692" y="30237"/>
                  <a:pt x="6253587" y="0"/>
                </a:cubicBezTo>
                <a:cubicBezTo>
                  <a:pt x="6619482" y="-30237"/>
                  <a:pt x="6700969" y="17402"/>
                  <a:pt x="6872074" y="0"/>
                </a:cubicBezTo>
                <a:cubicBezTo>
                  <a:pt x="6886498" y="138660"/>
                  <a:pt x="6859593" y="208533"/>
                  <a:pt x="6872074" y="361022"/>
                </a:cubicBezTo>
                <a:cubicBezTo>
                  <a:pt x="6884555" y="513511"/>
                  <a:pt x="6874611" y="548909"/>
                  <a:pt x="6872074" y="707886"/>
                </a:cubicBezTo>
                <a:cubicBezTo>
                  <a:pt x="6487127" y="667878"/>
                  <a:pt x="6278888" y="690503"/>
                  <a:pt x="6047425" y="707886"/>
                </a:cubicBezTo>
                <a:cubicBezTo>
                  <a:pt x="5815962" y="725269"/>
                  <a:pt x="5556721" y="718099"/>
                  <a:pt x="5360218" y="707886"/>
                </a:cubicBezTo>
                <a:cubicBezTo>
                  <a:pt x="5163715" y="697673"/>
                  <a:pt x="5046178" y="690057"/>
                  <a:pt x="4879173" y="707886"/>
                </a:cubicBezTo>
                <a:cubicBezTo>
                  <a:pt x="4712168" y="725715"/>
                  <a:pt x="4411440" y="735021"/>
                  <a:pt x="4260686" y="707886"/>
                </a:cubicBezTo>
                <a:cubicBezTo>
                  <a:pt x="4109932" y="680751"/>
                  <a:pt x="3831377" y="737060"/>
                  <a:pt x="3642199" y="707886"/>
                </a:cubicBezTo>
                <a:cubicBezTo>
                  <a:pt x="3453021" y="678712"/>
                  <a:pt x="3210967" y="722001"/>
                  <a:pt x="2817550" y="707886"/>
                </a:cubicBezTo>
                <a:cubicBezTo>
                  <a:pt x="2424133" y="693771"/>
                  <a:pt x="2507062" y="711183"/>
                  <a:pt x="2267784" y="707886"/>
                </a:cubicBezTo>
                <a:cubicBezTo>
                  <a:pt x="2028506" y="704589"/>
                  <a:pt x="1995463" y="715237"/>
                  <a:pt x="1786739" y="707886"/>
                </a:cubicBezTo>
                <a:cubicBezTo>
                  <a:pt x="1578015" y="700535"/>
                  <a:pt x="1456594" y="689934"/>
                  <a:pt x="1168253" y="707886"/>
                </a:cubicBezTo>
                <a:cubicBezTo>
                  <a:pt x="879912" y="725838"/>
                  <a:pt x="850895" y="717641"/>
                  <a:pt x="687207" y="707886"/>
                </a:cubicBezTo>
                <a:cubicBezTo>
                  <a:pt x="523519" y="698131"/>
                  <a:pt x="178357" y="678667"/>
                  <a:pt x="0" y="707886"/>
                </a:cubicBezTo>
                <a:cubicBezTo>
                  <a:pt x="1272" y="623479"/>
                  <a:pt x="10355" y="495355"/>
                  <a:pt x="0" y="375180"/>
                </a:cubicBezTo>
                <a:cubicBezTo>
                  <a:pt x="-10355" y="255005"/>
                  <a:pt x="17166" y="97108"/>
                  <a:pt x="0" y="0"/>
                </a:cubicBezTo>
                <a:close/>
              </a:path>
              <a:path w="6872074" h="707886" stroke="0" extrusionOk="0">
                <a:moveTo>
                  <a:pt x="0" y="0"/>
                </a:moveTo>
                <a:cubicBezTo>
                  <a:pt x="300816" y="27948"/>
                  <a:pt x="318609" y="-146"/>
                  <a:pt x="618487" y="0"/>
                </a:cubicBezTo>
                <a:cubicBezTo>
                  <a:pt x="918365" y="146"/>
                  <a:pt x="939379" y="22187"/>
                  <a:pt x="1236973" y="0"/>
                </a:cubicBezTo>
                <a:cubicBezTo>
                  <a:pt x="1534567" y="-22187"/>
                  <a:pt x="1752647" y="12239"/>
                  <a:pt x="2061622" y="0"/>
                </a:cubicBezTo>
                <a:cubicBezTo>
                  <a:pt x="2370597" y="-12239"/>
                  <a:pt x="2372513" y="-23166"/>
                  <a:pt x="2542667" y="0"/>
                </a:cubicBezTo>
                <a:cubicBezTo>
                  <a:pt x="2712822" y="23166"/>
                  <a:pt x="2909474" y="11163"/>
                  <a:pt x="3092433" y="0"/>
                </a:cubicBezTo>
                <a:cubicBezTo>
                  <a:pt x="3275392" y="-11163"/>
                  <a:pt x="3474170" y="-23735"/>
                  <a:pt x="3710920" y="0"/>
                </a:cubicBezTo>
                <a:cubicBezTo>
                  <a:pt x="3947670" y="23735"/>
                  <a:pt x="4081787" y="-9516"/>
                  <a:pt x="4329407" y="0"/>
                </a:cubicBezTo>
                <a:cubicBezTo>
                  <a:pt x="4577027" y="9516"/>
                  <a:pt x="4607044" y="20181"/>
                  <a:pt x="4810452" y="0"/>
                </a:cubicBezTo>
                <a:cubicBezTo>
                  <a:pt x="5013860" y="-20181"/>
                  <a:pt x="5246766" y="-6387"/>
                  <a:pt x="5566380" y="0"/>
                </a:cubicBezTo>
                <a:cubicBezTo>
                  <a:pt x="5885994" y="6387"/>
                  <a:pt x="5932938" y="-30771"/>
                  <a:pt x="6253587" y="0"/>
                </a:cubicBezTo>
                <a:cubicBezTo>
                  <a:pt x="6574236" y="30771"/>
                  <a:pt x="6619400" y="-6721"/>
                  <a:pt x="6872074" y="0"/>
                </a:cubicBezTo>
                <a:cubicBezTo>
                  <a:pt x="6869947" y="117185"/>
                  <a:pt x="6875658" y="262182"/>
                  <a:pt x="6872074" y="361022"/>
                </a:cubicBezTo>
                <a:cubicBezTo>
                  <a:pt x="6868490" y="459862"/>
                  <a:pt x="6872599" y="599467"/>
                  <a:pt x="6872074" y="707886"/>
                </a:cubicBezTo>
                <a:cubicBezTo>
                  <a:pt x="6666990" y="725183"/>
                  <a:pt x="6483564" y="700113"/>
                  <a:pt x="6322308" y="707886"/>
                </a:cubicBezTo>
                <a:cubicBezTo>
                  <a:pt x="6161052" y="715659"/>
                  <a:pt x="5940598" y="689715"/>
                  <a:pt x="5841263" y="707886"/>
                </a:cubicBezTo>
                <a:cubicBezTo>
                  <a:pt x="5741928" y="726057"/>
                  <a:pt x="5350561" y="691440"/>
                  <a:pt x="5222776" y="707886"/>
                </a:cubicBezTo>
                <a:cubicBezTo>
                  <a:pt x="5094991" y="724332"/>
                  <a:pt x="4720279" y="717301"/>
                  <a:pt x="4535569" y="707886"/>
                </a:cubicBezTo>
                <a:cubicBezTo>
                  <a:pt x="4350859" y="698471"/>
                  <a:pt x="4176983" y="734713"/>
                  <a:pt x="3917082" y="707886"/>
                </a:cubicBezTo>
                <a:cubicBezTo>
                  <a:pt x="3657181" y="681059"/>
                  <a:pt x="3441051" y="677653"/>
                  <a:pt x="3298596" y="707886"/>
                </a:cubicBezTo>
                <a:cubicBezTo>
                  <a:pt x="3156141" y="738119"/>
                  <a:pt x="2898612" y="699266"/>
                  <a:pt x="2748830" y="707886"/>
                </a:cubicBezTo>
                <a:cubicBezTo>
                  <a:pt x="2599048" y="716506"/>
                  <a:pt x="2359239" y="719734"/>
                  <a:pt x="2199064" y="707886"/>
                </a:cubicBezTo>
                <a:cubicBezTo>
                  <a:pt x="2038889" y="696038"/>
                  <a:pt x="1716329" y="670601"/>
                  <a:pt x="1443136" y="707886"/>
                </a:cubicBezTo>
                <a:cubicBezTo>
                  <a:pt x="1169943" y="745171"/>
                  <a:pt x="980157" y="719548"/>
                  <a:pt x="824649" y="707886"/>
                </a:cubicBezTo>
                <a:cubicBezTo>
                  <a:pt x="669141" y="696224"/>
                  <a:pt x="344456" y="683725"/>
                  <a:pt x="0" y="707886"/>
                </a:cubicBezTo>
                <a:cubicBezTo>
                  <a:pt x="-3276" y="612883"/>
                  <a:pt x="-15225" y="515314"/>
                  <a:pt x="0" y="346864"/>
                </a:cubicBezTo>
                <a:cubicBezTo>
                  <a:pt x="15225" y="178414"/>
                  <a:pt x="-9529" y="12136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2236600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Fairly slow, nice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736618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2" y="2180034"/>
            <a:ext cx="804258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mode='w',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'simulation input and results')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417009"/>
            <a:ext cx="805873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243326"/>
            <a:ext cx="803831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27102"/>
            <a:ext cx="80383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5833008"/>
            <a:ext cx="80259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807969" y="1398823"/>
            <a:ext cx="1426545" cy="1079436"/>
            <a:chOff x="4127541" y="1232569"/>
            <a:chExt cx="1426545" cy="1079436"/>
          </a:xfrm>
        </p:grpSpPr>
        <p:sp>
          <p:nvSpPr>
            <p:cNvPr id="9" name="TextBox 8"/>
            <p:cNvSpPr txBox="1"/>
            <p:nvPr/>
          </p:nvSpPr>
          <p:spPr>
            <a:xfrm>
              <a:off x="4492577" y="1232569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01901"/>
              <a:ext cx="283723" cy="42333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757888" y="2521915"/>
            <a:ext cx="4154537" cy="838675"/>
            <a:chOff x="-138845" y="1637175"/>
            <a:chExt cx="4154537" cy="838675"/>
          </a:xfrm>
        </p:grpSpPr>
        <p:sp>
          <p:nvSpPr>
            <p:cNvPr id="15" name="TextBox 14"/>
            <p:cNvSpPr txBox="1"/>
            <p:nvPr/>
          </p:nvSpPr>
          <p:spPr>
            <a:xfrm>
              <a:off x="3455923" y="2106518"/>
              <a:ext cx="559769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title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-138845" y="1637175"/>
              <a:ext cx="4116867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rgbClr val="0070C0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5" idx="1"/>
              <a:endCxn id="16" idx="2"/>
            </p:cNvCxnSpPr>
            <p:nvPr/>
          </p:nvCxnSpPr>
          <p:spPr>
            <a:xfrm flipH="1" flipV="1">
              <a:off x="1919589" y="1923942"/>
              <a:ext cx="1536334" cy="367242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923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276873"/>
            <a:ext cx="796014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h5file.create_group(h5file.root, 'input',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'input data')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4483904"/>
            <a:ext cx="79184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'fields',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'various fields')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68300" y="2959255"/>
            <a:ext cx="7918420" cy="972061"/>
            <a:chOff x="644300" y="2959254"/>
            <a:chExt cx="7918420" cy="972061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644300" y="3284984"/>
              <a:ext cx="791842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input_group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h5file.create_group('/', 'input',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'input data')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4497112" y="292206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165840" y="5203983"/>
            <a:ext cx="7920880" cy="1000002"/>
            <a:chOff x="641840" y="5445224"/>
            <a:chExt cx="7920880" cy="1000002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92088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h5file.create_group('/input', 'fields',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'various 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922274" y="1556792"/>
            <a:ext cx="2694007" cy="1041980"/>
            <a:chOff x="4267010" y="1556792"/>
            <a:chExt cx="2694007" cy="1041980"/>
          </a:xfrm>
        </p:grpSpPr>
        <p:sp>
          <p:nvSpPr>
            <p:cNvPr id="13" name="TextBox 12"/>
            <p:cNvSpPr txBox="1"/>
            <p:nvPr/>
          </p:nvSpPr>
          <p:spPr>
            <a:xfrm>
              <a:off x="4267010" y="1556792"/>
              <a:ext cx="269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group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220072" y="2312005"/>
              <a:ext cx="1512168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2"/>
              <a:endCxn id="14" idx="0"/>
            </p:cNvCxnSpPr>
            <p:nvPr/>
          </p:nvCxnSpPr>
          <p:spPr>
            <a:xfrm>
              <a:off x="5614014" y="1926124"/>
              <a:ext cx="362142" cy="3858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8656102" y="1563936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6744072" y="2600092"/>
            <a:ext cx="3342648" cy="684892"/>
            <a:chOff x="2992193" y="2879740"/>
            <a:chExt cx="3342648" cy="684892"/>
          </a:xfrm>
        </p:grpSpPr>
        <p:sp>
          <p:nvSpPr>
            <p:cNvPr id="28" name="TextBox 27"/>
            <p:cNvSpPr txBox="1"/>
            <p:nvPr/>
          </p:nvSpPr>
          <p:spPr>
            <a:xfrm>
              <a:off x="5251724" y="3195300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992193" y="2879740"/>
              <a:ext cx="1647972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0" name="Straight Arrow Connector 29"/>
            <p:cNvCxnSpPr>
              <a:stCxn id="28" idx="1"/>
              <a:endCxn id="29" idx="3"/>
            </p:cNvCxnSpPr>
            <p:nvPr/>
          </p:nvCxnSpPr>
          <p:spPr>
            <a:xfrm flipH="1" flipV="1">
              <a:off x="4640165" y="3023124"/>
              <a:ext cx="611559" cy="35684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7674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'magnetic', field,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'static magnetic field')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556362" y="3861049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384032" y="4139789"/>
            <a:ext cx="3024336" cy="878271"/>
            <a:chOff x="2336262" y="2339588"/>
            <a:chExt cx="3024336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2464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array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583830" y="5013177"/>
            <a:ext cx="3168354" cy="1120717"/>
            <a:chOff x="2992193" y="2879740"/>
            <a:chExt cx="3168354" cy="1120717"/>
          </a:xfrm>
        </p:grpSpPr>
        <p:sp>
          <p:nvSpPr>
            <p:cNvPr id="15" name="TextBox 14"/>
            <p:cNvSpPr txBox="1"/>
            <p:nvPr/>
          </p:nvSpPr>
          <p:spPr>
            <a:xfrm>
              <a:off x="3826062" y="3631125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92193" y="2879740"/>
              <a:ext cx="3168354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5" idx="0"/>
            </p:cNvCxnSpPr>
            <p:nvPr/>
          </p:nvCxnSpPr>
          <p:spPr>
            <a:xfrm flipV="1">
              <a:off x="4367621" y="3166507"/>
              <a:ext cx="257287" cy="46461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7977240" y="4731291"/>
            <a:ext cx="1071088" cy="1287318"/>
            <a:chOff x="3704414" y="1421602"/>
            <a:chExt cx="1071088" cy="1287318"/>
          </a:xfrm>
        </p:grpSpPr>
        <p:sp>
          <p:nvSpPr>
            <p:cNvPr id="30" name="TextBox 29"/>
            <p:cNvSpPr txBox="1"/>
            <p:nvPr/>
          </p:nvSpPr>
          <p:spPr>
            <a:xfrm>
              <a:off x="4114167" y="2339588"/>
              <a:ext cx="6613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array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704414" y="1421602"/>
              <a:ext cx="767231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2" name="Straight Arrow Connector 31"/>
            <p:cNvCxnSpPr>
              <a:stCxn id="30" idx="0"/>
              <a:endCxn id="31" idx="2"/>
            </p:cNvCxnSpPr>
            <p:nvPr/>
          </p:nvCxnSpPr>
          <p:spPr>
            <a:xfrm flipH="1" flipV="1">
              <a:off x="4088030" y="1708369"/>
              <a:ext cx="356805" cy="631219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34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'positions', positions,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'particle positions',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createparents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806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h5file.root.input.fields.magnetic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85940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497604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4239958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528048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56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list of attributes: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('user')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6502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objects &amp; tables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class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table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83838"/>
            <a:ext cx="859401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Int32Col, Float64Col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class Particle(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Int32Col()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mass 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  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5352544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initial_state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h5file.create_table(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'/', 'particles', Particle, 'initial state of particles'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2328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populate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new particles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94870"/>
            <a:ext cx="8594019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particle = h5file.root.particles.row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range(100):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particle['mass']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particle.append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79752" y="4528755"/>
            <a:ext cx="6804980" cy="1287542"/>
            <a:chOff x="3704413" y="1421602"/>
            <a:chExt cx="6804980" cy="1287542"/>
          </a:xfrm>
        </p:grpSpPr>
        <p:sp>
          <p:nvSpPr>
            <p:cNvPr id="6" name="TextBox 5"/>
            <p:cNvSpPr txBox="1"/>
            <p:nvPr/>
          </p:nvSpPr>
          <p:spPr>
            <a:xfrm>
              <a:off x="4550774" y="2339812"/>
              <a:ext cx="5958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append particles one by one, unlimited (except by disk space)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704413" y="1421602"/>
              <a:ext cx="2348095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H="1" flipV="1">
              <a:off x="4878461" y="1708369"/>
              <a:ext cx="2651623" cy="631443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96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center of mass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348880"/>
            <a:ext cx="8594019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0.0, 0.0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mass = 0.0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particle in h5file.root.particles: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mass += particle['mass']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x /= mass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y /= mass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70651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97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99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105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1755</TotalTime>
  <Words>8181</Words>
  <Application>Microsoft Office PowerPoint</Application>
  <PresentationFormat>Widescreen</PresentationFormat>
  <Paragraphs>1370</Paragraphs>
  <Slides>106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106</vt:i4>
      </vt:variant>
    </vt:vector>
  </HeadingPairs>
  <TitlesOfParts>
    <vt:vector size="115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Random numbers</vt:lpstr>
      <vt:lpstr>Numpy data types</vt:lpstr>
      <vt:lpstr>Accessing array elements</vt:lpstr>
      <vt:lpstr>Memory layout</vt:lpstr>
      <vt:lpstr>Accessing subarrays: slicing</vt:lpstr>
      <vt:lpstr>Views versus copies</vt:lpstr>
      <vt:lpstr>Fancy indexing</vt:lpstr>
      <vt:lpstr>Operations on arrays</vt:lpstr>
      <vt:lpstr>Functions operating on arrays</vt:lpstr>
      <vt:lpstr>Aggregation functions</vt:lpstr>
      <vt:lpstr>Some linear algebra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</vt:lpstr>
      <vt:lpstr>Multiple plots I</vt:lpstr>
      <vt:lpstr>Multiple plots II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PyTables &amp; h5py</vt:lpstr>
      <vt:lpstr>HDF5: what is it?</vt:lpstr>
      <vt:lpstr>HDF5 data</vt:lpstr>
      <vt:lpstr>HDF5 storage</vt:lpstr>
      <vt:lpstr>HDF5: how to use it?</vt:lpstr>
      <vt:lpstr>h5py: importing modules</vt:lpstr>
      <vt:lpstr>h5py: open &amp; close HDF5 file</vt:lpstr>
      <vt:lpstr>h5py: creating a group</vt:lpstr>
      <vt:lpstr>h5py: adding a dataset</vt:lpstr>
      <vt:lpstr>h5py: adding an 2D array</vt:lpstr>
      <vt:lpstr>h5py: annotations</vt:lpstr>
      <vt:lpstr>h5py: reading an array </vt:lpstr>
      <vt:lpstr>HDF5 command line utilities</vt:lpstr>
      <vt:lpstr>PyTables: importing modules</vt:lpstr>
      <vt:lpstr>PyTables: open &amp; close HDF5 file</vt:lpstr>
      <vt:lpstr>PyTables: creating a group</vt:lpstr>
      <vt:lpstr>PyTables: adding an array</vt:lpstr>
      <vt:lpstr>PyTables: adding an 2D array</vt:lpstr>
      <vt:lpstr>PyTables: reading an array </vt:lpstr>
      <vt:lpstr>PyTables: annotations</vt:lpstr>
      <vt:lpstr>PyTables: objects &amp; tables</vt:lpstr>
      <vt:lpstr>PyTables: populate table</vt:lpstr>
      <vt:lpstr>PyTables: reading a table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82</cp:revision>
  <dcterms:created xsi:type="dcterms:W3CDTF">2019-11-07T15:31:23Z</dcterms:created>
  <dcterms:modified xsi:type="dcterms:W3CDTF">2026-10-07T13:46:30Z</dcterms:modified>
</cp:coreProperties>
</file>