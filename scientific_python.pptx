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6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61" r:id="rId14"/>
    <p:sldId id="265" r:id="rId15"/>
    <p:sldId id="266" r:id="rId16"/>
    <p:sldId id="359" r:id="rId17"/>
    <p:sldId id="267" r:id="rId18"/>
    <p:sldId id="272" r:id="rId19"/>
    <p:sldId id="268" r:id="rId20"/>
    <p:sldId id="269" r:id="rId21"/>
    <p:sldId id="270" r:id="rId22"/>
    <p:sldId id="360" r:id="rId23"/>
    <p:sldId id="271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58" r:id="rId71"/>
    <p:sldId id="352" r:id="rId72"/>
    <p:sldId id="353" r:id="rId73"/>
    <p:sldId id="354" r:id="rId74"/>
    <p:sldId id="357" r:id="rId75"/>
    <p:sldId id="355" r:id="rId76"/>
    <p:sldId id="356" r:id="rId77"/>
    <p:sldId id="330" r:id="rId78"/>
    <p:sldId id="320" r:id="rId79"/>
    <p:sldId id="321" r:id="rId80"/>
    <p:sldId id="322" r:id="rId81"/>
    <p:sldId id="323" r:id="rId82"/>
    <p:sldId id="324" r:id="rId83"/>
    <p:sldId id="328" r:id="rId84"/>
    <p:sldId id="325" r:id="rId85"/>
    <p:sldId id="326" r:id="rId86"/>
    <p:sldId id="327" r:id="rId87"/>
    <p:sldId id="329" r:id="rId88"/>
    <p:sldId id="331" r:id="rId89"/>
    <p:sldId id="332" r:id="rId90"/>
    <p:sldId id="333" r:id="rId91"/>
    <p:sldId id="334" r:id="rId92"/>
    <p:sldId id="335" r:id="rId93"/>
    <p:sldId id="336" r:id="rId94"/>
    <p:sldId id="337" r:id="rId95"/>
    <p:sldId id="338" r:id="rId96"/>
    <p:sldId id="339" r:id="rId97"/>
    <p:sldId id="340" r:id="rId98"/>
    <p:sldId id="341" r:id="rId99"/>
    <p:sldId id="342" r:id="rId100"/>
    <p:sldId id="343" r:id="rId101"/>
    <p:sldId id="344" r:id="rId102"/>
    <p:sldId id="345" r:id="rId103"/>
    <p:sldId id="346" r:id="rId104"/>
    <p:sldId id="347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361"/>
            <p14:sldId id="265"/>
            <p14:sldId id="266"/>
            <p14:sldId id="359"/>
            <p14:sldId id="267"/>
            <p14:sldId id="272"/>
            <p14:sldId id="268"/>
            <p14:sldId id="269"/>
            <p14:sldId id="270"/>
            <p14:sldId id="360"/>
            <p14:sldId id="271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76" d="100"/>
          <a:sy n="76" d="100"/>
        </p:scale>
        <p:origin x="58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652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viewProps" Target="viewProps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heme" Target="theme/theme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views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569899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2063552" y="3491717"/>
            <a:ext cx="7200800" cy="1460485"/>
            <a:chOff x="539552" y="3491716"/>
            <a:chExt cx="720080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g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np.zeros_like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(f)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009053" y="3861048"/>
              <a:ext cx="3451992" cy="1091153"/>
              <a:chOff x="3506349" y="4271030"/>
              <a:chExt cx="3451992" cy="1091153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28931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with shape</a:t>
                </a:r>
                <a:br>
                  <a:rPr lang="en-US" dirty="0"/>
                </a:br>
                <a:r>
                  <a:rPr lang="en-US" dirty="0"/>
                  <a:t>and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dtype</a:t>
                </a:r>
                <a:r>
                  <a:rPr lang="en-US" dirty="0"/>
                  <a:t> of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</a:p>
            </p:txBody>
          </p:sp>
          <p:cxnSp>
            <p:nvCxnSpPr>
              <p:cNvPr id="12" name="Straight Arrow Connector 11"/>
              <p:cNvCxnSpPr>
                <a:cxnSpLocks/>
                <a:stCxn id="11" idx="1"/>
              </p:cNvCxnSpPr>
              <p:nvPr/>
            </p:nvCxnSpPr>
            <p:spPr>
              <a:xfrm flipH="1" flipV="1">
                <a:off x="3506349" y="4271030"/>
                <a:ext cx="558892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22CEB75-555E-7F0E-47BB-4F3CA92AD989}"/>
              </a:ext>
            </a:extLst>
          </p:cNvPr>
          <p:cNvGrpSpPr/>
          <p:nvPr/>
        </p:nvGrpSpPr>
        <p:grpSpPr>
          <a:xfrm>
            <a:off x="2063552" y="1774560"/>
            <a:ext cx="7229654" cy="1460485"/>
            <a:chOff x="539552" y="3491716"/>
            <a:chExt cx="7229654" cy="14604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E6AFB6-4ADE-5C9D-BED2-2B89E443A089}"/>
                </a:ext>
              </a:extLst>
            </p:cNvPr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7DDDB1-F414-5FFD-1907-BABC7640D731}"/>
                </a:ext>
              </a:extLst>
            </p:cNvPr>
            <p:cNvGrpSpPr/>
            <p:nvPr/>
          </p:nvGrpSpPr>
          <p:grpSpPr>
            <a:xfrm>
              <a:off x="4139952" y="3861048"/>
              <a:ext cx="3629254" cy="1091153"/>
              <a:chOff x="3637248" y="4271030"/>
              <a:chExt cx="3629254" cy="1091153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4618593-6854-0357-AAF3-383AC58D3DD7}"/>
                  </a:ext>
                </a:extLst>
              </p:cNvPr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67B0C852-806A-C70D-901E-7ACE7E4CACCF}"/>
                  </a:ext>
                </a:extLst>
              </p:cNvPr>
              <p:cNvCxnSpPr>
                <a:cxnSpLocks/>
                <a:stCxn id="23" idx="1"/>
                <a:endCxn id="14" idx="2"/>
              </p:cNvCxnSpPr>
              <p:nvPr/>
            </p:nvCxnSpPr>
            <p:spPr>
              <a:xfrm flipH="1" flipV="1">
                <a:off x="3637248" y="4271030"/>
                <a:ext cx="427993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D9454-011C-BA61-DF06-8E7742A4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A0853-C3DD-6893-0BFD-0E2A7CE7F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random number generator (RNG)</a:t>
            </a:r>
          </a:p>
          <a:p>
            <a:endParaRPr lang="en-US" dirty="0"/>
          </a:p>
          <a:p>
            <a:r>
              <a:rPr lang="en-US" dirty="0"/>
              <a:t>Reproducibility: seed RNG</a:t>
            </a:r>
          </a:p>
          <a:p>
            <a:endParaRPr lang="en-US" dirty="0"/>
          </a:p>
          <a:p>
            <a:r>
              <a:rPr lang="en-US" dirty="0"/>
              <a:t>Create arrays</a:t>
            </a:r>
            <a:endParaRPr lang="LID4096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E0CA0A-BA1C-2135-7CF4-13D703974884}"/>
              </a:ext>
            </a:extLst>
          </p:cNvPr>
          <p:cNvGrpSpPr/>
          <p:nvPr/>
        </p:nvGrpSpPr>
        <p:grpSpPr>
          <a:xfrm>
            <a:off x="1745089" y="3347059"/>
            <a:ext cx="9923439" cy="1400898"/>
            <a:chOff x="1745090" y="2812228"/>
            <a:chExt cx="9923439" cy="1400898"/>
          </a:xfrm>
        </p:grpSpPr>
        <p:sp>
          <p:nvSpPr>
            <p:cNvPr id="4" name="TextBox 3"/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800734" y="2812228"/>
              <a:ext cx="6867795" cy="1031566"/>
              <a:chOff x="2769975" y="3150202"/>
              <a:chExt cx="6867795" cy="1031566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6113920" y="3150202"/>
                <a:ext cx="35238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[-1.0, 1.0[</a:t>
                </a:r>
              </a:p>
            </p:txBody>
          </p:sp>
          <p:cxnSp>
            <p:nvCxnSpPr>
              <p:cNvPr id="7" name="Straight Arrow Connector 6"/>
              <p:cNvCxnSpPr>
                <a:cxnSpLocks/>
                <a:stCxn id="5" idx="1"/>
                <a:endCxn id="4" idx="0"/>
              </p:cNvCxnSpPr>
              <p:nvPr/>
            </p:nvCxnSpPr>
            <p:spPr>
              <a:xfrm flipH="1">
                <a:off x="2769975" y="3611867"/>
                <a:ext cx="3343945" cy="5699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2FA142D-2A44-E8DC-ABEE-B186D6A48F09}"/>
              </a:ext>
            </a:extLst>
          </p:cNvPr>
          <p:cNvSpPr txBox="1"/>
          <p:nvPr/>
        </p:nvSpPr>
        <p:spPr>
          <a:xfrm>
            <a:off x="1745089" y="2321708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80447-0CD9-28A8-7D51-E23DDB90253D}"/>
              </a:ext>
            </a:extLst>
          </p:cNvPr>
          <p:cNvSpPr txBox="1"/>
          <p:nvPr/>
        </p:nvSpPr>
        <p:spPr>
          <a:xfrm>
            <a:off x="1745089" y="3317457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(seed=1234)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54BFC3D-0F4F-7B6D-8523-3C6D4CE8590A}"/>
              </a:ext>
            </a:extLst>
          </p:cNvPr>
          <p:cNvGrpSpPr/>
          <p:nvPr/>
        </p:nvGrpSpPr>
        <p:grpSpPr>
          <a:xfrm>
            <a:off x="1745089" y="4563291"/>
            <a:ext cx="9608711" cy="1254242"/>
            <a:chOff x="1745090" y="2958884"/>
            <a:chExt cx="9608711" cy="125424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C47E28-C768-8BA6-0FAB-6E550070405E}"/>
                </a:ext>
              </a:extLst>
            </p:cNvPr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rng.normal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(loc=1.0, scale=0.1, (5, 4))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609370-B3C8-A298-7B4D-EA408816DD88}"/>
                </a:ext>
              </a:extLst>
            </p:cNvPr>
            <p:cNvGrpSpPr/>
            <p:nvPr/>
          </p:nvGrpSpPr>
          <p:grpSpPr>
            <a:xfrm>
              <a:off x="4800734" y="2958884"/>
              <a:ext cx="6553067" cy="1200329"/>
              <a:chOff x="2769975" y="3296858"/>
              <a:chExt cx="6553067" cy="1200329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AE5220E-5AFC-5838-4084-D98C06ABFD4E}"/>
                  </a:ext>
                </a:extLst>
              </p:cNvPr>
              <p:cNvSpPr txBox="1"/>
              <p:nvPr/>
            </p:nvSpPr>
            <p:spPr>
              <a:xfrm>
                <a:off x="6242712" y="3296858"/>
                <a:ext cx="308033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5 × 4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normal</a:t>
                </a:r>
                <a:br>
                  <a:rPr lang="en-US" dirty="0"/>
                </a:br>
                <a:r>
                  <a:rPr lang="en-US" dirty="0"/>
                  <a:t>distribution with mean 1.0 and</a:t>
                </a:r>
                <a:br>
                  <a:rPr lang="en-US" dirty="0"/>
                </a:br>
                <a:r>
                  <a:rPr lang="en-US" dirty="0"/>
                  <a:t>standard deviation 0.1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2D00016C-8A10-64CF-6225-E2EA64184EA0}"/>
                  </a:ext>
                </a:extLst>
              </p:cNvPr>
              <p:cNvCxnSpPr>
                <a:cxnSpLocks/>
                <a:stCxn id="21" idx="1"/>
                <a:endCxn id="18" idx="0"/>
              </p:cNvCxnSpPr>
              <p:nvPr/>
            </p:nvCxnSpPr>
            <p:spPr>
              <a:xfrm flipH="1">
                <a:off x="2769975" y="3897023"/>
                <a:ext cx="3472737" cy="28474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1125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3031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251333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428890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copies;</a:t>
            </a:r>
            <a:br>
              <a:rPr lang="en-US" dirty="0"/>
            </a:br>
            <a:r>
              <a:rPr lang="en-US" dirty="0"/>
              <a:t>check documentation carefully;</a:t>
            </a:r>
            <a:br>
              <a:rPr lang="en-US" dirty="0"/>
            </a:br>
            <a:r>
              <a:rPr lang="en-US" dirty="0"/>
              <a:t>also see</a:t>
            </a:r>
            <a:br>
              <a:rPr lang="en-US" dirty="0"/>
            </a:br>
            <a:r>
              <a:rPr lang="en-US" sz="2200" dirty="0">
                <a:hlinkClick r:id="rId2"/>
              </a:rPr>
              <a:t>https://github.com/gjbex/Scientific-Python/blob/master/source-code/numpy/views.ipynb</a:t>
            </a:r>
            <a:r>
              <a:rPr lang="en-US" sz="2200" dirty="0"/>
              <a:t> </a:t>
            </a:r>
            <a:endParaRPr lang="nl-BE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5F7B-EC7F-CD86-5861-CE0ABE52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79AF-912B-0534-F1DA-B6021771B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02424"/>
            <a:ext cx="10515600" cy="2747963"/>
          </a:xfrm>
        </p:spPr>
        <p:txBody>
          <a:bodyPr/>
          <a:lstStyle/>
          <a:p>
            <a:r>
              <a:rPr lang="en-US" dirty="0"/>
              <a:t>Sum of columns</a:t>
            </a:r>
          </a:p>
          <a:p>
            <a:endParaRPr lang="en-US" dirty="0"/>
          </a:p>
          <a:p>
            <a:r>
              <a:rPr lang="en-US" dirty="0"/>
              <a:t>Sum of rows</a:t>
            </a:r>
          </a:p>
          <a:p>
            <a:endParaRPr lang="en-US" dirty="0"/>
          </a:p>
          <a:p>
            <a:r>
              <a:rPr lang="en-US" dirty="0"/>
              <a:t>Sum of all elements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14C7E-39D9-A7FB-CBAF-A6A49F96213E}"/>
              </a:ext>
            </a:extLst>
          </p:cNvPr>
          <p:cNvSpPr txBox="1"/>
          <p:nvPr/>
        </p:nvSpPr>
        <p:spPr>
          <a:xfrm>
            <a:off x="1458481" y="1773826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(24).reshape(4, -1)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31128-47FB-7EDD-0367-BCD622C9630F}"/>
              </a:ext>
            </a:extLst>
          </p:cNvPr>
          <p:cNvSpPr txBox="1"/>
          <p:nvPr/>
        </p:nvSpPr>
        <p:spPr>
          <a:xfrm>
            <a:off x="7987004" y="1387022"/>
            <a:ext cx="3601616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1  2  3  4  5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6  7  8  9 10 11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12 13 14 15 16 17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18 19 20 21 22 23 ]]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F19DD-8A27-75A9-2F6E-5FB4219E8974}"/>
              </a:ext>
            </a:extLst>
          </p:cNvPr>
          <p:cNvSpPr txBox="1"/>
          <p:nvPr/>
        </p:nvSpPr>
        <p:spPr>
          <a:xfrm>
            <a:off x="1458481" y="3629385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02A7C-36E1-C848-96D0-54A2D7881E08}"/>
              </a:ext>
            </a:extLst>
          </p:cNvPr>
          <p:cNvSpPr txBox="1"/>
          <p:nvPr/>
        </p:nvSpPr>
        <p:spPr>
          <a:xfrm>
            <a:off x="7987004" y="3674719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36 40 44 48 52 56 ]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D95DBD-9719-0135-EDDD-D8FAF5293743}"/>
              </a:ext>
            </a:extLst>
          </p:cNvPr>
          <p:cNvSpPr txBox="1"/>
          <p:nvPr/>
        </p:nvSpPr>
        <p:spPr>
          <a:xfrm>
            <a:off x="1458481" y="4555220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78634-7FF0-FA3C-654F-D36A67A0CAD0}"/>
              </a:ext>
            </a:extLst>
          </p:cNvPr>
          <p:cNvSpPr txBox="1"/>
          <p:nvPr/>
        </p:nvSpPr>
        <p:spPr>
          <a:xfrm>
            <a:off x="7987004" y="4555220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15 51 87 123 ]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9245E-A2AA-6FF6-DFB7-47175E8586F6}"/>
              </a:ext>
            </a:extLst>
          </p:cNvPr>
          <p:cNvSpPr txBox="1"/>
          <p:nvPr/>
        </p:nvSpPr>
        <p:spPr>
          <a:xfrm>
            <a:off x="1458481" y="5615993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19FB1-BFA2-BD93-5B4C-7A1804659CE7}"/>
              </a:ext>
            </a:extLst>
          </p:cNvPr>
          <p:cNvSpPr txBox="1"/>
          <p:nvPr/>
        </p:nvSpPr>
        <p:spPr>
          <a:xfrm>
            <a:off x="7987004" y="5615993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276</a:t>
            </a:r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CB6841B4-072C-73DD-8859-BCF45A57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802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eigenvalues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Create figure/axis, add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708819" y="2538461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8819" y="3820590"/>
            <a:ext cx="4197927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Figure, axis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08819" y="5102719"/>
            <a:ext cx="4197926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08818" y="6176963"/>
            <a:ext cx="419792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769" y="2332361"/>
            <a:ext cx="54232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1770" y="4436523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6089792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59474" y="2432310"/>
            <a:ext cx="36311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9475" y="3995042"/>
            <a:ext cx="3631122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2064122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285011" y="5332459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72347" y="2368807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2347" y="3887558"/>
            <a:ext cx="4320413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bins,density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='$x$',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='$P(x)$',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21543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7327043" y="3073198"/>
            <a:ext cx="3064311" cy="31037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612868" y="2431633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949217-192E-FD38-D73F-EB1AA5DF4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5539" y="3396366"/>
            <a:ext cx="3887378" cy="291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1629</TotalTime>
  <Words>7967</Words>
  <Application>Microsoft Office PowerPoint</Application>
  <PresentationFormat>Widescreen</PresentationFormat>
  <Paragraphs>1354</Paragraphs>
  <Slides>104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104</vt:i4>
      </vt:variant>
    </vt:vector>
  </HeadingPairs>
  <TitlesOfParts>
    <vt:vector size="113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Random numbers</vt:lpstr>
      <vt:lpstr>Numpy data types</vt:lpstr>
      <vt:lpstr>Accessing array elements</vt:lpstr>
      <vt:lpstr>Memory layout</vt:lpstr>
      <vt:lpstr>Accessing subarrays: slicing</vt:lpstr>
      <vt:lpstr>Views versus copies</vt:lpstr>
      <vt:lpstr>Fancy indexing</vt:lpstr>
      <vt:lpstr>Operations on arrays</vt:lpstr>
      <vt:lpstr>Functions operating on arrays</vt:lpstr>
      <vt:lpstr>Aggregation functions</vt:lpstr>
      <vt:lpstr>Some linear algebra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80</cp:revision>
  <dcterms:created xsi:type="dcterms:W3CDTF">2019-11-07T15:31:23Z</dcterms:created>
  <dcterms:modified xsi:type="dcterms:W3CDTF">2026-10-07T11:40:27Z</dcterms:modified>
</cp:coreProperties>
</file>